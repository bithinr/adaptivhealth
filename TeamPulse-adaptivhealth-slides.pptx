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Inter Bold" charset="1" panose="020B0802030000000004"/>
      <p:regular r:id="rId20"/>
    </p:embeddedFont>
    <p:embeddedFont>
      <p:font typeface="Inter" charset="1" panose="020B05020300000000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machine learning model is the brain of the system. We chose Random Forest because it's the gold standard for medical AI applications - it handles structured health data exceptionally well.</a:t>
            </a:r>
          </a:p>
          <a:p>
            <a:r>
              <a:rPr lang="en-US"/>
              <a:t>The model was trained on workout and user data stored in our AWS RDS database. It analyzes 16 features that capture heart rate behavior, exercise intensity, recovery patterns, and age-related risk factors.</a:t>
            </a:r>
          </a:p>
          <a:p>
            <a:r>
              <a:rPr lang="en-US"/>
              <a:t/>
            </a:r>
          </a:p>
          <a:p>
            <a:r>
              <a:rPr lang="en-US"/>
              <a:t>Initially, we achieved 100% accuracy - which seemed great, but actually indicated a problem called data leakage. The model was simply learning the mathematical threshold we used to create the labels: risk_score = peak_HR divided by max_safe_HR.</a:t>
            </a:r>
          </a:p>
          <a:p>
            <a:r>
              <a:rPr lang="en-US"/>
              <a:t>*To simulate real-world medical complexity, we added:</a:t>
            </a:r>
          </a:p>
          <a:p>
            <a:r>
              <a:rPr lang="en-US"/>
              <a:t/>
            </a:r>
          </a:p>
          <a:p>
            <a:r>
              <a:rPr lang="en-US"/>
              <a:t>Protective factors like fast recovery and high oxygen saturation</a:t>
            </a:r>
          </a:p>
          <a:p>
            <a:r>
              <a:rPr lang="en-US"/>
              <a:t>Risk factors like slow recovery, low oxygen, and elderly patients</a:t>
            </a:r>
          </a:p>
          <a:p>
            <a:r>
              <a:rPr lang="en-US"/>
              <a:t>Medication effects - beta-blockers that reduce heart rate response*</a:t>
            </a:r>
          </a:p>
          <a:p>
            <a:r>
              <a:rPr lang="en-US"/>
              <a:t/>
            </a:r>
          </a:p>
          <a:p>
            <a:r>
              <a:rPr lang="en-US"/>
              <a:t>This reduced our accuracy to 95.9%, which is actually more realistic and aligns with published clinical AI systems that report 92-97% accuracy.</a:t>
            </a:r>
          </a:p>
          <a:p>
            <a:r>
              <a:rPr lang="en-US"/>
              <a:t>Critically, we maintained 98% recall - meaning we catch 98 out of 100 high-risk cases. In cardiac monitoring, missing a dangerous case is far worse than a false alarm, so high recall is our top priority.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didn't just pick Random Forest arbitrarily - we tested 6 different machine learning algorithms to find the best cardiovascular risk predictor.</a:t>
            </a:r>
          </a:p>
          <a:p>
            <a:r>
              <a:rPr lang="en-US"/>
              <a:t/>
            </a:r>
          </a:p>
          <a:p>
            <a:r>
              <a:rPr lang="en-US"/>
              <a:t>As you can see in the terminal output, we compared Random Forest, Gradient Boosting, Logistic Regression, Support Vector Machine, K-Nearest Neighbors, and Decision Tree.</a:t>
            </a:r>
          </a:p>
          <a:p>
            <a:r>
              <a:rPr lang="en-US"/>
              <a:t/>
            </a:r>
          </a:p>
          <a:p>
            <a:r>
              <a:rPr lang="en-US"/>
              <a:t>Random Forest won for three critical reasons:</a:t>
            </a:r>
          </a:p>
          <a:p>
            <a:r>
              <a:rPr lang="en-US"/>
              <a:t>First, accuracy - it achieved 96.9% overall correctness, tied with Gradient Boosting at the top.</a:t>
            </a:r>
          </a:p>
          <a:p>
            <a:r>
              <a:rPr lang="en-US"/>
              <a:t/>
            </a:r>
          </a:p>
          <a:p>
            <a:r>
              <a:rPr lang="en-US"/>
              <a:t>Second, and most importantly, 100% recall - it caught every single high-risk case in our test set. Look at KNN by comparison - only 76.5% recall, meaning it would miss nearly 1 in 4 dangerous cardiac events. That's unacceptable for patient safety.</a:t>
            </a:r>
          </a:p>
          <a:p>
            <a:r>
              <a:rPr lang="en-US"/>
              <a:t/>
            </a:r>
          </a:p>
          <a:p>
            <a:r>
              <a:rPr lang="en-US"/>
              <a:t>Third, speed - 0.07 milliseconds per prediction. This enables real-time safety alerts during exercise. KNN was 173 times slower at 12.15 milliseconds, which would create noticeable lag during a workout.</a:t>
            </a:r>
          </a:p>
          <a:p>
            <a:r>
              <a:rPr lang="en-US"/>
              <a:t/>
            </a:r>
          </a:p>
          <a:p>
            <a:r>
              <a:rPr lang="en-US"/>
              <a:t>Random Forest also matches clinical AI standards - published cardiac monitoring systems report 92-97% accuracy, so we're right in that validated range.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database layer, we used AWS RDS PostgreSQL hosted in the cloud. This stores all our patient data, workout sessions, and AI-generated safety alerts.</a:t>
            </a:r>
          </a:p>
          <a:p>
            <a:r>
              <a:rPr lang="en-US"/>
              <a:t/>
            </a:r>
          </a:p>
          <a:p>
            <a:r>
              <a:rPr lang="en-US"/>
              <a:t>PostgreSQL was chosen because it's highly reliable, can handle complex relational queries needed for clinical analytics, and scales to support thousands of concurrent users.</a:t>
            </a:r>
          </a:p>
          <a:p>
            <a:r>
              <a:rPr lang="en-US"/>
              <a:t/>
            </a:r>
          </a:p>
          <a:p>
            <a:r>
              <a:rPr lang="en-US"/>
              <a:t>As you can see in the pgAdmin screenshot, our database currently contains 973 cardiac patients with complete medical histories, 973 workout sessions with heart rate data, and 432 safety alerts that were automatically generated when the ML model detected risk scores above 0.85.</a:t>
            </a:r>
          </a:p>
          <a:p>
            <a:r>
              <a:rPr lang="en-US"/>
              <a:t/>
            </a:r>
          </a:p>
          <a:p>
            <a:r>
              <a:rPr lang="en-US"/>
              <a:t>This cloud-based setup allows our machine learning model to pull data directly from AWS rather than relying on local files, which is essential for a production healthcare system. It also enables real-time access for both the mobile app and the doctor dashboard.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didn't just pick Random Forest arbitrarily - we tested 6 different machine learning algorithms to find the best cardiovascular risk predictor.</a:t>
            </a:r>
          </a:p>
          <a:p>
            <a:r>
              <a:rPr lang="en-US"/>
              <a:t/>
            </a:r>
          </a:p>
          <a:p>
            <a:r>
              <a:rPr lang="en-US"/>
              <a:t>As you can see in the terminal output, we compared Random Forest, Gradient Boosting, Logistic Regression, Support Vector Machine, K-Nearest Neighbors, and Decision Tree.</a:t>
            </a:r>
          </a:p>
          <a:p>
            <a:r>
              <a:rPr lang="en-US"/>
              <a:t/>
            </a:r>
          </a:p>
          <a:p>
            <a:r>
              <a:rPr lang="en-US"/>
              <a:t>Random Forest won for three critical reasons:</a:t>
            </a:r>
          </a:p>
          <a:p>
            <a:r>
              <a:rPr lang="en-US"/>
              <a:t>First, accuracy - it achieved 96.9% overall correctness, tied with Gradient Boosting at the top.</a:t>
            </a:r>
          </a:p>
          <a:p>
            <a:r>
              <a:rPr lang="en-US"/>
              <a:t/>
            </a:r>
          </a:p>
          <a:p>
            <a:r>
              <a:rPr lang="en-US"/>
              <a:t>Second, and most importantly, 100% recall - it caught every single high-risk case in our test set. Look at KNN by comparison - only 76.5% recall, meaning it would miss nearly 1 in 4 dangerous cardiac events. That's unacceptable for patient safety.</a:t>
            </a:r>
          </a:p>
          <a:p>
            <a:r>
              <a:rPr lang="en-US"/>
              <a:t/>
            </a:r>
          </a:p>
          <a:p>
            <a:r>
              <a:rPr lang="en-US"/>
              <a:t>Third, speed - 0.07 milliseconds per prediction. This enables real-time safety alerts during exercise. KNN was 173 times slower at 12.15 milliseconds, which would create noticeable lag during a workout.</a:t>
            </a:r>
          </a:p>
          <a:p>
            <a:r>
              <a:rPr lang="en-US"/>
              <a:t/>
            </a:r>
          </a:p>
          <a:p>
            <a:r>
              <a:rPr lang="en-US"/>
              <a:t>Random Forest also matches clinical AI standards - published cardiac monitoring systems report 92-97% accuracy, so we're right in that validated range.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9.png" Type="http://schemas.openxmlformats.org/officeDocument/2006/relationships/image"/><Relationship Id="rId4" Target="http://api.back-adaptivehealthuowd.xyz" TargetMode="External" Type="http://schemas.openxmlformats.org/officeDocument/2006/relationships/hyperlink"/><Relationship Id="rId5"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3.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http://api.back-adaptivhealthuowd.xyz"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TextBox 2" id="2"/>
          <p:cNvSpPr txBox="true"/>
          <p:nvPr/>
        </p:nvSpPr>
        <p:spPr>
          <a:xfrm rot="0">
            <a:off x="1845202" y="1747510"/>
            <a:ext cx="14597596" cy="6339183"/>
          </a:xfrm>
          <a:prstGeom prst="rect">
            <a:avLst/>
          </a:prstGeom>
        </p:spPr>
        <p:txBody>
          <a:bodyPr anchor="t" rtlCol="false" tIns="0" lIns="0" bIns="0" rIns="0">
            <a:spAutoFit/>
          </a:bodyPr>
          <a:lstStyle/>
          <a:p>
            <a:pPr algn="ctr">
              <a:lnSpc>
                <a:spcPts val="23257"/>
              </a:lnSpc>
            </a:pPr>
            <a:r>
              <a:rPr lang="en-US" b="true" sz="30601" spc="-3611">
                <a:solidFill>
                  <a:srgbClr val="CA0013"/>
                </a:solidFill>
                <a:latin typeface="Inter Bold"/>
                <a:ea typeface="Inter Bold"/>
                <a:cs typeface="Inter Bold"/>
                <a:sym typeface="Inter Bold"/>
              </a:rPr>
              <a:t>ADAPTIV</a:t>
            </a:r>
          </a:p>
          <a:p>
            <a:pPr algn="ctr" marL="0" indent="0" lvl="0">
              <a:lnSpc>
                <a:spcPts val="23257"/>
              </a:lnSpc>
            </a:pPr>
            <a:r>
              <a:rPr lang="en-US" b="true" sz="30601" spc="-3611">
                <a:solidFill>
                  <a:srgbClr val="CA0013"/>
                </a:solidFill>
                <a:latin typeface="Inter Bold"/>
                <a:ea typeface="Inter Bold"/>
                <a:cs typeface="Inter Bold"/>
                <a:sym typeface="Inter Bold"/>
              </a:rPr>
              <a:t>HEALTH</a:t>
            </a:r>
          </a:p>
        </p:txBody>
      </p:sp>
      <p:grpSp>
        <p:nvGrpSpPr>
          <p:cNvPr name="Group 3" id="3"/>
          <p:cNvGrpSpPr>
            <a:grpSpLocks noChangeAspect="true"/>
          </p:cNvGrpSpPr>
          <p:nvPr/>
        </p:nvGrpSpPr>
        <p:grpSpPr>
          <a:xfrm rot="0">
            <a:off x="7508911" y="4278927"/>
            <a:ext cx="3270178" cy="6584252"/>
            <a:chOff x="0" y="0"/>
            <a:chExt cx="9461500" cy="19050000"/>
          </a:xfrm>
        </p:grpSpPr>
        <p:sp>
          <p:nvSpPr>
            <p:cNvPr name="Freeform 4" id="4"/>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2"/>
              <a:stretch>
                <a:fillRect l="0" t="-1084" r="0" b="-1084"/>
              </a:stretch>
            </a:blipFill>
          </p:spPr>
        </p:sp>
        <p:sp>
          <p:nvSpPr>
            <p:cNvPr name="Freeform 5" id="5"/>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3"/>
              <a:stretch>
                <a:fillRect l="-83" t="0" r="-83" b="0"/>
              </a:stretch>
            </a:blipFill>
          </p:spPr>
        </p:sp>
      </p:grpSp>
      <p:sp>
        <p:nvSpPr>
          <p:cNvPr name="TextBox 6" id="6"/>
          <p:cNvSpPr txBox="true"/>
          <p:nvPr/>
        </p:nvSpPr>
        <p:spPr>
          <a:xfrm rot="0">
            <a:off x="15186126" y="9305859"/>
            <a:ext cx="2513344" cy="433197"/>
          </a:xfrm>
          <a:prstGeom prst="rect">
            <a:avLst/>
          </a:prstGeom>
        </p:spPr>
        <p:txBody>
          <a:bodyPr anchor="t" rtlCol="false" tIns="0" lIns="0" bIns="0" rIns="0">
            <a:spAutoFit/>
          </a:bodyPr>
          <a:lstStyle/>
          <a:p>
            <a:pPr algn="r">
              <a:lnSpc>
                <a:spcPts val="1674"/>
              </a:lnSpc>
            </a:pPr>
            <a:r>
              <a:rPr lang="en-US" b="true" sz="1800" spc="-54">
                <a:solidFill>
                  <a:srgbClr val="CA0013"/>
                </a:solidFill>
                <a:latin typeface="Inter Bold"/>
                <a:ea typeface="Inter Bold"/>
                <a:cs typeface="Inter Bold"/>
                <a:sym typeface="Inter Bold"/>
              </a:rPr>
              <a:t>PRESENTED BY</a:t>
            </a:r>
          </a:p>
          <a:p>
            <a:pPr algn="r" marL="0" indent="0" lvl="0">
              <a:lnSpc>
                <a:spcPts val="1674"/>
              </a:lnSpc>
            </a:pPr>
            <a:r>
              <a:rPr lang="en-US" b="true" sz="1800" spc="-54">
                <a:solidFill>
                  <a:srgbClr val="CA0013"/>
                </a:solidFill>
                <a:latin typeface="Inter Bold"/>
                <a:ea typeface="Inter Bold"/>
                <a:cs typeface="Inter Bold"/>
                <a:sym typeface="Inter Bold"/>
              </a:rPr>
              <a:t>PULSE.</a:t>
            </a:r>
          </a:p>
        </p:txBody>
      </p:sp>
      <p:sp>
        <p:nvSpPr>
          <p:cNvPr name="TextBox 7" id="7"/>
          <p:cNvSpPr txBox="true"/>
          <p:nvPr/>
        </p:nvSpPr>
        <p:spPr>
          <a:xfrm rot="0">
            <a:off x="588530" y="9096309"/>
            <a:ext cx="2513344" cy="642747"/>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Bold"/>
                <a:ea typeface="Inter Bold"/>
                <a:cs typeface="Inter Bold"/>
                <a:sym typeface="Inter Bold"/>
              </a:rPr>
              <a:t>ADAPTIV HEALTH — SMARTER MOVEMENT, SAFER HEARTS.</a:t>
            </a:r>
          </a:p>
        </p:txBody>
      </p:sp>
      <p:sp>
        <p:nvSpPr>
          <p:cNvPr name="TextBox 8" id="8"/>
          <p:cNvSpPr txBox="true"/>
          <p:nvPr/>
        </p:nvSpPr>
        <p:spPr>
          <a:xfrm rot="0">
            <a:off x="4624777" y="566425"/>
            <a:ext cx="9038446" cy="462275"/>
          </a:xfrm>
          <a:prstGeom prst="rect">
            <a:avLst/>
          </a:prstGeom>
        </p:spPr>
        <p:txBody>
          <a:bodyPr anchor="t" rtlCol="false" tIns="0" lIns="0" bIns="0" rIns="0">
            <a:spAutoFit/>
          </a:bodyPr>
          <a:lstStyle/>
          <a:p>
            <a:pPr algn="ctr">
              <a:lnSpc>
                <a:spcPts val="3800"/>
              </a:lnSpc>
              <a:spcBef>
                <a:spcPct val="0"/>
              </a:spcBef>
            </a:pPr>
            <a:r>
              <a:rPr lang="en-US" b="true" sz="2714" spc="-81">
                <a:solidFill>
                  <a:srgbClr val="CA0013"/>
                </a:solidFill>
                <a:latin typeface="Inter Bold"/>
                <a:ea typeface="Inter Bold"/>
                <a:cs typeface="Inter Bold"/>
                <a:sym typeface="Inter Bold"/>
              </a:rPr>
              <a:t>AI-POWERED CARDIOVASCULAR MONITORING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3941368" y="245320"/>
            <a:ext cx="3241705" cy="3425844"/>
          </a:xfrm>
          <a:custGeom>
            <a:avLst/>
            <a:gdLst/>
            <a:ahLst/>
            <a:cxnLst/>
            <a:rect r="r" b="b" t="t" l="l"/>
            <a:pathLst>
              <a:path h="3425844" w="3241705">
                <a:moveTo>
                  <a:pt x="0" y="0"/>
                </a:moveTo>
                <a:lnTo>
                  <a:pt x="3241705" y="0"/>
                </a:lnTo>
                <a:lnTo>
                  <a:pt x="3241705" y="3425844"/>
                </a:lnTo>
                <a:lnTo>
                  <a:pt x="0" y="3425844"/>
                </a:lnTo>
                <a:lnTo>
                  <a:pt x="0" y="0"/>
                </a:lnTo>
                <a:close/>
              </a:path>
            </a:pathLst>
          </a:custGeom>
          <a:blipFill>
            <a:blip r:embed="rId2"/>
            <a:stretch>
              <a:fillRect l="0" t="0" r="0" b="0"/>
            </a:stretch>
          </a:blipFill>
        </p:spPr>
      </p:sp>
      <p:sp>
        <p:nvSpPr>
          <p:cNvPr name="TextBox 3" id="3"/>
          <p:cNvSpPr txBox="true"/>
          <p:nvPr/>
        </p:nvSpPr>
        <p:spPr>
          <a:xfrm rot="0">
            <a:off x="7395001" y="1245648"/>
            <a:ext cx="8260719" cy="1248321"/>
          </a:xfrm>
          <a:prstGeom prst="rect">
            <a:avLst/>
          </a:prstGeom>
        </p:spPr>
        <p:txBody>
          <a:bodyPr anchor="t" rtlCol="false" tIns="0" lIns="0" bIns="0" rIns="0">
            <a:spAutoFit/>
          </a:bodyPr>
          <a:lstStyle/>
          <a:p>
            <a:pPr algn="l" marL="0" indent="0" lvl="0">
              <a:lnSpc>
                <a:spcPts val="8618"/>
              </a:lnSpc>
            </a:pPr>
            <a:r>
              <a:rPr lang="en-US" b="true" sz="10910" spc="-1287">
                <a:solidFill>
                  <a:srgbClr val="CA0013"/>
                </a:solidFill>
                <a:latin typeface="Inter Bold"/>
                <a:ea typeface="Inter Bold"/>
                <a:cs typeface="Inter Bold"/>
                <a:sym typeface="Inter Bold"/>
              </a:rPr>
              <a:t>TEAM PULSE</a:t>
            </a:r>
          </a:p>
        </p:txBody>
      </p:sp>
      <p:sp>
        <p:nvSpPr>
          <p:cNvPr name="TextBox 4" id="4"/>
          <p:cNvSpPr txBox="true"/>
          <p:nvPr/>
        </p:nvSpPr>
        <p:spPr>
          <a:xfrm rot="0">
            <a:off x="14328771" y="5522997"/>
            <a:ext cx="2930529" cy="753090"/>
          </a:xfrm>
          <a:prstGeom prst="rect">
            <a:avLst/>
          </a:prstGeom>
        </p:spPr>
        <p:txBody>
          <a:bodyPr anchor="t" rtlCol="false" tIns="0" lIns="0" bIns="0" rIns="0">
            <a:spAutoFit/>
          </a:bodyPr>
          <a:lstStyle/>
          <a:p>
            <a:pPr algn="l" marL="0" indent="0" lvl="0">
              <a:lnSpc>
                <a:spcPts val="5528"/>
              </a:lnSpc>
            </a:pPr>
            <a:r>
              <a:rPr lang="en-US" b="true" sz="5945" spc="-178">
                <a:solidFill>
                  <a:srgbClr val="CA0013"/>
                </a:solidFill>
                <a:latin typeface="Inter Bold"/>
                <a:ea typeface="Inter Bold"/>
                <a:cs typeface="Inter Bold"/>
                <a:sym typeface="Inter Bold"/>
              </a:rPr>
              <a:t>(02)</a:t>
            </a:r>
          </a:p>
        </p:txBody>
      </p:sp>
      <p:sp>
        <p:nvSpPr>
          <p:cNvPr name="TextBox 5" id="5"/>
          <p:cNvSpPr txBox="true"/>
          <p:nvPr/>
        </p:nvSpPr>
        <p:spPr>
          <a:xfrm rot="0">
            <a:off x="14467086" y="6673426"/>
            <a:ext cx="2653898" cy="1878330"/>
          </a:xfrm>
          <a:prstGeom prst="rect">
            <a:avLst/>
          </a:prstGeom>
        </p:spPr>
        <p:txBody>
          <a:bodyPr anchor="t" rtlCol="false" tIns="0" lIns="0" bIns="0" rIns="0">
            <a:spAutoFit/>
          </a:bodyPr>
          <a:lstStyle/>
          <a:p>
            <a:pPr algn="l" marL="0" indent="0" lvl="0">
              <a:lnSpc>
                <a:spcPts val="2520"/>
              </a:lnSpc>
            </a:pPr>
            <a:r>
              <a:rPr lang="en-US" sz="1800" spc="-160">
                <a:solidFill>
                  <a:srgbClr val="CA0013"/>
                </a:solidFill>
                <a:latin typeface="Inter"/>
                <a:ea typeface="Inter"/>
                <a:cs typeface="Inter"/>
                <a:sym typeface="Inter"/>
              </a:rPr>
              <a:t>T</a:t>
            </a:r>
            <a:r>
              <a:rPr lang="en-US" sz="1800" spc="-160">
                <a:solidFill>
                  <a:srgbClr val="CA0013"/>
                </a:solidFill>
                <a:latin typeface="Inter"/>
                <a:ea typeface="Inter"/>
                <a:cs typeface="Inter"/>
                <a:sym typeface="Inter"/>
              </a:rPr>
              <a:t>eam Pulse is a diverse group of innovators combining AI, cybersecurity, and business insight to build heart-safe digital health solutions.</a:t>
            </a:r>
          </a:p>
        </p:txBody>
      </p:sp>
      <p:sp>
        <p:nvSpPr>
          <p:cNvPr name="TextBox 6" id="6"/>
          <p:cNvSpPr txBox="true"/>
          <p:nvPr/>
        </p:nvSpPr>
        <p:spPr>
          <a:xfrm rot="0">
            <a:off x="631299" y="1076259"/>
            <a:ext cx="2513344" cy="433197"/>
          </a:xfrm>
          <a:prstGeom prst="rect">
            <a:avLst/>
          </a:prstGeom>
        </p:spPr>
        <p:txBody>
          <a:bodyPr anchor="t" rtlCol="false" tIns="0" lIns="0" bIns="0" rIns="0">
            <a:spAutoFit/>
          </a:bodyPr>
          <a:lstStyle/>
          <a:p>
            <a:pPr algn="l">
              <a:lnSpc>
                <a:spcPts val="1674"/>
              </a:lnSpc>
            </a:pPr>
            <a:r>
              <a:rPr lang="en-US" b="true" sz="1800" spc="-54">
                <a:solidFill>
                  <a:srgbClr val="CA0013"/>
                </a:solidFill>
                <a:latin typeface="Inter Bold"/>
                <a:ea typeface="Inter Bold"/>
                <a:cs typeface="Inter Bold"/>
                <a:sym typeface="Inter Bold"/>
              </a:rPr>
              <a:t>PRESENTED BY</a:t>
            </a:r>
          </a:p>
          <a:p>
            <a:pPr algn="l" marL="0" indent="0" lvl="0">
              <a:lnSpc>
                <a:spcPts val="1674"/>
              </a:lnSpc>
            </a:pPr>
            <a:r>
              <a:rPr lang="en-US" b="true" sz="1800" spc="-54">
                <a:solidFill>
                  <a:srgbClr val="CA0013"/>
                </a:solidFill>
                <a:latin typeface="Inter Bold"/>
                <a:ea typeface="Inter Bold"/>
                <a:cs typeface="Inter Bold"/>
                <a:sym typeface="Inter Bold"/>
              </a:rPr>
              <a:t>TEAM PULSE</a:t>
            </a:r>
          </a:p>
        </p:txBody>
      </p:sp>
      <p:sp>
        <p:nvSpPr>
          <p:cNvPr name="TextBox 7" id="7"/>
          <p:cNvSpPr txBox="true"/>
          <p:nvPr/>
        </p:nvSpPr>
        <p:spPr>
          <a:xfrm rot="0">
            <a:off x="7583749" y="2551119"/>
            <a:ext cx="7342994" cy="884007"/>
          </a:xfrm>
          <a:prstGeom prst="rect">
            <a:avLst/>
          </a:prstGeom>
        </p:spPr>
        <p:txBody>
          <a:bodyPr anchor="t" rtlCol="false" tIns="0" lIns="0" bIns="0" rIns="0">
            <a:spAutoFit/>
          </a:bodyPr>
          <a:lstStyle/>
          <a:p>
            <a:pPr algn="just">
              <a:lnSpc>
                <a:spcPts val="2275"/>
              </a:lnSpc>
            </a:pPr>
            <a:r>
              <a:rPr lang="en-US" b="true" sz="2446" spc="-73">
                <a:solidFill>
                  <a:srgbClr val="CA0013"/>
                </a:solidFill>
                <a:latin typeface="Inter Bold"/>
                <a:ea typeface="Inter Bold"/>
                <a:cs typeface="Inter Bold"/>
                <a:sym typeface="Inter Bold"/>
              </a:rPr>
              <a:t> —  BRINGS TOGETHER DIFFERENT SKILLS, ONE MISSION, AND A SHARED HEARTBEAT FOR INNOVATION.</a:t>
            </a:r>
          </a:p>
        </p:txBody>
      </p:sp>
      <p:sp>
        <p:nvSpPr>
          <p:cNvPr name="TextBox 8" id="8"/>
          <p:cNvSpPr txBox="true"/>
          <p:nvPr/>
        </p:nvSpPr>
        <p:spPr>
          <a:xfrm rot="0">
            <a:off x="1028700" y="5067300"/>
            <a:ext cx="7576393" cy="3813403"/>
          </a:xfrm>
          <a:prstGeom prst="rect">
            <a:avLst/>
          </a:prstGeom>
        </p:spPr>
        <p:txBody>
          <a:bodyPr anchor="t" rtlCol="false" tIns="0" lIns="0" bIns="0" rIns="0">
            <a:spAutoFit/>
          </a:bodyPr>
          <a:lstStyle/>
          <a:p>
            <a:pPr algn="l">
              <a:lnSpc>
                <a:spcPts val="5062"/>
              </a:lnSpc>
              <a:spcBef>
                <a:spcPct val="0"/>
              </a:spcBef>
            </a:pPr>
            <a:r>
              <a:rPr lang="en-US" b="true" sz="3616" spc="-108">
                <a:solidFill>
                  <a:srgbClr val="CA0013"/>
                </a:solidFill>
                <a:latin typeface="Inter Bold"/>
                <a:ea typeface="Inter Bold"/>
                <a:cs typeface="Inter Bold"/>
                <a:sym typeface="Inter Bold"/>
              </a:rPr>
              <a:t>ABDALLA HEGGY </a:t>
            </a:r>
            <a:r>
              <a:rPr lang="en-US" sz="3616" spc="-108">
                <a:solidFill>
                  <a:srgbClr val="CA0013"/>
                </a:solidFill>
                <a:latin typeface="Inter"/>
                <a:ea typeface="Inter"/>
                <a:cs typeface="Inter"/>
                <a:sym typeface="Inter"/>
              </a:rPr>
              <a:t>#8457785</a:t>
            </a:r>
          </a:p>
          <a:p>
            <a:pPr algn="l">
              <a:lnSpc>
                <a:spcPts val="5062"/>
              </a:lnSpc>
              <a:spcBef>
                <a:spcPct val="0"/>
              </a:spcBef>
            </a:pPr>
            <a:r>
              <a:rPr lang="en-US" b="true" sz="3616" spc="-108">
                <a:solidFill>
                  <a:srgbClr val="CA0013"/>
                </a:solidFill>
                <a:latin typeface="Inter Bold"/>
                <a:ea typeface="Inter Bold"/>
                <a:cs typeface="Inter Bold"/>
                <a:sym typeface="Inter Bold"/>
              </a:rPr>
              <a:t>OMAR MASSOUD </a:t>
            </a:r>
            <a:r>
              <a:rPr lang="en-US" sz="3616" spc="-108">
                <a:solidFill>
                  <a:srgbClr val="CA0013"/>
                </a:solidFill>
                <a:latin typeface="Inter"/>
                <a:ea typeface="Inter"/>
                <a:cs typeface="Inter"/>
                <a:sym typeface="Inter"/>
              </a:rPr>
              <a:t>#7858681</a:t>
            </a:r>
          </a:p>
          <a:p>
            <a:pPr algn="l">
              <a:lnSpc>
                <a:spcPts val="5062"/>
              </a:lnSpc>
              <a:spcBef>
                <a:spcPct val="0"/>
              </a:spcBef>
            </a:pPr>
            <a:r>
              <a:rPr lang="en-US" b="true" sz="3616" spc="-108">
                <a:solidFill>
                  <a:srgbClr val="CA0013"/>
                </a:solidFill>
                <a:latin typeface="Inter Bold"/>
                <a:ea typeface="Inter Bold"/>
                <a:cs typeface="Inter Bold"/>
                <a:sym typeface="Inter Bold"/>
              </a:rPr>
              <a:t>GHINA ISHAQ </a:t>
            </a:r>
            <a:r>
              <a:rPr lang="en-US" sz="3616" spc="-108">
                <a:solidFill>
                  <a:srgbClr val="CA0013"/>
                </a:solidFill>
                <a:latin typeface="Inter"/>
                <a:ea typeface="Inter"/>
                <a:cs typeface="Inter"/>
                <a:sym typeface="Inter"/>
              </a:rPr>
              <a:t>#871179</a:t>
            </a:r>
          </a:p>
          <a:p>
            <a:pPr algn="l">
              <a:lnSpc>
                <a:spcPts val="5062"/>
              </a:lnSpc>
              <a:spcBef>
                <a:spcPct val="0"/>
              </a:spcBef>
            </a:pPr>
            <a:r>
              <a:rPr lang="en-US" b="true" sz="3616" spc="-108">
                <a:solidFill>
                  <a:srgbClr val="CA0013"/>
                </a:solidFill>
                <a:latin typeface="Inter Bold"/>
                <a:ea typeface="Inter Bold"/>
                <a:cs typeface="Inter Bold"/>
                <a:sym typeface="Inter Bold"/>
              </a:rPr>
              <a:t>KARYLLE OCHAVE </a:t>
            </a:r>
            <a:r>
              <a:rPr lang="en-US" sz="3616" spc="-108">
                <a:solidFill>
                  <a:srgbClr val="CA0013"/>
                </a:solidFill>
                <a:latin typeface="Inter"/>
                <a:ea typeface="Inter"/>
                <a:cs typeface="Inter"/>
                <a:sym typeface="Inter"/>
              </a:rPr>
              <a:t>#7669057</a:t>
            </a:r>
          </a:p>
          <a:p>
            <a:pPr algn="l">
              <a:lnSpc>
                <a:spcPts val="5062"/>
              </a:lnSpc>
              <a:spcBef>
                <a:spcPct val="0"/>
              </a:spcBef>
            </a:pPr>
            <a:r>
              <a:rPr lang="en-US" b="true" sz="3616" spc="-108">
                <a:solidFill>
                  <a:srgbClr val="CA0013"/>
                </a:solidFill>
                <a:latin typeface="Inter Bold"/>
                <a:ea typeface="Inter Bold"/>
                <a:cs typeface="Inter Bold"/>
                <a:sym typeface="Inter Bold"/>
              </a:rPr>
              <a:t>BITHIN RADHAKRISHNAN</a:t>
            </a:r>
            <a:r>
              <a:rPr lang="en-US" sz="3616" spc="-108">
                <a:solidFill>
                  <a:srgbClr val="CA0013"/>
                </a:solidFill>
                <a:latin typeface="Inter"/>
                <a:ea typeface="Inter"/>
                <a:cs typeface="Inter"/>
                <a:sym typeface="Inter"/>
              </a:rPr>
              <a:t> #8910881</a:t>
            </a:r>
          </a:p>
          <a:p>
            <a:pPr algn="l">
              <a:lnSpc>
                <a:spcPts val="5062"/>
              </a:lnSpc>
              <a:spcBef>
                <a:spcPct val="0"/>
              </a:spcBef>
            </a:pPr>
            <a:r>
              <a:rPr lang="en-US" b="true" sz="3616" spc="-108">
                <a:solidFill>
                  <a:srgbClr val="CA0013"/>
                </a:solidFill>
                <a:latin typeface="Inter Bold"/>
                <a:ea typeface="Inter Bold"/>
                <a:cs typeface="Inter Bold"/>
                <a:sym typeface="Inter Bold"/>
              </a:rPr>
              <a:t>HAMZA AL RAJABY </a:t>
            </a:r>
            <a:r>
              <a:rPr lang="en-US" sz="3616" spc="-108">
                <a:solidFill>
                  <a:srgbClr val="CA0013"/>
                </a:solidFill>
                <a:latin typeface="Inter"/>
                <a:ea typeface="Inter"/>
                <a:cs typeface="Inter"/>
                <a:sym typeface="Inter"/>
              </a:rPr>
              <a:t>#7322586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grpSp>
        <p:nvGrpSpPr>
          <p:cNvPr name="Group 2" id="2"/>
          <p:cNvGrpSpPr/>
          <p:nvPr/>
        </p:nvGrpSpPr>
        <p:grpSpPr>
          <a:xfrm rot="0">
            <a:off x="2601221" y="4253107"/>
            <a:ext cx="5647430" cy="2652961"/>
            <a:chOff x="0" y="0"/>
            <a:chExt cx="1487389" cy="698722"/>
          </a:xfrm>
        </p:grpSpPr>
        <p:sp>
          <p:nvSpPr>
            <p:cNvPr name="Freeform 3" id="3"/>
            <p:cNvSpPr/>
            <p:nvPr/>
          </p:nvSpPr>
          <p:spPr>
            <a:xfrm flipH="false" flipV="false" rot="0">
              <a:off x="0" y="0"/>
              <a:ext cx="1487389" cy="698722"/>
            </a:xfrm>
            <a:custGeom>
              <a:avLst/>
              <a:gdLst/>
              <a:ahLst/>
              <a:cxnLst/>
              <a:rect r="r" b="b" t="t" l="l"/>
              <a:pathLst>
                <a:path h="698722" w="1487389">
                  <a:moveTo>
                    <a:pt x="69915" y="0"/>
                  </a:moveTo>
                  <a:lnTo>
                    <a:pt x="1417474" y="0"/>
                  </a:lnTo>
                  <a:cubicBezTo>
                    <a:pt x="1436017" y="0"/>
                    <a:pt x="1453800" y="7366"/>
                    <a:pt x="1466911" y="20478"/>
                  </a:cubicBezTo>
                  <a:cubicBezTo>
                    <a:pt x="1480023" y="33589"/>
                    <a:pt x="1487389" y="51372"/>
                    <a:pt x="1487389" y="69915"/>
                  </a:cubicBezTo>
                  <a:lnTo>
                    <a:pt x="1487389" y="628808"/>
                  </a:lnTo>
                  <a:cubicBezTo>
                    <a:pt x="1487389" y="667420"/>
                    <a:pt x="1456087" y="698722"/>
                    <a:pt x="1417474" y="698722"/>
                  </a:cubicBezTo>
                  <a:lnTo>
                    <a:pt x="69915" y="698722"/>
                  </a:lnTo>
                  <a:cubicBezTo>
                    <a:pt x="31302" y="698722"/>
                    <a:pt x="0" y="667420"/>
                    <a:pt x="0" y="628808"/>
                  </a:cubicBezTo>
                  <a:lnTo>
                    <a:pt x="0" y="69915"/>
                  </a:lnTo>
                  <a:cubicBezTo>
                    <a:pt x="0" y="31302"/>
                    <a:pt x="31302" y="0"/>
                    <a:pt x="69915" y="0"/>
                  </a:cubicBezTo>
                  <a:close/>
                </a:path>
              </a:pathLst>
            </a:custGeom>
            <a:solidFill>
              <a:srgbClr val="CBC4B3"/>
            </a:solidFill>
          </p:spPr>
        </p:sp>
        <p:sp>
          <p:nvSpPr>
            <p:cNvPr name="TextBox 4" id="4"/>
            <p:cNvSpPr txBox="true"/>
            <p:nvPr/>
          </p:nvSpPr>
          <p:spPr>
            <a:xfrm>
              <a:off x="0" y="47625"/>
              <a:ext cx="1487389" cy="651097"/>
            </a:xfrm>
            <a:prstGeom prst="rect">
              <a:avLst/>
            </a:prstGeom>
          </p:spPr>
          <p:txBody>
            <a:bodyPr anchor="ctr" rtlCol="false" tIns="50800" lIns="50800" bIns="50800" rIns="50800"/>
            <a:lstStyle/>
            <a:p>
              <a:pPr algn="ctr">
                <a:lnSpc>
                  <a:spcPts val="1674"/>
                </a:lnSpc>
              </a:pPr>
            </a:p>
          </p:txBody>
        </p:sp>
      </p:grpSp>
      <p:grpSp>
        <p:nvGrpSpPr>
          <p:cNvPr name="Group 5" id="5"/>
          <p:cNvGrpSpPr/>
          <p:nvPr/>
        </p:nvGrpSpPr>
        <p:grpSpPr>
          <a:xfrm rot="0">
            <a:off x="9702852" y="4253107"/>
            <a:ext cx="5647430" cy="2652961"/>
            <a:chOff x="0" y="0"/>
            <a:chExt cx="1487389" cy="698722"/>
          </a:xfrm>
        </p:grpSpPr>
        <p:sp>
          <p:nvSpPr>
            <p:cNvPr name="Freeform 6" id="6"/>
            <p:cNvSpPr/>
            <p:nvPr/>
          </p:nvSpPr>
          <p:spPr>
            <a:xfrm flipH="false" flipV="false" rot="0">
              <a:off x="0" y="0"/>
              <a:ext cx="1487389" cy="698722"/>
            </a:xfrm>
            <a:custGeom>
              <a:avLst/>
              <a:gdLst/>
              <a:ahLst/>
              <a:cxnLst/>
              <a:rect r="r" b="b" t="t" l="l"/>
              <a:pathLst>
                <a:path h="698722" w="1487389">
                  <a:moveTo>
                    <a:pt x="69915" y="0"/>
                  </a:moveTo>
                  <a:lnTo>
                    <a:pt x="1417474" y="0"/>
                  </a:lnTo>
                  <a:cubicBezTo>
                    <a:pt x="1436017" y="0"/>
                    <a:pt x="1453800" y="7366"/>
                    <a:pt x="1466911" y="20478"/>
                  </a:cubicBezTo>
                  <a:cubicBezTo>
                    <a:pt x="1480023" y="33589"/>
                    <a:pt x="1487389" y="51372"/>
                    <a:pt x="1487389" y="69915"/>
                  </a:cubicBezTo>
                  <a:lnTo>
                    <a:pt x="1487389" y="628808"/>
                  </a:lnTo>
                  <a:cubicBezTo>
                    <a:pt x="1487389" y="667420"/>
                    <a:pt x="1456087" y="698722"/>
                    <a:pt x="1417474" y="698722"/>
                  </a:cubicBezTo>
                  <a:lnTo>
                    <a:pt x="69915" y="698722"/>
                  </a:lnTo>
                  <a:cubicBezTo>
                    <a:pt x="31302" y="698722"/>
                    <a:pt x="0" y="667420"/>
                    <a:pt x="0" y="628808"/>
                  </a:cubicBezTo>
                  <a:lnTo>
                    <a:pt x="0" y="69915"/>
                  </a:lnTo>
                  <a:cubicBezTo>
                    <a:pt x="0" y="31302"/>
                    <a:pt x="31302" y="0"/>
                    <a:pt x="69915" y="0"/>
                  </a:cubicBezTo>
                  <a:close/>
                </a:path>
              </a:pathLst>
            </a:custGeom>
            <a:solidFill>
              <a:srgbClr val="CBC4B3"/>
            </a:solidFill>
          </p:spPr>
        </p:sp>
        <p:sp>
          <p:nvSpPr>
            <p:cNvPr name="TextBox 7" id="7"/>
            <p:cNvSpPr txBox="true"/>
            <p:nvPr/>
          </p:nvSpPr>
          <p:spPr>
            <a:xfrm>
              <a:off x="0" y="47625"/>
              <a:ext cx="1487389" cy="651097"/>
            </a:xfrm>
            <a:prstGeom prst="rect">
              <a:avLst/>
            </a:prstGeom>
          </p:spPr>
          <p:txBody>
            <a:bodyPr anchor="ctr" rtlCol="false" tIns="50800" lIns="50800" bIns="50800" rIns="50800"/>
            <a:lstStyle/>
            <a:p>
              <a:pPr algn="ctr">
                <a:lnSpc>
                  <a:spcPts val="1674"/>
                </a:lnSpc>
              </a:pPr>
            </a:p>
          </p:txBody>
        </p:sp>
      </p:grpSp>
      <p:grpSp>
        <p:nvGrpSpPr>
          <p:cNvPr name="Group 8" id="8"/>
          <p:cNvGrpSpPr/>
          <p:nvPr/>
        </p:nvGrpSpPr>
        <p:grpSpPr>
          <a:xfrm rot="0">
            <a:off x="4608013" y="7410893"/>
            <a:ext cx="9068632" cy="2096299"/>
            <a:chOff x="0" y="0"/>
            <a:chExt cx="3022686" cy="698722"/>
          </a:xfrm>
        </p:grpSpPr>
        <p:sp>
          <p:nvSpPr>
            <p:cNvPr name="Freeform 9" id="9"/>
            <p:cNvSpPr/>
            <p:nvPr/>
          </p:nvSpPr>
          <p:spPr>
            <a:xfrm flipH="false" flipV="false" rot="0">
              <a:off x="0" y="0"/>
              <a:ext cx="3022686" cy="698722"/>
            </a:xfrm>
            <a:custGeom>
              <a:avLst/>
              <a:gdLst/>
              <a:ahLst/>
              <a:cxnLst/>
              <a:rect r="r" b="b" t="t" l="l"/>
              <a:pathLst>
                <a:path h="698722" w="3022686">
                  <a:moveTo>
                    <a:pt x="43539" y="0"/>
                  </a:moveTo>
                  <a:lnTo>
                    <a:pt x="2979147" y="0"/>
                  </a:lnTo>
                  <a:cubicBezTo>
                    <a:pt x="3003193" y="0"/>
                    <a:pt x="3022686" y="19493"/>
                    <a:pt x="3022686" y="43539"/>
                  </a:cubicBezTo>
                  <a:lnTo>
                    <a:pt x="3022686" y="655183"/>
                  </a:lnTo>
                  <a:cubicBezTo>
                    <a:pt x="3022686" y="666731"/>
                    <a:pt x="3018099" y="677805"/>
                    <a:pt x="3009934" y="685970"/>
                  </a:cubicBezTo>
                  <a:cubicBezTo>
                    <a:pt x="3001769" y="694135"/>
                    <a:pt x="2990694" y="698722"/>
                    <a:pt x="2979147" y="698722"/>
                  </a:cubicBezTo>
                  <a:lnTo>
                    <a:pt x="43539" y="698722"/>
                  </a:lnTo>
                  <a:cubicBezTo>
                    <a:pt x="19493" y="698722"/>
                    <a:pt x="0" y="679229"/>
                    <a:pt x="0" y="655183"/>
                  </a:cubicBezTo>
                  <a:lnTo>
                    <a:pt x="0" y="43539"/>
                  </a:lnTo>
                  <a:cubicBezTo>
                    <a:pt x="0" y="31992"/>
                    <a:pt x="4587" y="20917"/>
                    <a:pt x="12752" y="12752"/>
                  </a:cubicBezTo>
                  <a:cubicBezTo>
                    <a:pt x="20917" y="4587"/>
                    <a:pt x="31992" y="0"/>
                    <a:pt x="43539" y="0"/>
                  </a:cubicBezTo>
                  <a:close/>
                </a:path>
              </a:pathLst>
            </a:custGeom>
            <a:solidFill>
              <a:srgbClr val="CBC4B3"/>
            </a:solidFill>
          </p:spPr>
        </p:sp>
        <p:sp>
          <p:nvSpPr>
            <p:cNvPr name="TextBox 10" id="10"/>
            <p:cNvSpPr txBox="true"/>
            <p:nvPr/>
          </p:nvSpPr>
          <p:spPr>
            <a:xfrm>
              <a:off x="0" y="47625"/>
              <a:ext cx="3022686" cy="651097"/>
            </a:xfrm>
            <a:prstGeom prst="rect">
              <a:avLst/>
            </a:prstGeom>
          </p:spPr>
          <p:txBody>
            <a:bodyPr anchor="ctr" rtlCol="false" tIns="50800" lIns="50800" bIns="50800" rIns="50800"/>
            <a:lstStyle/>
            <a:p>
              <a:pPr algn="ctr">
                <a:lnSpc>
                  <a:spcPts val="1674"/>
                </a:lnSpc>
              </a:pPr>
            </a:p>
          </p:txBody>
        </p:sp>
      </p:grpSp>
      <p:sp>
        <p:nvSpPr>
          <p:cNvPr name="TextBox 11" id="11"/>
          <p:cNvSpPr txBox="true"/>
          <p:nvPr/>
        </p:nvSpPr>
        <p:spPr>
          <a:xfrm rot="0">
            <a:off x="5043381" y="984463"/>
            <a:ext cx="8201238" cy="1243837"/>
          </a:xfrm>
          <a:prstGeom prst="rect">
            <a:avLst/>
          </a:prstGeom>
        </p:spPr>
        <p:txBody>
          <a:bodyPr anchor="t" rtlCol="false" tIns="0" lIns="0" bIns="0" rIns="0">
            <a:spAutoFit/>
          </a:bodyPr>
          <a:lstStyle/>
          <a:p>
            <a:pPr algn="l" marL="0" indent="0" lvl="0">
              <a:lnSpc>
                <a:spcPts val="8610"/>
              </a:lnSpc>
            </a:pPr>
            <a:r>
              <a:rPr lang="en-US" b="true" sz="10899" spc="-1286">
                <a:solidFill>
                  <a:srgbClr val="CA0013"/>
                </a:solidFill>
                <a:latin typeface="Inter Bold"/>
                <a:ea typeface="Inter Bold"/>
                <a:cs typeface="Inter Bold"/>
                <a:sym typeface="Inter Bold"/>
              </a:rPr>
              <a:t>THE PROBLEM</a:t>
            </a:r>
          </a:p>
        </p:txBody>
      </p:sp>
      <p:sp>
        <p:nvSpPr>
          <p:cNvPr name="TextBox 12" id="12"/>
          <p:cNvSpPr txBox="true"/>
          <p:nvPr/>
        </p:nvSpPr>
        <p:spPr>
          <a:xfrm rot="0">
            <a:off x="588530" y="9096309"/>
            <a:ext cx="2513344" cy="642747"/>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Bold"/>
                <a:ea typeface="Inter Bold"/>
                <a:cs typeface="Inter Bold"/>
                <a:sym typeface="Inter Bold"/>
              </a:rPr>
              <a:t>ADAPTIV HEALTH — SMARTER MOVEMENT, SAFER HEARTS.</a:t>
            </a:r>
          </a:p>
        </p:txBody>
      </p:sp>
      <p:sp>
        <p:nvSpPr>
          <p:cNvPr name="TextBox 13" id="13"/>
          <p:cNvSpPr txBox="true"/>
          <p:nvPr/>
        </p:nvSpPr>
        <p:spPr>
          <a:xfrm rot="0">
            <a:off x="3149572" y="4572800"/>
            <a:ext cx="4550728" cy="422275"/>
          </a:xfrm>
          <a:prstGeom prst="rect">
            <a:avLst/>
          </a:prstGeom>
        </p:spPr>
        <p:txBody>
          <a:bodyPr anchor="t" rtlCol="false" tIns="0" lIns="0" bIns="0" rIns="0">
            <a:spAutoFit/>
          </a:bodyPr>
          <a:lstStyle/>
          <a:p>
            <a:pPr algn="ctr" marL="0" indent="0" lvl="0">
              <a:lnSpc>
                <a:spcPts val="3499"/>
              </a:lnSpc>
            </a:pPr>
            <a:r>
              <a:rPr lang="en-US" b="true" sz="2499" spc="-222">
                <a:solidFill>
                  <a:srgbClr val="CA0013"/>
                </a:solidFill>
                <a:latin typeface="Inter Bold"/>
                <a:ea typeface="Inter Bold"/>
                <a:cs typeface="Inter Bold"/>
                <a:sym typeface="Inter Bold"/>
              </a:rPr>
              <a:t>N</a:t>
            </a:r>
            <a:r>
              <a:rPr lang="en-US" b="true" sz="2499" spc="-222">
                <a:solidFill>
                  <a:srgbClr val="CA0013"/>
                </a:solidFill>
                <a:latin typeface="Inter Bold"/>
                <a:ea typeface="Inter Bold"/>
                <a:cs typeface="Inter Bold"/>
                <a:sym typeface="Inter Bold"/>
              </a:rPr>
              <a:t>o Real-Time Monitoring</a:t>
            </a:r>
          </a:p>
        </p:txBody>
      </p:sp>
      <p:sp>
        <p:nvSpPr>
          <p:cNvPr name="TextBox 14" id="14"/>
          <p:cNvSpPr txBox="true"/>
          <p:nvPr/>
        </p:nvSpPr>
        <p:spPr>
          <a:xfrm rot="0">
            <a:off x="3149572" y="5276694"/>
            <a:ext cx="4550728" cy="1243965"/>
          </a:xfrm>
          <a:prstGeom prst="rect">
            <a:avLst/>
          </a:prstGeom>
        </p:spPr>
        <p:txBody>
          <a:bodyPr anchor="t" rtlCol="false" tIns="0" lIns="0" bIns="0" rIns="0">
            <a:spAutoFit/>
          </a:bodyPr>
          <a:lstStyle/>
          <a:p>
            <a:pPr algn="ctr" marL="0" indent="0" lvl="0">
              <a:lnSpc>
                <a:spcPts val="3359"/>
              </a:lnSpc>
            </a:pPr>
            <a:r>
              <a:rPr lang="en-US" sz="2400" spc="-213">
                <a:solidFill>
                  <a:srgbClr val="CA0013"/>
                </a:solidFill>
                <a:latin typeface="Inter"/>
                <a:ea typeface="Inter"/>
                <a:cs typeface="Inter"/>
                <a:sym typeface="Inter"/>
              </a:rPr>
              <a:t>Patients</a:t>
            </a:r>
            <a:r>
              <a:rPr lang="en-US" sz="2400" spc="-213">
                <a:solidFill>
                  <a:srgbClr val="CA0013"/>
                </a:solidFill>
                <a:latin typeface="Inter"/>
                <a:ea typeface="Inter"/>
                <a:cs typeface="Inter"/>
                <a:sym typeface="Inter"/>
              </a:rPr>
              <a:t> leave hospital with zero continuous oversight between appointments.</a:t>
            </a:r>
          </a:p>
        </p:txBody>
      </p:sp>
      <p:sp>
        <p:nvSpPr>
          <p:cNvPr name="TextBox 15" id="15"/>
          <p:cNvSpPr txBox="true"/>
          <p:nvPr/>
        </p:nvSpPr>
        <p:spPr>
          <a:xfrm rot="0">
            <a:off x="10251203" y="4572800"/>
            <a:ext cx="4550728" cy="422275"/>
          </a:xfrm>
          <a:prstGeom prst="rect">
            <a:avLst/>
          </a:prstGeom>
        </p:spPr>
        <p:txBody>
          <a:bodyPr anchor="t" rtlCol="false" tIns="0" lIns="0" bIns="0" rIns="0">
            <a:spAutoFit/>
          </a:bodyPr>
          <a:lstStyle/>
          <a:p>
            <a:pPr algn="ctr">
              <a:lnSpc>
                <a:spcPts val="3499"/>
              </a:lnSpc>
            </a:pPr>
            <a:r>
              <a:rPr lang="en-US" b="true" sz="2499" spc="-222">
                <a:solidFill>
                  <a:srgbClr val="CA0013"/>
                </a:solidFill>
                <a:latin typeface="Inter Bold"/>
                <a:ea typeface="Inter Bold"/>
                <a:cs typeface="Inter Bold"/>
                <a:sym typeface="Inter Bold"/>
              </a:rPr>
              <a:t>Blind Sp</a:t>
            </a:r>
            <a:r>
              <a:rPr lang="en-US" b="true" sz="2499" spc="-222">
                <a:solidFill>
                  <a:srgbClr val="CA0013"/>
                </a:solidFill>
                <a:latin typeface="Inter Bold"/>
                <a:ea typeface="Inter Bold"/>
                <a:cs typeface="Inter Bold"/>
                <a:sym typeface="Inter Bold"/>
              </a:rPr>
              <a:t>ots for Doctors</a:t>
            </a:r>
          </a:p>
        </p:txBody>
      </p:sp>
      <p:sp>
        <p:nvSpPr>
          <p:cNvPr name="TextBox 16" id="16"/>
          <p:cNvSpPr txBox="true"/>
          <p:nvPr/>
        </p:nvSpPr>
        <p:spPr>
          <a:xfrm rot="0">
            <a:off x="10251203" y="5276694"/>
            <a:ext cx="4550728" cy="1243965"/>
          </a:xfrm>
          <a:prstGeom prst="rect">
            <a:avLst/>
          </a:prstGeom>
        </p:spPr>
        <p:txBody>
          <a:bodyPr anchor="t" rtlCol="false" tIns="0" lIns="0" bIns="0" rIns="0">
            <a:spAutoFit/>
          </a:bodyPr>
          <a:lstStyle/>
          <a:p>
            <a:pPr algn="ctr" marL="0" indent="0" lvl="0">
              <a:lnSpc>
                <a:spcPts val="3359"/>
              </a:lnSpc>
            </a:pPr>
            <a:r>
              <a:rPr lang="en-US" sz="2400" spc="-213">
                <a:solidFill>
                  <a:srgbClr val="CA0013"/>
                </a:solidFill>
                <a:latin typeface="Inter"/>
                <a:ea typeface="Inter"/>
                <a:cs typeface="Inter"/>
                <a:sym typeface="Inter"/>
              </a:rPr>
              <a:t>Clinicians cannot</a:t>
            </a:r>
            <a:r>
              <a:rPr lang="en-US" sz="2400" spc="-213">
                <a:solidFill>
                  <a:srgbClr val="CA0013"/>
                </a:solidFill>
                <a:latin typeface="Inter"/>
                <a:ea typeface="Inter"/>
                <a:cs typeface="Inter"/>
                <a:sym typeface="Inter"/>
              </a:rPr>
              <a:t> see what happens to patients outside the clinic walls.</a:t>
            </a:r>
          </a:p>
          <a:p>
            <a:pPr algn="ctr" marL="0" indent="0" lvl="0">
              <a:lnSpc>
                <a:spcPts val="3359"/>
              </a:lnSpc>
            </a:pPr>
          </a:p>
        </p:txBody>
      </p:sp>
      <p:sp>
        <p:nvSpPr>
          <p:cNvPr name="TextBox 17" id="17"/>
          <p:cNvSpPr txBox="true"/>
          <p:nvPr/>
        </p:nvSpPr>
        <p:spPr>
          <a:xfrm rot="0">
            <a:off x="6866965" y="7726646"/>
            <a:ext cx="4550728" cy="422275"/>
          </a:xfrm>
          <a:prstGeom prst="rect">
            <a:avLst/>
          </a:prstGeom>
        </p:spPr>
        <p:txBody>
          <a:bodyPr anchor="t" rtlCol="false" tIns="0" lIns="0" bIns="0" rIns="0">
            <a:spAutoFit/>
          </a:bodyPr>
          <a:lstStyle/>
          <a:p>
            <a:pPr algn="ctr" marL="0" indent="0" lvl="0">
              <a:lnSpc>
                <a:spcPts val="3499"/>
              </a:lnSpc>
            </a:pPr>
            <a:r>
              <a:rPr lang="en-US" b="true" sz="2499" spc="-222">
                <a:solidFill>
                  <a:srgbClr val="CA0013"/>
                </a:solidFill>
                <a:latin typeface="Inter Bold"/>
                <a:ea typeface="Inter Bold"/>
                <a:cs typeface="Inter Bold"/>
                <a:sym typeface="Inter Bold"/>
              </a:rPr>
              <a:t>Fitness App</a:t>
            </a:r>
            <a:r>
              <a:rPr lang="en-US" b="true" sz="2499" spc="-222">
                <a:solidFill>
                  <a:srgbClr val="CA0013"/>
                </a:solidFill>
                <a:latin typeface="Inter Bold"/>
                <a:ea typeface="Inter Bold"/>
                <a:cs typeface="Inter Bold"/>
                <a:sym typeface="Inter Bold"/>
              </a:rPr>
              <a:t>s Fall Short</a:t>
            </a:r>
          </a:p>
        </p:txBody>
      </p:sp>
      <p:sp>
        <p:nvSpPr>
          <p:cNvPr name="TextBox 18" id="18"/>
          <p:cNvSpPr txBox="true"/>
          <p:nvPr/>
        </p:nvSpPr>
        <p:spPr>
          <a:xfrm rot="0">
            <a:off x="5630714" y="8360883"/>
            <a:ext cx="7023230" cy="1243965"/>
          </a:xfrm>
          <a:prstGeom prst="rect">
            <a:avLst/>
          </a:prstGeom>
        </p:spPr>
        <p:txBody>
          <a:bodyPr anchor="t" rtlCol="false" tIns="0" lIns="0" bIns="0" rIns="0">
            <a:spAutoFit/>
          </a:bodyPr>
          <a:lstStyle/>
          <a:p>
            <a:pPr algn="ctr" marL="0" indent="0" lvl="0">
              <a:lnSpc>
                <a:spcPts val="3359"/>
              </a:lnSpc>
            </a:pPr>
            <a:r>
              <a:rPr lang="en-US" sz="2400" spc="-213">
                <a:solidFill>
                  <a:srgbClr val="CA0013"/>
                </a:solidFill>
                <a:latin typeface="Inter"/>
                <a:ea typeface="Inter"/>
                <a:cs typeface="Inter"/>
                <a:sym typeface="Inter"/>
              </a:rPr>
              <a:t>Generic apps ignor</a:t>
            </a:r>
            <a:r>
              <a:rPr lang="en-US" sz="2400" spc="-213">
                <a:solidFill>
                  <a:srgbClr val="CA0013"/>
                </a:solidFill>
                <a:latin typeface="Inter"/>
                <a:ea typeface="Inter"/>
                <a:cs typeface="Inter"/>
                <a:sym typeface="Inter"/>
              </a:rPr>
              <a:t>e cardiac safety entirely — one wrong workout can be fatal.</a:t>
            </a:r>
          </a:p>
          <a:p>
            <a:pPr algn="ctr" marL="0" indent="0" lvl="0">
              <a:lnSpc>
                <a:spcPts val="3359"/>
              </a:lnSpc>
            </a:pPr>
          </a:p>
        </p:txBody>
      </p:sp>
      <p:sp>
        <p:nvSpPr>
          <p:cNvPr name="TextBox 19" id="19"/>
          <p:cNvSpPr txBox="true"/>
          <p:nvPr/>
        </p:nvSpPr>
        <p:spPr>
          <a:xfrm rot="0">
            <a:off x="2601221" y="2693095"/>
            <a:ext cx="13082215" cy="763270"/>
          </a:xfrm>
          <a:prstGeom prst="rect">
            <a:avLst/>
          </a:prstGeom>
        </p:spPr>
        <p:txBody>
          <a:bodyPr anchor="t" rtlCol="false" tIns="0" lIns="0" bIns="0" rIns="0">
            <a:spAutoFit/>
          </a:bodyPr>
          <a:lstStyle/>
          <a:p>
            <a:pPr algn="ctr">
              <a:lnSpc>
                <a:spcPts val="3079"/>
              </a:lnSpc>
              <a:spcBef>
                <a:spcPct val="0"/>
              </a:spcBef>
            </a:pPr>
            <a:r>
              <a:rPr lang="en-US" b="true" sz="2199" spc="-65">
                <a:solidFill>
                  <a:srgbClr val="CA0013"/>
                </a:solidFill>
                <a:latin typeface="Inter Bold"/>
                <a:ea typeface="Inter Bold"/>
                <a:cs typeface="Inter Bold"/>
                <a:sym typeface="Inter Bold"/>
              </a:rPr>
              <a:t>17.9 MILLION PEOPLE DIE FROM CARDIOVASCULAR DISEASE EVERY YEAR — THE WORLD'S #1 KILLER</a:t>
            </a:r>
          </a:p>
          <a:p>
            <a:pPr algn="ctr">
              <a:lnSpc>
                <a:spcPts val="3079"/>
              </a:lnSpc>
              <a:spcBef>
                <a:spcPct val="0"/>
              </a:spcBef>
            </a:pPr>
          </a:p>
        </p:txBody>
      </p:sp>
      <p:sp>
        <p:nvSpPr>
          <p:cNvPr name="TextBox 20" id="20"/>
          <p:cNvSpPr txBox="true"/>
          <p:nvPr/>
        </p:nvSpPr>
        <p:spPr>
          <a:xfrm rot="0">
            <a:off x="2937718" y="3195990"/>
            <a:ext cx="12412563" cy="763270"/>
          </a:xfrm>
          <a:prstGeom prst="rect">
            <a:avLst/>
          </a:prstGeom>
        </p:spPr>
        <p:txBody>
          <a:bodyPr anchor="t" rtlCol="false" tIns="0" lIns="0" bIns="0" rIns="0">
            <a:spAutoFit/>
          </a:bodyPr>
          <a:lstStyle/>
          <a:p>
            <a:pPr algn="ctr">
              <a:lnSpc>
                <a:spcPts val="3079"/>
              </a:lnSpc>
              <a:spcBef>
                <a:spcPct val="0"/>
              </a:spcBef>
            </a:pPr>
            <a:r>
              <a:rPr lang="en-US" b="true" sz="2199" spc="-65">
                <a:solidFill>
                  <a:srgbClr val="CA0013"/>
                </a:solidFill>
                <a:latin typeface="Inter Bold"/>
                <a:ea typeface="Inter Bold"/>
                <a:cs typeface="Inter Bold"/>
                <a:sym typeface="Inter Bold"/>
              </a:rPr>
              <a:t>YET THE CRITICAL GAP BETWEEN HOSPITAL DISCHARGE AND DAILY LIFE REMAINS UNSOLVED.</a:t>
            </a:r>
          </a:p>
          <a:p>
            <a:pPr algn="ctr">
              <a:lnSpc>
                <a:spcPts val="3079"/>
              </a:lnSpc>
              <a:spcBef>
                <a:spcPct val="0"/>
              </a:spcBef>
            </a:pPr>
          </a:p>
        </p:txBody>
      </p:sp>
      <p:sp>
        <p:nvSpPr>
          <p:cNvPr name="Freeform 21" id="21"/>
          <p:cNvSpPr/>
          <p:nvPr/>
        </p:nvSpPr>
        <p:spPr>
          <a:xfrm flipH="false" flipV="false" rot="0">
            <a:off x="16239619" y="-392665"/>
            <a:ext cx="2048381" cy="2164735"/>
          </a:xfrm>
          <a:custGeom>
            <a:avLst/>
            <a:gdLst/>
            <a:ahLst/>
            <a:cxnLst/>
            <a:rect r="r" b="b" t="t" l="l"/>
            <a:pathLst>
              <a:path h="2164735" w="2048381">
                <a:moveTo>
                  <a:pt x="0" y="0"/>
                </a:moveTo>
                <a:lnTo>
                  <a:pt x="2048381" y="0"/>
                </a:lnTo>
                <a:lnTo>
                  <a:pt x="2048381" y="2164736"/>
                </a:lnTo>
                <a:lnTo>
                  <a:pt x="0" y="2164736"/>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424999" y="3126490"/>
            <a:ext cx="13559427" cy="5846179"/>
          </a:xfrm>
          <a:custGeom>
            <a:avLst/>
            <a:gdLst/>
            <a:ahLst/>
            <a:cxnLst/>
            <a:rect r="r" b="b" t="t" l="l"/>
            <a:pathLst>
              <a:path h="5846179" w="13559427">
                <a:moveTo>
                  <a:pt x="0" y="0"/>
                </a:moveTo>
                <a:lnTo>
                  <a:pt x="13559426" y="0"/>
                </a:lnTo>
                <a:lnTo>
                  <a:pt x="13559426" y="5846178"/>
                </a:lnTo>
                <a:lnTo>
                  <a:pt x="0" y="5846178"/>
                </a:lnTo>
                <a:lnTo>
                  <a:pt x="0" y="0"/>
                </a:lnTo>
                <a:close/>
              </a:path>
            </a:pathLst>
          </a:custGeom>
          <a:blipFill>
            <a:blip r:embed="rId2"/>
            <a:stretch>
              <a:fillRect l="0" t="0" r="0" b="0"/>
            </a:stretch>
          </a:blipFill>
        </p:spPr>
      </p:sp>
      <p:sp>
        <p:nvSpPr>
          <p:cNvPr name="Freeform 3" id="3"/>
          <p:cNvSpPr/>
          <p:nvPr/>
        </p:nvSpPr>
        <p:spPr>
          <a:xfrm flipH="false" flipV="false" rot="0">
            <a:off x="10513210" y="3702087"/>
            <a:ext cx="691735" cy="691735"/>
          </a:xfrm>
          <a:custGeom>
            <a:avLst/>
            <a:gdLst/>
            <a:ahLst/>
            <a:cxnLst/>
            <a:rect r="r" b="b" t="t" l="l"/>
            <a:pathLst>
              <a:path h="691735" w="691735">
                <a:moveTo>
                  <a:pt x="0" y="0"/>
                </a:moveTo>
                <a:lnTo>
                  <a:pt x="691735" y="0"/>
                </a:lnTo>
                <a:lnTo>
                  <a:pt x="691735" y="691735"/>
                </a:lnTo>
                <a:lnTo>
                  <a:pt x="0" y="691735"/>
                </a:lnTo>
                <a:lnTo>
                  <a:pt x="0" y="0"/>
                </a:lnTo>
                <a:close/>
              </a:path>
            </a:pathLst>
          </a:custGeom>
          <a:blipFill>
            <a:blip r:embed="rId3"/>
            <a:stretch>
              <a:fillRect l="0" t="0" r="0" b="0"/>
            </a:stretch>
          </a:blipFill>
          <a:ln cap="sq">
            <a:noFill/>
            <a:prstDash val="solid"/>
            <a:miter/>
          </a:ln>
        </p:spPr>
      </p:sp>
      <p:sp>
        <p:nvSpPr>
          <p:cNvPr name="Freeform 4" id="4"/>
          <p:cNvSpPr/>
          <p:nvPr/>
        </p:nvSpPr>
        <p:spPr>
          <a:xfrm flipH="false" flipV="false" rot="0">
            <a:off x="11543222" y="5054082"/>
            <a:ext cx="659445" cy="659445"/>
          </a:xfrm>
          <a:custGeom>
            <a:avLst/>
            <a:gdLst/>
            <a:ahLst/>
            <a:cxnLst/>
            <a:rect r="r" b="b" t="t" l="l"/>
            <a:pathLst>
              <a:path h="659445" w="659445">
                <a:moveTo>
                  <a:pt x="0" y="0"/>
                </a:moveTo>
                <a:lnTo>
                  <a:pt x="659445" y="0"/>
                </a:lnTo>
                <a:lnTo>
                  <a:pt x="659445" y="659445"/>
                </a:lnTo>
                <a:lnTo>
                  <a:pt x="0" y="659445"/>
                </a:lnTo>
                <a:lnTo>
                  <a:pt x="0" y="0"/>
                </a:lnTo>
                <a:close/>
              </a:path>
            </a:pathLst>
          </a:custGeom>
          <a:blipFill>
            <a:blip r:embed="rId4"/>
            <a:stretch>
              <a:fillRect l="0" t="0" r="0" b="0"/>
            </a:stretch>
          </a:blipFill>
        </p:spPr>
      </p:sp>
      <p:sp>
        <p:nvSpPr>
          <p:cNvPr name="Freeform 5" id="5"/>
          <p:cNvSpPr/>
          <p:nvPr/>
        </p:nvSpPr>
        <p:spPr>
          <a:xfrm flipH="false" flipV="false" rot="0">
            <a:off x="12698672" y="6394596"/>
            <a:ext cx="642877" cy="642877"/>
          </a:xfrm>
          <a:custGeom>
            <a:avLst/>
            <a:gdLst/>
            <a:ahLst/>
            <a:cxnLst/>
            <a:rect r="r" b="b" t="t" l="l"/>
            <a:pathLst>
              <a:path h="642877" w="642877">
                <a:moveTo>
                  <a:pt x="0" y="0"/>
                </a:moveTo>
                <a:lnTo>
                  <a:pt x="642877" y="0"/>
                </a:lnTo>
                <a:lnTo>
                  <a:pt x="642877" y="642877"/>
                </a:lnTo>
                <a:lnTo>
                  <a:pt x="0" y="642877"/>
                </a:lnTo>
                <a:lnTo>
                  <a:pt x="0" y="0"/>
                </a:lnTo>
                <a:close/>
              </a:path>
            </a:pathLst>
          </a:custGeom>
          <a:blipFill>
            <a:blip r:embed="rId5"/>
            <a:stretch>
              <a:fillRect l="0" t="0" r="0" b="0"/>
            </a:stretch>
          </a:blipFill>
        </p:spPr>
      </p:sp>
      <p:sp>
        <p:nvSpPr>
          <p:cNvPr name="Freeform 6" id="6"/>
          <p:cNvSpPr/>
          <p:nvPr/>
        </p:nvSpPr>
        <p:spPr>
          <a:xfrm flipH="false" flipV="false" rot="0">
            <a:off x="13757151" y="7832682"/>
            <a:ext cx="642877" cy="642877"/>
          </a:xfrm>
          <a:custGeom>
            <a:avLst/>
            <a:gdLst/>
            <a:ahLst/>
            <a:cxnLst/>
            <a:rect r="r" b="b" t="t" l="l"/>
            <a:pathLst>
              <a:path h="642877" w="642877">
                <a:moveTo>
                  <a:pt x="0" y="0"/>
                </a:moveTo>
                <a:lnTo>
                  <a:pt x="642877" y="0"/>
                </a:lnTo>
                <a:lnTo>
                  <a:pt x="642877" y="642877"/>
                </a:lnTo>
                <a:lnTo>
                  <a:pt x="0" y="642877"/>
                </a:lnTo>
                <a:lnTo>
                  <a:pt x="0" y="0"/>
                </a:lnTo>
                <a:close/>
              </a:path>
            </a:pathLst>
          </a:custGeom>
          <a:blipFill>
            <a:blip r:embed="rId6"/>
            <a:stretch>
              <a:fillRect l="0" t="0" r="0" b="0"/>
            </a:stretch>
          </a:blipFill>
        </p:spPr>
      </p:sp>
      <p:sp>
        <p:nvSpPr>
          <p:cNvPr name="TextBox 7" id="7"/>
          <p:cNvSpPr txBox="true"/>
          <p:nvPr/>
        </p:nvSpPr>
        <p:spPr>
          <a:xfrm rot="0">
            <a:off x="588530" y="9096309"/>
            <a:ext cx="2513344" cy="642747"/>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Bold"/>
                <a:ea typeface="Inter Bold"/>
                <a:cs typeface="Inter Bold"/>
                <a:sym typeface="Inter Bold"/>
              </a:rPr>
              <a:t>ADAPTIV HEALTH — SMARTER MOVEMENT, SAFER HEARTS.</a:t>
            </a:r>
          </a:p>
        </p:txBody>
      </p:sp>
      <p:sp>
        <p:nvSpPr>
          <p:cNvPr name="TextBox 8" id="8"/>
          <p:cNvSpPr txBox="true"/>
          <p:nvPr/>
        </p:nvSpPr>
        <p:spPr>
          <a:xfrm rot="0">
            <a:off x="1138519" y="3829514"/>
            <a:ext cx="5152925" cy="389255"/>
          </a:xfrm>
          <a:prstGeom prst="rect">
            <a:avLst/>
          </a:prstGeom>
        </p:spPr>
        <p:txBody>
          <a:bodyPr anchor="t" rtlCol="false" tIns="0" lIns="0" bIns="0" rIns="0">
            <a:spAutoFit/>
          </a:bodyPr>
          <a:lstStyle/>
          <a:p>
            <a:pPr algn="l">
              <a:lnSpc>
                <a:spcPts val="3219"/>
              </a:lnSpc>
              <a:spcBef>
                <a:spcPct val="0"/>
              </a:spcBef>
            </a:pPr>
            <a:r>
              <a:rPr lang="en-US" b="true" sz="2299" spc="-68">
                <a:solidFill>
                  <a:srgbClr val="FFFFFF"/>
                </a:solidFill>
                <a:latin typeface="Inter Bold"/>
                <a:ea typeface="Inter Bold"/>
                <a:cs typeface="Inter Bold"/>
                <a:sym typeface="Inter Bold"/>
              </a:rPr>
              <a:t>COLLECT VITALS</a:t>
            </a:r>
          </a:p>
        </p:txBody>
      </p:sp>
      <p:sp>
        <p:nvSpPr>
          <p:cNvPr name="TextBox 9" id="9"/>
          <p:cNvSpPr txBox="true"/>
          <p:nvPr/>
        </p:nvSpPr>
        <p:spPr>
          <a:xfrm rot="0">
            <a:off x="1138519" y="5165364"/>
            <a:ext cx="5152925" cy="389255"/>
          </a:xfrm>
          <a:prstGeom prst="rect">
            <a:avLst/>
          </a:prstGeom>
        </p:spPr>
        <p:txBody>
          <a:bodyPr anchor="t" rtlCol="false" tIns="0" lIns="0" bIns="0" rIns="0">
            <a:spAutoFit/>
          </a:bodyPr>
          <a:lstStyle/>
          <a:p>
            <a:pPr algn="l">
              <a:lnSpc>
                <a:spcPts val="3219"/>
              </a:lnSpc>
              <a:spcBef>
                <a:spcPct val="0"/>
              </a:spcBef>
            </a:pPr>
            <a:r>
              <a:rPr lang="en-US" b="true" sz="2299" spc="-68">
                <a:solidFill>
                  <a:srgbClr val="FFFFFF"/>
                </a:solidFill>
                <a:latin typeface="Inter Bold"/>
                <a:ea typeface="Inter Bold"/>
                <a:cs typeface="Inter Bold"/>
                <a:sym typeface="Inter Bold"/>
              </a:rPr>
              <a:t>GEN</a:t>
            </a:r>
            <a:r>
              <a:rPr lang="en-US" b="true" sz="2299" spc="-68">
                <a:solidFill>
                  <a:srgbClr val="FFFFFF"/>
                </a:solidFill>
                <a:latin typeface="Inter Bold"/>
                <a:ea typeface="Inter Bold"/>
                <a:cs typeface="Inter Bold"/>
                <a:sym typeface="Inter Bold"/>
              </a:rPr>
              <a:t>ERATE AI SCORE</a:t>
            </a:r>
          </a:p>
        </p:txBody>
      </p:sp>
      <p:sp>
        <p:nvSpPr>
          <p:cNvPr name="TextBox 10" id="10"/>
          <p:cNvSpPr txBox="true"/>
          <p:nvPr/>
        </p:nvSpPr>
        <p:spPr>
          <a:xfrm rot="0">
            <a:off x="1138519" y="6497594"/>
            <a:ext cx="5152925" cy="389255"/>
          </a:xfrm>
          <a:prstGeom prst="rect">
            <a:avLst/>
          </a:prstGeom>
        </p:spPr>
        <p:txBody>
          <a:bodyPr anchor="t" rtlCol="false" tIns="0" lIns="0" bIns="0" rIns="0">
            <a:spAutoFit/>
          </a:bodyPr>
          <a:lstStyle/>
          <a:p>
            <a:pPr algn="l">
              <a:lnSpc>
                <a:spcPts val="3219"/>
              </a:lnSpc>
              <a:spcBef>
                <a:spcPct val="0"/>
              </a:spcBef>
            </a:pPr>
            <a:r>
              <a:rPr lang="en-US" b="true" sz="2299" spc="-68">
                <a:solidFill>
                  <a:srgbClr val="FFFFFF"/>
                </a:solidFill>
                <a:latin typeface="Inter Bold"/>
                <a:ea typeface="Inter Bold"/>
                <a:cs typeface="Inter Bold"/>
                <a:sym typeface="Inter Bold"/>
              </a:rPr>
              <a:t>DE</a:t>
            </a:r>
            <a:r>
              <a:rPr lang="en-US" b="true" sz="2299" spc="-68">
                <a:solidFill>
                  <a:srgbClr val="FFFFFF"/>
                </a:solidFill>
                <a:latin typeface="Inter Bold"/>
                <a:ea typeface="Inter Bold"/>
                <a:cs typeface="Inter Bold"/>
                <a:sym typeface="Inter Bold"/>
              </a:rPr>
              <a:t>LIVER EXERCISE PLAN</a:t>
            </a:r>
          </a:p>
        </p:txBody>
      </p:sp>
      <p:sp>
        <p:nvSpPr>
          <p:cNvPr name="TextBox 11" id="11"/>
          <p:cNvSpPr txBox="true"/>
          <p:nvPr/>
        </p:nvSpPr>
        <p:spPr>
          <a:xfrm rot="0">
            <a:off x="1138519" y="7829825"/>
            <a:ext cx="5152925" cy="389255"/>
          </a:xfrm>
          <a:prstGeom prst="rect">
            <a:avLst/>
          </a:prstGeom>
        </p:spPr>
        <p:txBody>
          <a:bodyPr anchor="t" rtlCol="false" tIns="0" lIns="0" bIns="0" rIns="0">
            <a:spAutoFit/>
          </a:bodyPr>
          <a:lstStyle/>
          <a:p>
            <a:pPr algn="l">
              <a:lnSpc>
                <a:spcPts val="3219"/>
              </a:lnSpc>
              <a:spcBef>
                <a:spcPct val="0"/>
              </a:spcBef>
            </a:pPr>
            <a:r>
              <a:rPr lang="en-US" b="true" sz="2299" spc="-68">
                <a:solidFill>
                  <a:srgbClr val="FFFFFF"/>
                </a:solidFill>
                <a:latin typeface="Inter Bold"/>
                <a:ea typeface="Inter Bold"/>
                <a:cs typeface="Inter Bold"/>
                <a:sym typeface="Inter Bold"/>
              </a:rPr>
              <a:t>TRIGG</a:t>
            </a:r>
            <a:r>
              <a:rPr lang="en-US" b="true" sz="2299" spc="-68">
                <a:solidFill>
                  <a:srgbClr val="FFFFFF"/>
                </a:solidFill>
                <a:latin typeface="Inter Bold"/>
                <a:ea typeface="Inter Bold"/>
                <a:cs typeface="Inter Bold"/>
                <a:sym typeface="Inter Bold"/>
              </a:rPr>
              <a:t>ER DOCTOR ALERT</a:t>
            </a:r>
          </a:p>
        </p:txBody>
      </p:sp>
      <p:sp>
        <p:nvSpPr>
          <p:cNvPr name="TextBox 12" id="12"/>
          <p:cNvSpPr txBox="true"/>
          <p:nvPr/>
        </p:nvSpPr>
        <p:spPr>
          <a:xfrm rot="0">
            <a:off x="588530" y="879315"/>
            <a:ext cx="9049172" cy="1243837"/>
          </a:xfrm>
          <a:prstGeom prst="rect">
            <a:avLst/>
          </a:prstGeom>
        </p:spPr>
        <p:txBody>
          <a:bodyPr anchor="t" rtlCol="false" tIns="0" lIns="0" bIns="0" rIns="0">
            <a:spAutoFit/>
          </a:bodyPr>
          <a:lstStyle/>
          <a:p>
            <a:pPr algn="l" marL="0" indent="0" lvl="0">
              <a:lnSpc>
                <a:spcPts val="8610"/>
              </a:lnSpc>
            </a:pPr>
            <a:r>
              <a:rPr lang="en-US" b="true" sz="10899" spc="-1286">
                <a:solidFill>
                  <a:srgbClr val="CA0013"/>
                </a:solidFill>
                <a:latin typeface="Inter Bold"/>
                <a:ea typeface="Inter Bold"/>
                <a:cs typeface="Inter Bold"/>
                <a:sym typeface="Inter Bold"/>
              </a:rPr>
              <a:t>OUR SOLUTION</a:t>
            </a:r>
          </a:p>
        </p:txBody>
      </p:sp>
      <p:sp>
        <p:nvSpPr>
          <p:cNvPr name="TextBox 13" id="13"/>
          <p:cNvSpPr txBox="true"/>
          <p:nvPr/>
        </p:nvSpPr>
        <p:spPr>
          <a:xfrm rot="0">
            <a:off x="796021" y="2206356"/>
            <a:ext cx="7228359"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BRIDGING THE GAP BETWEEN CLINIC AND DAILY LIFE</a:t>
            </a:r>
          </a:p>
          <a:p>
            <a:pPr algn="ctr">
              <a:lnSpc>
                <a:spcPts val="3219"/>
              </a:lnSpc>
              <a:spcBef>
                <a:spcPct val="0"/>
              </a:spcBef>
            </a:pPr>
          </a:p>
        </p:txBody>
      </p:sp>
      <p:sp>
        <p:nvSpPr>
          <p:cNvPr name="TextBox 14" id="14"/>
          <p:cNvSpPr txBox="true"/>
          <p:nvPr/>
        </p:nvSpPr>
        <p:spPr>
          <a:xfrm rot="0">
            <a:off x="796021" y="2670581"/>
            <a:ext cx="9353922"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NOT A FITNESS APP. NOT A DIAGNOSTIC TOOL. A SAFETY NET FOR CARDIAC PATIENTS.</a:t>
            </a:r>
          </a:p>
          <a:p>
            <a:pPr algn="ctr">
              <a:lnSpc>
                <a:spcPts val="2520"/>
              </a:lnSpc>
              <a:spcBef>
                <a:spcPct val="0"/>
              </a:spcBef>
            </a:pPr>
          </a:p>
        </p:txBody>
      </p:sp>
      <p:sp>
        <p:nvSpPr>
          <p:cNvPr name="TextBox 15" id="15"/>
          <p:cNvSpPr txBox="true"/>
          <p:nvPr/>
        </p:nvSpPr>
        <p:spPr>
          <a:xfrm rot="0">
            <a:off x="11543222" y="3547575"/>
            <a:ext cx="3596655"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REAL-TIME RISK CLASSIFICATION</a:t>
            </a:r>
          </a:p>
          <a:p>
            <a:pPr algn="ctr">
              <a:lnSpc>
                <a:spcPts val="2520"/>
              </a:lnSpc>
              <a:spcBef>
                <a:spcPct val="0"/>
              </a:spcBef>
            </a:pPr>
          </a:p>
        </p:txBody>
      </p:sp>
      <p:sp>
        <p:nvSpPr>
          <p:cNvPr name="TextBox 16" id="16"/>
          <p:cNvSpPr txBox="true"/>
          <p:nvPr/>
        </p:nvSpPr>
        <p:spPr>
          <a:xfrm rot="0">
            <a:off x="11543222" y="3839039"/>
            <a:ext cx="6484740" cy="800100"/>
          </a:xfrm>
          <a:prstGeom prst="rect">
            <a:avLst/>
          </a:prstGeom>
        </p:spPr>
        <p:txBody>
          <a:bodyPr anchor="t" rtlCol="false" tIns="0" lIns="0" bIns="0" rIns="0">
            <a:spAutoFit/>
          </a:bodyPr>
          <a:lstStyle/>
          <a:p>
            <a:pPr algn="l">
              <a:lnSpc>
                <a:spcPts val="2100"/>
              </a:lnSpc>
              <a:spcBef>
                <a:spcPct val="0"/>
              </a:spcBef>
            </a:pPr>
            <a:r>
              <a:rPr lang="en-US" sz="1500" spc="-45">
                <a:solidFill>
                  <a:srgbClr val="CA0013"/>
                </a:solidFill>
                <a:latin typeface="Inter"/>
                <a:ea typeface="Inter"/>
                <a:cs typeface="Inter"/>
                <a:sym typeface="Inter"/>
              </a:rPr>
              <a:t>CONTINUOUS CARDIOVASCULAR RISK SCORING, COLOUR-CODED FOR INSTANT CLARITY.</a:t>
            </a:r>
          </a:p>
          <a:p>
            <a:pPr algn="l">
              <a:lnSpc>
                <a:spcPts val="2100"/>
              </a:lnSpc>
              <a:spcBef>
                <a:spcPct val="0"/>
              </a:spcBef>
            </a:pPr>
          </a:p>
        </p:txBody>
      </p:sp>
      <p:sp>
        <p:nvSpPr>
          <p:cNvPr name="TextBox 17" id="17"/>
          <p:cNvSpPr txBox="true"/>
          <p:nvPr/>
        </p:nvSpPr>
        <p:spPr>
          <a:xfrm rot="0">
            <a:off x="12601700" y="5015982"/>
            <a:ext cx="4256633"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P</a:t>
            </a:r>
            <a:r>
              <a:rPr lang="en-US" b="true" sz="1800" spc="-54">
                <a:solidFill>
                  <a:srgbClr val="CA0013"/>
                </a:solidFill>
                <a:latin typeface="Inter Bold"/>
                <a:ea typeface="Inter Bold"/>
                <a:cs typeface="Inter Bold"/>
                <a:sym typeface="Inter Bold"/>
              </a:rPr>
              <a:t>ERSONALISED AI EXERCISE GUIDANCE</a:t>
            </a:r>
          </a:p>
          <a:p>
            <a:pPr algn="ctr">
              <a:lnSpc>
                <a:spcPts val="2520"/>
              </a:lnSpc>
              <a:spcBef>
                <a:spcPct val="0"/>
              </a:spcBef>
            </a:pPr>
          </a:p>
        </p:txBody>
      </p:sp>
      <p:sp>
        <p:nvSpPr>
          <p:cNvPr name="TextBox 18" id="18"/>
          <p:cNvSpPr txBox="true"/>
          <p:nvPr/>
        </p:nvSpPr>
        <p:spPr>
          <a:xfrm rot="0">
            <a:off x="12601700" y="5294427"/>
            <a:ext cx="5615643" cy="800100"/>
          </a:xfrm>
          <a:prstGeom prst="rect">
            <a:avLst/>
          </a:prstGeom>
        </p:spPr>
        <p:txBody>
          <a:bodyPr anchor="t" rtlCol="false" tIns="0" lIns="0" bIns="0" rIns="0">
            <a:spAutoFit/>
          </a:bodyPr>
          <a:lstStyle/>
          <a:p>
            <a:pPr algn="l">
              <a:lnSpc>
                <a:spcPts val="2100"/>
              </a:lnSpc>
              <a:spcBef>
                <a:spcPct val="0"/>
              </a:spcBef>
            </a:pPr>
            <a:r>
              <a:rPr lang="en-US" sz="1500" spc="-45">
                <a:solidFill>
                  <a:srgbClr val="CA0013"/>
                </a:solidFill>
                <a:latin typeface="Inter"/>
                <a:ea typeface="Inter"/>
                <a:cs typeface="Inter"/>
                <a:sym typeface="Inter"/>
              </a:rPr>
              <a:t>SAFE, </a:t>
            </a:r>
            <a:r>
              <a:rPr lang="en-US" sz="1500" spc="-45">
                <a:solidFill>
                  <a:srgbClr val="CA0013"/>
                </a:solidFill>
                <a:latin typeface="Inter"/>
                <a:ea typeface="Inter"/>
                <a:cs typeface="Inter"/>
                <a:sym typeface="Inter"/>
              </a:rPr>
              <a:t>TAILORED WORKOUT PLANS GENERATED FROM LIVE CARDIAC DATA.</a:t>
            </a:r>
          </a:p>
          <a:p>
            <a:pPr algn="l">
              <a:lnSpc>
                <a:spcPts val="2100"/>
              </a:lnSpc>
              <a:spcBef>
                <a:spcPct val="0"/>
              </a:spcBef>
            </a:pPr>
          </a:p>
        </p:txBody>
      </p:sp>
      <p:sp>
        <p:nvSpPr>
          <p:cNvPr name="TextBox 19" id="19"/>
          <p:cNvSpPr txBox="true"/>
          <p:nvPr/>
        </p:nvSpPr>
        <p:spPr>
          <a:xfrm rot="0">
            <a:off x="13655711" y="6322017"/>
            <a:ext cx="2822600"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INST</a:t>
            </a:r>
            <a:r>
              <a:rPr lang="en-US" b="true" sz="1800" spc="-54">
                <a:solidFill>
                  <a:srgbClr val="CA0013"/>
                </a:solidFill>
                <a:latin typeface="Inter Bold"/>
                <a:ea typeface="Inter Bold"/>
                <a:cs typeface="Inter Bold"/>
                <a:sym typeface="Inter Bold"/>
              </a:rPr>
              <a:t>ANT DANGER ALERTS</a:t>
            </a:r>
          </a:p>
          <a:p>
            <a:pPr algn="ctr">
              <a:lnSpc>
                <a:spcPts val="2520"/>
              </a:lnSpc>
              <a:spcBef>
                <a:spcPct val="0"/>
              </a:spcBef>
            </a:pPr>
          </a:p>
        </p:txBody>
      </p:sp>
      <p:sp>
        <p:nvSpPr>
          <p:cNvPr name="TextBox 20" id="20"/>
          <p:cNvSpPr txBox="true"/>
          <p:nvPr/>
        </p:nvSpPr>
        <p:spPr>
          <a:xfrm rot="0">
            <a:off x="13655711" y="6613482"/>
            <a:ext cx="4561633" cy="800100"/>
          </a:xfrm>
          <a:prstGeom prst="rect">
            <a:avLst/>
          </a:prstGeom>
        </p:spPr>
        <p:txBody>
          <a:bodyPr anchor="t" rtlCol="false" tIns="0" lIns="0" bIns="0" rIns="0">
            <a:spAutoFit/>
          </a:bodyPr>
          <a:lstStyle/>
          <a:p>
            <a:pPr algn="l">
              <a:lnSpc>
                <a:spcPts val="2100"/>
              </a:lnSpc>
              <a:spcBef>
                <a:spcPct val="0"/>
              </a:spcBef>
            </a:pPr>
            <a:r>
              <a:rPr lang="en-US" sz="1500" spc="-45">
                <a:solidFill>
                  <a:srgbClr val="CA0013"/>
                </a:solidFill>
                <a:latin typeface="Inter"/>
                <a:ea typeface="Inter"/>
                <a:cs typeface="Inter"/>
                <a:sym typeface="Inter"/>
              </a:rPr>
              <a:t>AUT</a:t>
            </a:r>
            <a:r>
              <a:rPr lang="en-US" sz="1500" spc="-45">
                <a:solidFill>
                  <a:srgbClr val="CA0013"/>
                </a:solidFill>
                <a:latin typeface="Inter"/>
                <a:ea typeface="Inter"/>
                <a:cs typeface="Inter"/>
                <a:sym typeface="Inter"/>
              </a:rPr>
              <a:t>OMATIC ALERTS TO CLINICIANS THE MOMENT READINGS BECOME DANGEROUS.</a:t>
            </a:r>
          </a:p>
          <a:p>
            <a:pPr algn="l">
              <a:lnSpc>
                <a:spcPts val="2100"/>
              </a:lnSpc>
              <a:spcBef>
                <a:spcPct val="0"/>
              </a:spcBef>
            </a:pPr>
          </a:p>
        </p:txBody>
      </p:sp>
      <p:sp>
        <p:nvSpPr>
          <p:cNvPr name="TextBox 21" id="21"/>
          <p:cNvSpPr txBox="true"/>
          <p:nvPr/>
        </p:nvSpPr>
        <p:spPr>
          <a:xfrm rot="0">
            <a:off x="14637660" y="7794582"/>
            <a:ext cx="3299892"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WOR</a:t>
            </a:r>
            <a:r>
              <a:rPr lang="en-US" b="true" sz="1800" spc="-54">
                <a:solidFill>
                  <a:srgbClr val="CA0013"/>
                </a:solidFill>
                <a:latin typeface="Inter Bold"/>
                <a:ea typeface="Inter Bold"/>
                <a:cs typeface="Inter Bold"/>
                <a:sym typeface="Inter Bold"/>
              </a:rPr>
              <a:t>KS COMPLETELY OFFLINE</a:t>
            </a:r>
          </a:p>
          <a:p>
            <a:pPr algn="ctr">
              <a:lnSpc>
                <a:spcPts val="2520"/>
              </a:lnSpc>
              <a:spcBef>
                <a:spcPct val="0"/>
              </a:spcBef>
            </a:pPr>
          </a:p>
        </p:txBody>
      </p:sp>
      <p:sp>
        <p:nvSpPr>
          <p:cNvPr name="TextBox 22" id="22"/>
          <p:cNvSpPr txBox="true"/>
          <p:nvPr/>
        </p:nvSpPr>
        <p:spPr>
          <a:xfrm rot="0">
            <a:off x="14637660" y="8099382"/>
            <a:ext cx="3579684" cy="1066800"/>
          </a:xfrm>
          <a:prstGeom prst="rect">
            <a:avLst/>
          </a:prstGeom>
        </p:spPr>
        <p:txBody>
          <a:bodyPr anchor="t" rtlCol="false" tIns="0" lIns="0" bIns="0" rIns="0">
            <a:spAutoFit/>
          </a:bodyPr>
          <a:lstStyle/>
          <a:p>
            <a:pPr algn="l">
              <a:lnSpc>
                <a:spcPts val="2100"/>
              </a:lnSpc>
              <a:spcBef>
                <a:spcPct val="0"/>
              </a:spcBef>
            </a:pPr>
            <a:r>
              <a:rPr lang="en-US" sz="1500" spc="-45">
                <a:solidFill>
                  <a:srgbClr val="CA0013"/>
                </a:solidFill>
                <a:latin typeface="Inter"/>
                <a:ea typeface="Inter"/>
                <a:cs typeface="Inter"/>
                <a:sym typeface="Inter"/>
              </a:rPr>
              <a:t>O</a:t>
            </a:r>
            <a:r>
              <a:rPr lang="en-US" sz="1500" spc="-45">
                <a:solidFill>
                  <a:srgbClr val="CA0013"/>
                </a:solidFill>
                <a:latin typeface="Inter"/>
                <a:ea typeface="Inter"/>
                <a:cs typeface="Inter"/>
                <a:sym typeface="Inter"/>
              </a:rPr>
              <a:t>N-DEVICE EDGE AI ENSURES PROTECTION EVEN WITHOUT INTERNET CONNECTIVITY.</a:t>
            </a:r>
          </a:p>
          <a:p>
            <a:pPr algn="l">
              <a:lnSpc>
                <a:spcPts val="2100"/>
              </a:lnSpc>
              <a:spcBef>
                <a:spcPct val="0"/>
              </a:spcBef>
            </a:pPr>
          </a:p>
        </p:txBody>
      </p:sp>
      <p:sp>
        <p:nvSpPr>
          <p:cNvPr name="Freeform 23" id="23"/>
          <p:cNvSpPr/>
          <p:nvPr/>
        </p:nvSpPr>
        <p:spPr>
          <a:xfrm flipH="false" flipV="false" rot="0">
            <a:off x="16239619" y="-392665"/>
            <a:ext cx="2048381" cy="2164735"/>
          </a:xfrm>
          <a:custGeom>
            <a:avLst/>
            <a:gdLst/>
            <a:ahLst/>
            <a:cxnLst/>
            <a:rect r="r" b="b" t="t" l="l"/>
            <a:pathLst>
              <a:path h="2164735" w="2048381">
                <a:moveTo>
                  <a:pt x="0" y="0"/>
                </a:moveTo>
                <a:lnTo>
                  <a:pt x="2048381" y="0"/>
                </a:lnTo>
                <a:lnTo>
                  <a:pt x="2048381" y="2164736"/>
                </a:lnTo>
                <a:lnTo>
                  <a:pt x="0" y="2164736"/>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grpSp>
        <p:nvGrpSpPr>
          <p:cNvPr name="Group 2" id="2"/>
          <p:cNvGrpSpPr/>
          <p:nvPr/>
        </p:nvGrpSpPr>
        <p:grpSpPr>
          <a:xfrm rot="0">
            <a:off x="422706" y="4388212"/>
            <a:ext cx="7824821" cy="5560460"/>
            <a:chOff x="0" y="0"/>
            <a:chExt cx="2060858" cy="1464483"/>
          </a:xfrm>
        </p:grpSpPr>
        <p:sp>
          <p:nvSpPr>
            <p:cNvPr name="Freeform 3" id="3"/>
            <p:cNvSpPr/>
            <p:nvPr/>
          </p:nvSpPr>
          <p:spPr>
            <a:xfrm flipH="false" flipV="false" rot="0">
              <a:off x="0" y="0"/>
              <a:ext cx="2060858" cy="1464483"/>
            </a:xfrm>
            <a:custGeom>
              <a:avLst/>
              <a:gdLst/>
              <a:ahLst/>
              <a:cxnLst/>
              <a:rect r="r" b="b" t="t" l="l"/>
              <a:pathLst>
                <a:path h="1464483" w="2060858">
                  <a:moveTo>
                    <a:pt x="50460" y="0"/>
                  </a:moveTo>
                  <a:lnTo>
                    <a:pt x="2010398" y="0"/>
                  </a:lnTo>
                  <a:cubicBezTo>
                    <a:pt x="2038266" y="0"/>
                    <a:pt x="2060858" y="22592"/>
                    <a:pt x="2060858" y="50460"/>
                  </a:cubicBezTo>
                  <a:lnTo>
                    <a:pt x="2060858" y="1414024"/>
                  </a:lnTo>
                  <a:cubicBezTo>
                    <a:pt x="2060858" y="1441892"/>
                    <a:pt x="2038266" y="1464483"/>
                    <a:pt x="2010398" y="1464483"/>
                  </a:cubicBezTo>
                  <a:lnTo>
                    <a:pt x="50460" y="1464483"/>
                  </a:lnTo>
                  <a:cubicBezTo>
                    <a:pt x="22592" y="1464483"/>
                    <a:pt x="0" y="1441892"/>
                    <a:pt x="0" y="1414024"/>
                  </a:cubicBezTo>
                  <a:lnTo>
                    <a:pt x="0" y="50460"/>
                  </a:lnTo>
                  <a:cubicBezTo>
                    <a:pt x="0" y="22592"/>
                    <a:pt x="22592" y="0"/>
                    <a:pt x="50460" y="0"/>
                  </a:cubicBezTo>
                  <a:close/>
                </a:path>
              </a:pathLst>
            </a:custGeom>
            <a:solidFill>
              <a:srgbClr val="CBC4B3"/>
            </a:solidFill>
          </p:spPr>
        </p:sp>
        <p:sp>
          <p:nvSpPr>
            <p:cNvPr name="TextBox 4" id="4"/>
            <p:cNvSpPr txBox="true"/>
            <p:nvPr/>
          </p:nvSpPr>
          <p:spPr>
            <a:xfrm>
              <a:off x="0" y="47625"/>
              <a:ext cx="2060858" cy="1416858"/>
            </a:xfrm>
            <a:prstGeom prst="rect">
              <a:avLst/>
            </a:prstGeom>
          </p:spPr>
          <p:txBody>
            <a:bodyPr anchor="ctr" rtlCol="false" tIns="50800" lIns="50800" bIns="50800" rIns="50800"/>
            <a:lstStyle/>
            <a:p>
              <a:pPr algn="ctr">
                <a:lnSpc>
                  <a:spcPts val="1674"/>
                </a:lnSpc>
              </a:pPr>
            </a:p>
          </p:txBody>
        </p:sp>
      </p:grpSp>
      <p:sp>
        <p:nvSpPr>
          <p:cNvPr name="TextBox 5" id="5"/>
          <p:cNvSpPr txBox="true"/>
          <p:nvPr/>
        </p:nvSpPr>
        <p:spPr>
          <a:xfrm rot="0">
            <a:off x="776687" y="4565155"/>
            <a:ext cx="8841848" cy="621030"/>
          </a:xfrm>
          <a:prstGeom prst="rect">
            <a:avLst/>
          </a:prstGeom>
        </p:spPr>
        <p:txBody>
          <a:bodyPr anchor="t" rtlCol="false" tIns="0" lIns="0" bIns="0" rIns="0">
            <a:spAutoFit/>
          </a:bodyPr>
          <a:lstStyle/>
          <a:p>
            <a:pPr algn="l">
              <a:lnSpc>
                <a:spcPts val="2520"/>
              </a:lnSpc>
              <a:spcBef>
                <a:spcPct val="0"/>
              </a:spcBef>
            </a:pPr>
            <a:r>
              <a:rPr lang="en-US" b="true" sz="1800" spc="-54">
                <a:solidFill>
                  <a:srgbClr val="CA0013"/>
                </a:solidFill>
                <a:latin typeface="Inter Bold"/>
                <a:ea typeface="Inter Bold"/>
                <a:cs typeface="Inter Bold"/>
                <a:sym typeface="Inter Bold"/>
              </a:rPr>
              <a:t>STACK OVERVIEW</a:t>
            </a:r>
          </a:p>
          <a:p>
            <a:pPr algn="l">
              <a:lnSpc>
                <a:spcPts val="2520"/>
              </a:lnSpc>
              <a:spcBef>
                <a:spcPct val="0"/>
              </a:spcBef>
            </a:pPr>
          </a:p>
        </p:txBody>
      </p:sp>
      <p:sp>
        <p:nvSpPr>
          <p:cNvPr name="TextBox 6" id="6"/>
          <p:cNvSpPr txBox="true"/>
          <p:nvPr/>
        </p:nvSpPr>
        <p:spPr>
          <a:xfrm rot="0">
            <a:off x="774807" y="4937360"/>
            <a:ext cx="252040" cy="306705"/>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01</a:t>
            </a:r>
          </a:p>
        </p:txBody>
      </p:sp>
      <p:sp>
        <p:nvSpPr>
          <p:cNvPr name="AutoShape 7" id="7"/>
          <p:cNvSpPr/>
          <p:nvPr/>
        </p:nvSpPr>
        <p:spPr>
          <a:xfrm>
            <a:off x="900772" y="5244065"/>
            <a:ext cx="6573160" cy="0"/>
          </a:xfrm>
          <a:prstGeom prst="line">
            <a:avLst/>
          </a:prstGeom>
          <a:ln cap="flat" w="19050">
            <a:solidFill>
              <a:srgbClr val="CA0013"/>
            </a:solidFill>
            <a:prstDash val="solid"/>
            <a:headEnd type="none" len="sm" w="sm"/>
            <a:tailEnd type="none" len="sm" w="sm"/>
          </a:ln>
        </p:spPr>
      </p:sp>
      <p:sp>
        <p:nvSpPr>
          <p:cNvPr name="TextBox 8" id="8"/>
          <p:cNvSpPr txBox="true"/>
          <p:nvPr/>
        </p:nvSpPr>
        <p:spPr>
          <a:xfrm rot="0">
            <a:off x="776715" y="6882692"/>
            <a:ext cx="5846713" cy="533400"/>
          </a:xfrm>
          <a:prstGeom prst="rect">
            <a:avLst/>
          </a:prstGeom>
        </p:spPr>
        <p:txBody>
          <a:bodyPr anchor="t" rtlCol="false" tIns="0" lIns="0" bIns="0" rIns="0">
            <a:spAutoFit/>
          </a:bodyPr>
          <a:lstStyle/>
          <a:p>
            <a:pPr algn="l">
              <a:lnSpc>
                <a:spcPts val="2100"/>
              </a:lnSpc>
              <a:spcBef>
                <a:spcPct val="0"/>
              </a:spcBef>
            </a:pPr>
            <a:r>
              <a:rPr lang="en-US" sz="1500" spc="-44">
                <a:solidFill>
                  <a:srgbClr val="CA0013"/>
                </a:solidFill>
                <a:latin typeface="Inter"/>
                <a:ea typeface="Inter"/>
                <a:cs typeface="Inter"/>
                <a:sym typeface="Inter"/>
              </a:rPr>
              <a:t>ASYNC PRODUCTION-GRADE BACKEND ON EC2, MUMBAI REGION.</a:t>
            </a:r>
          </a:p>
          <a:p>
            <a:pPr algn="l">
              <a:lnSpc>
                <a:spcPts val="2100"/>
              </a:lnSpc>
              <a:spcBef>
                <a:spcPct val="0"/>
              </a:spcBef>
            </a:pPr>
          </a:p>
        </p:txBody>
      </p:sp>
      <p:sp>
        <p:nvSpPr>
          <p:cNvPr name="TextBox 9" id="9"/>
          <p:cNvSpPr txBox="true"/>
          <p:nvPr/>
        </p:nvSpPr>
        <p:spPr>
          <a:xfrm rot="0">
            <a:off x="757067" y="7303369"/>
            <a:ext cx="294382" cy="306705"/>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03</a:t>
            </a:r>
          </a:p>
        </p:txBody>
      </p:sp>
      <p:sp>
        <p:nvSpPr>
          <p:cNvPr name="TextBox 10" id="10"/>
          <p:cNvSpPr txBox="true"/>
          <p:nvPr/>
        </p:nvSpPr>
        <p:spPr>
          <a:xfrm rot="0">
            <a:off x="776715" y="7716754"/>
            <a:ext cx="3609603"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POSTGRESQL RDS (PRIVATE VPC)</a:t>
            </a:r>
          </a:p>
          <a:p>
            <a:pPr algn="ctr">
              <a:lnSpc>
                <a:spcPts val="2520"/>
              </a:lnSpc>
              <a:spcBef>
                <a:spcPct val="0"/>
              </a:spcBef>
            </a:pPr>
          </a:p>
        </p:txBody>
      </p:sp>
      <p:sp>
        <p:nvSpPr>
          <p:cNvPr name="TextBox 11" id="11"/>
          <p:cNvSpPr txBox="true"/>
          <p:nvPr/>
        </p:nvSpPr>
        <p:spPr>
          <a:xfrm rot="0">
            <a:off x="776715" y="8052034"/>
            <a:ext cx="5776540" cy="533400"/>
          </a:xfrm>
          <a:prstGeom prst="rect">
            <a:avLst/>
          </a:prstGeom>
        </p:spPr>
        <p:txBody>
          <a:bodyPr anchor="t" rtlCol="false" tIns="0" lIns="0" bIns="0" rIns="0">
            <a:spAutoFit/>
          </a:bodyPr>
          <a:lstStyle/>
          <a:p>
            <a:pPr algn="ctr">
              <a:lnSpc>
                <a:spcPts val="2100"/>
              </a:lnSpc>
              <a:spcBef>
                <a:spcPct val="0"/>
              </a:spcBef>
            </a:pPr>
            <a:r>
              <a:rPr lang="en-US" sz="1500" spc="-45">
                <a:solidFill>
                  <a:srgbClr val="CA0013"/>
                </a:solidFill>
                <a:latin typeface="Inter"/>
                <a:ea typeface="Inter"/>
                <a:cs typeface="Inter"/>
                <a:sym typeface="Inter"/>
              </a:rPr>
              <a:t>ZERO PUBLIC INTERNET ACCESS — ALL PHI ENCRYPTED AT REST.</a:t>
            </a:r>
          </a:p>
          <a:p>
            <a:pPr algn="ctr">
              <a:lnSpc>
                <a:spcPts val="2100"/>
              </a:lnSpc>
              <a:spcBef>
                <a:spcPct val="0"/>
              </a:spcBef>
            </a:pPr>
          </a:p>
        </p:txBody>
      </p:sp>
      <p:sp>
        <p:nvSpPr>
          <p:cNvPr name="TextBox 12" id="12"/>
          <p:cNvSpPr txBox="true"/>
          <p:nvPr/>
        </p:nvSpPr>
        <p:spPr>
          <a:xfrm rot="0">
            <a:off x="774594" y="8461608"/>
            <a:ext cx="298624" cy="306705"/>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04</a:t>
            </a:r>
          </a:p>
        </p:txBody>
      </p:sp>
      <p:sp>
        <p:nvSpPr>
          <p:cNvPr name="Freeform 13" id="13"/>
          <p:cNvSpPr/>
          <p:nvPr/>
        </p:nvSpPr>
        <p:spPr>
          <a:xfrm flipH="false" flipV="false" rot="0">
            <a:off x="8651214" y="4603255"/>
            <a:ext cx="9333601" cy="5144690"/>
          </a:xfrm>
          <a:custGeom>
            <a:avLst/>
            <a:gdLst/>
            <a:ahLst/>
            <a:cxnLst/>
            <a:rect r="r" b="b" t="t" l="l"/>
            <a:pathLst>
              <a:path h="5144690" w="9333601">
                <a:moveTo>
                  <a:pt x="0" y="0"/>
                </a:moveTo>
                <a:lnTo>
                  <a:pt x="9333601" y="0"/>
                </a:lnTo>
                <a:lnTo>
                  <a:pt x="9333601" y="5144690"/>
                </a:lnTo>
                <a:lnTo>
                  <a:pt x="0" y="5144690"/>
                </a:lnTo>
                <a:lnTo>
                  <a:pt x="0" y="0"/>
                </a:lnTo>
                <a:close/>
              </a:path>
            </a:pathLst>
          </a:custGeom>
          <a:blipFill>
            <a:blip r:embed="rId3"/>
            <a:stretch>
              <a:fillRect l="0" t="0" r="0" b="0"/>
            </a:stretch>
          </a:blipFill>
        </p:spPr>
      </p:sp>
      <p:sp>
        <p:nvSpPr>
          <p:cNvPr name="TextBox 14" id="14"/>
          <p:cNvSpPr txBox="true"/>
          <p:nvPr/>
        </p:nvSpPr>
        <p:spPr>
          <a:xfrm rot="0">
            <a:off x="422706" y="930320"/>
            <a:ext cx="9049172" cy="2329687"/>
          </a:xfrm>
          <a:prstGeom prst="rect">
            <a:avLst/>
          </a:prstGeom>
        </p:spPr>
        <p:txBody>
          <a:bodyPr anchor="t" rtlCol="false" tIns="0" lIns="0" bIns="0" rIns="0">
            <a:spAutoFit/>
          </a:bodyPr>
          <a:lstStyle/>
          <a:p>
            <a:pPr algn="l" marL="0" indent="0" lvl="0">
              <a:lnSpc>
                <a:spcPts val="8610"/>
              </a:lnSpc>
            </a:pPr>
            <a:r>
              <a:rPr lang="en-US" b="true" sz="10899" spc="-1286">
                <a:solidFill>
                  <a:srgbClr val="CA0013"/>
                </a:solidFill>
                <a:latin typeface="Inter Bold"/>
                <a:ea typeface="Inter Bold"/>
                <a:cs typeface="Inter Bold"/>
                <a:sym typeface="Inter Bold"/>
              </a:rPr>
              <a:t>SYSTEM ARCHITECTURE</a:t>
            </a:r>
          </a:p>
        </p:txBody>
      </p:sp>
      <p:sp>
        <p:nvSpPr>
          <p:cNvPr name="TextBox 15" id="15"/>
          <p:cNvSpPr txBox="true"/>
          <p:nvPr/>
        </p:nvSpPr>
        <p:spPr>
          <a:xfrm rot="0">
            <a:off x="422706" y="3305950"/>
            <a:ext cx="5776987" cy="405765"/>
          </a:xfrm>
          <a:prstGeom prst="rect">
            <a:avLst/>
          </a:prstGeom>
        </p:spPr>
        <p:txBody>
          <a:bodyPr anchor="t" rtlCol="false" tIns="0" lIns="0" bIns="0" rIns="0">
            <a:spAutoFit/>
          </a:bodyPr>
          <a:lstStyle/>
          <a:p>
            <a:pPr algn="ctr">
              <a:lnSpc>
                <a:spcPts val="3359"/>
              </a:lnSpc>
              <a:spcBef>
                <a:spcPct val="0"/>
              </a:spcBef>
            </a:pPr>
            <a:r>
              <a:rPr lang="en-US" b="true" sz="2399" spc="-71">
                <a:solidFill>
                  <a:srgbClr val="CA0013"/>
                </a:solidFill>
                <a:latin typeface="Inter Bold"/>
                <a:ea typeface="Inter Bold"/>
                <a:cs typeface="Inter Bold"/>
                <a:sym typeface="Inter Bold"/>
              </a:rPr>
              <a:t>FOUR LAYERS. ONE SEAMLESS SYSTEM.</a:t>
            </a:r>
          </a:p>
        </p:txBody>
      </p:sp>
      <p:sp>
        <p:nvSpPr>
          <p:cNvPr name="TextBox 16" id="16"/>
          <p:cNvSpPr txBox="true"/>
          <p:nvPr/>
        </p:nvSpPr>
        <p:spPr>
          <a:xfrm rot="0">
            <a:off x="422706" y="3767182"/>
            <a:ext cx="12567568"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FULLY DEPLOYED AT </a:t>
            </a:r>
            <a:r>
              <a:rPr lang="en-US" b="true" sz="1800" spc="-54" u="sng">
                <a:solidFill>
                  <a:srgbClr val="CA0013"/>
                </a:solidFill>
                <a:latin typeface="Inter Bold"/>
                <a:ea typeface="Inter Bold"/>
                <a:cs typeface="Inter Bold"/>
                <a:sym typeface="Inter Bold"/>
                <a:hlinkClick r:id="rId4" tooltip="http://api.back-adaptivehealthuowd.xyz"/>
              </a:rPr>
              <a:t>API.BACK-ADAPTIVEHEALTHUOWD.XYZ</a:t>
            </a:r>
            <a:r>
              <a:rPr lang="en-US" b="true" sz="1800" spc="-54">
                <a:solidFill>
                  <a:srgbClr val="CA0013"/>
                </a:solidFill>
                <a:latin typeface="Inter Bold"/>
                <a:ea typeface="Inter Bold"/>
                <a:cs typeface="Inter Bold"/>
                <a:sym typeface="Inter Bold"/>
              </a:rPr>
              <a:t> — AWS EC2 MUMBAI, PRIVATE VPC, POSTGRESQL RDS.</a:t>
            </a:r>
          </a:p>
          <a:p>
            <a:pPr algn="ctr">
              <a:lnSpc>
                <a:spcPts val="2520"/>
              </a:lnSpc>
              <a:spcBef>
                <a:spcPct val="0"/>
              </a:spcBef>
            </a:pPr>
          </a:p>
        </p:txBody>
      </p:sp>
      <p:sp>
        <p:nvSpPr>
          <p:cNvPr name="TextBox 17" id="17"/>
          <p:cNvSpPr txBox="true"/>
          <p:nvPr/>
        </p:nvSpPr>
        <p:spPr>
          <a:xfrm rot="0">
            <a:off x="776715" y="5333600"/>
            <a:ext cx="8841848" cy="306705"/>
          </a:xfrm>
          <a:prstGeom prst="rect">
            <a:avLst/>
          </a:prstGeom>
        </p:spPr>
        <p:txBody>
          <a:bodyPr anchor="t" rtlCol="false" tIns="0" lIns="0" bIns="0" rIns="0">
            <a:spAutoFit/>
          </a:bodyPr>
          <a:lstStyle/>
          <a:p>
            <a:pPr algn="l">
              <a:lnSpc>
                <a:spcPts val="2520"/>
              </a:lnSpc>
              <a:spcBef>
                <a:spcPct val="0"/>
              </a:spcBef>
            </a:pPr>
            <a:r>
              <a:rPr lang="en-US" b="true" sz="1800" spc="-54">
                <a:solidFill>
                  <a:srgbClr val="CA0013"/>
                </a:solidFill>
                <a:latin typeface="Inter Bold"/>
                <a:ea typeface="Inter Bold"/>
                <a:cs typeface="Inter Bold"/>
                <a:sym typeface="Inter Bold"/>
              </a:rPr>
              <a:t>FLUTTER APP (EDGE AI)</a:t>
            </a:r>
          </a:p>
        </p:txBody>
      </p:sp>
      <p:sp>
        <p:nvSpPr>
          <p:cNvPr name="TextBox 18" id="18"/>
          <p:cNvSpPr txBox="true"/>
          <p:nvPr/>
        </p:nvSpPr>
        <p:spPr>
          <a:xfrm rot="0">
            <a:off x="815428" y="5649829"/>
            <a:ext cx="5253633" cy="533400"/>
          </a:xfrm>
          <a:prstGeom prst="rect">
            <a:avLst/>
          </a:prstGeom>
        </p:spPr>
        <p:txBody>
          <a:bodyPr anchor="t" rtlCol="false" tIns="0" lIns="0" bIns="0" rIns="0">
            <a:spAutoFit/>
          </a:bodyPr>
          <a:lstStyle/>
          <a:p>
            <a:pPr algn="ctr">
              <a:lnSpc>
                <a:spcPts val="2100"/>
              </a:lnSpc>
              <a:spcBef>
                <a:spcPct val="0"/>
              </a:spcBef>
            </a:pPr>
            <a:r>
              <a:rPr lang="en-US" sz="1500" spc="-45">
                <a:solidFill>
                  <a:srgbClr val="CA0013"/>
                </a:solidFill>
                <a:latin typeface="Inter"/>
                <a:ea typeface="Inter"/>
                <a:cs typeface="Inter"/>
                <a:sym typeface="Inter"/>
              </a:rPr>
              <a:t>PATIENT-FACING MOBILE APP WITH ON-DEVICE INFERENCE.</a:t>
            </a:r>
          </a:p>
          <a:p>
            <a:pPr algn="ctr">
              <a:lnSpc>
                <a:spcPts val="2100"/>
              </a:lnSpc>
              <a:spcBef>
                <a:spcPct val="0"/>
              </a:spcBef>
            </a:pPr>
          </a:p>
        </p:txBody>
      </p:sp>
      <p:sp>
        <p:nvSpPr>
          <p:cNvPr name="TextBox 19" id="19"/>
          <p:cNvSpPr txBox="true"/>
          <p:nvPr/>
        </p:nvSpPr>
        <p:spPr>
          <a:xfrm rot="0">
            <a:off x="757067" y="6067024"/>
            <a:ext cx="287685" cy="306705"/>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02</a:t>
            </a:r>
          </a:p>
        </p:txBody>
      </p:sp>
      <p:sp>
        <p:nvSpPr>
          <p:cNvPr name="TextBox 20" id="20"/>
          <p:cNvSpPr txBox="true"/>
          <p:nvPr/>
        </p:nvSpPr>
        <p:spPr>
          <a:xfrm rot="0">
            <a:off x="776715" y="6501364"/>
            <a:ext cx="3214911"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AWS API GATEWAY + FASTAPI</a:t>
            </a:r>
          </a:p>
          <a:p>
            <a:pPr algn="ctr">
              <a:lnSpc>
                <a:spcPts val="2520"/>
              </a:lnSpc>
              <a:spcBef>
                <a:spcPct val="0"/>
              </a:spcBef>
            </a:pPr>
          </a:p>
        </p:txBody>
      </p:sp>
      <p:sp>
        <p:nvSpPr>
          <p:cNvPr name="TextBox 21" id="21"/>
          <p:cNvSpPr txBox="true"/>
          <p:nvPr/>
        </p:nvSpPr>
        <p:spPr>
          <a:xfrm rot="0">
            <a:off x="765608" y="8812128"/>
            <a:ext cx="7885607" cy="621030"/>
          </a:xfrm>
          <a:prstGeom prst="rect">
            <a:avLst/>
          </a:prstGeom>
        </p:spPr>
        <p:txBody>
          <a:bodyPr anchor="t" rtlCol="false" tIns="0" lIns="0" bIns="0" rIns="0">
            <a:spAutoFit/>
          </a:bodyPr>
          <a:lstStyle/>
          <a:p>
            <a:pPr algn="l">
              <a:lnSpc>
                <a:spcPts val="2520"/>
              </a:lnSpc>
              <a:spcBef>
                <a:spcPct val="0"/>
              </a:spcBef>
            </a:pPr>
            <a:r>
              <a:rPr lang="en-US" b="true" sz="1800" spc="-54">
                <a:solidFill>
                  <a:srgbClr val="CA0013"/>
                </a:solidFill>
                <a:latin typeface="Inter Bold"/>
                <a:ea typeface="Inter Bold"/>
                <a:cs typeface="Inter Bold"/>
                <a:sym typeface="Inter Bold"/>
              </a:rPr>
              <a:t>REACT CLINICIAN DASHBOARD</a:t>
            </a:r>
          </a:p>
          <a:p>
            <a:pPr algn="l">
              <a:lnSpc>
                <a:spcPts val="2520"/>
              </a:lnSpc>
              <a:spcBef>
                <a:spcPct val="0"/>
              </a:spcBef>
            </a:pPr>
          </a:p>
        </p:txBody>
      </p:sp>
      <p:sp>
        <p:nvSpPr>
          <p:cNvPr name="TextBox 22" id="22"/>
          <p:cNvSpPr txBox="true"/>
          <p:nvPr/>
        </p:nvSpPr>
        <p:spPr>
          <a:xfrm rot="0">
            <a:off x="765608" y="9202653"/>
            <a:ext cx="5353273" cy="533400"/>
          </a:xfrm>
          <a:prstGeom prst="rect">
            <a:avLst/>
          </a:prstGeom>
        </p:spPr>
        <p:txBody>
          <a:bodyPr anchor="t" rtlCol="false" tIns="0" lIns="0" bIns="0" rIns="0">
            <a:spAutoFit/>
          </a:bodyPr>
          <a:lstStyle/>
          <a:p>
            <a:pPr algn="ctr">
              <a:lnSpc>
                <a:spcPts val="2100"/>
              </a:lnSpc>
              <a:spcBef>
                <a:spcPct val="0"/>
              </a:spcBef>
            </a:pPr>
            <a:r>
              <a:rPr lang="en-US" sz="1500" spc="-45">
                <a:solidFill>
                  <a:srgbClr val="CA0013"/>
                </a:solidFill>
                <a:latin typeface="Inter"/>
                <a:ea typeface="Inter"/>
                <a:cs typeface="Inter"/>
                <a:sym typeface="Inter"/>
              </a:rPr>
              <a:t>REAL-TIME OVERSIGHT FOR DOCTORS FROM ANY BROWSER.</a:t>
            </a:r>
          </a:p>
          <a:p>
            <a:pPr algn="ctr">
              <a:lnSpc>
                <a:spcPts val="2100"/>
              </a:lnSpc>
              <a:spcBef>
                <a:spcPct val="0"/>
              </a:spcBef>
            </a:pPr>
          </a:p>
        </p:txBody>
      </p:sp>
      <p:sp>
        <p:nvSpPr>
          <p:cNvPr name="AutoShape 23" id="23"/>
          <p:cNvSpPr/>
          <p:nvPr/>
        </p:nvSpPr>
        <p:spPr>
          <a:xfrm>
            <a:off x="900772" y="6415639"/>
            <a:ext cx="6573160" cy="0"/>
          </a:xfrm>
          <a:prstGeom prst="line">
            <a:avLst/>
          </a:prstGeom>
          <a:ln cap="flat" w="19050">
            <a:solidFill>
              <a:srgbClr val="CA0013"/>
            </a:solidFill>
            <a:prstDash val="solid"/>
            <a:headEnd type="none" len="sm" w="sm"/>
            <a:tailEnd type="none" len="sm" w="sm"/>
          </a:ln>
        </p:spPr>
      </p:sp>
      <p:sp>
        <p:nvSpPr>
          <p:cNvPr name="AutoShape 24" id="24"/>
          <p:cNvSpPr/>
          <p:nvPr/>
        </p:nvSpPr>
        <p:spPr>
          <a:xfrm>
            <a:off x="904258" y="7600549"/>
            <a:ext cx="6573160" cy="0"/>
          </a:xfrm>
          <a:prstGeom prst="line">
            <a:avLst/>
          </a:prstGeom>
          <a:ln cap="flat" w="19050">
            <a:solidFill>
              <a:srgbClr val="CA0013"/>
            </a:solidFill>
            <a:prstDash val="solid"/>
            <a:headEnd type="none" len="sm" w="sm"/>
            <a:tailEnd type="none" len="sm" w="sm"/>
          </a:ln>
        </p:spPr>
      </p:sp>
      <p:sp>
        <p:nvSpPr>
          <p:cNvPr name="AutoShape 25" id="25"/>
          <p:cNvSpPr/>
          <p:nvPr/>
        </p:nvSpPr>
        <p:spPr>
          <a:xfrm>
            <a:off x="900772" y="8777838"/>
            <a:ext cx="6573160" cy="0"/>
          </a:xfrm>
          <a:prstGeom prst="line">
            <a:avLst/>
          </a:prstGeom>
          <a:ln cap="flat" w="19050">
            <a:solidFill>
              <a:srgbClr val="CA0013"/>
            </a:solidFill>
            <a:prstDash val="solid"/>
            <a:headEnd type="none" len="sm" w="sm"/>
            <a:tailEnd type="none" len="sm" w="sm"/>
          </a:ln>
        </p:spPr>
      </p:sp>
      <p:sp>
        <p:nvSpPr>
          <p:cNvPr name="Freeform 26" id="26"/>
          <p:cNvSpPr/>
          <p:nvPr/>
        </p:nvSpPr>
        <p:spPr>
          <a:xfrm flipH="false" flipV="false" rot="0">
            <a:off x="16239619" y="-392665"/>
            <a:ext cx="2048381" cy="2164735"/>
          </a:xfrm>
          <a:custGeom>
            <a:avLst/>
            <a:gdLst/>
            <a:ahLst/>
            <a:cxnLst/>
            <a:rect r="r" b="b" t="t" l="l"/>
            <a:pathLst>
              <a:path h="2164735" w="2048381">
                <a:moveTo>
                  <a:pt x="0" y="0"/>
                </a:moveTo>
                <a:lnTo>
                  <a:pt x="2048381" y="0"/>
                </a:lnTo>
                <a:lnTo>
                  <a:pt x="2048381" y="2164736"/>
                </a:lnTo>
                <a:lnTo>
                  <a:pt x="0" y="2164736"/>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346727" y="569094"/>
            <a:ext cx="4554414" cy="9169962"/>
            <a:chOff x="0" y="0"/>
            <a:chExt cx="9461500" cy="19050000"/>
          </a:xfrm>
        </p:grpSpPr>
        <p:sp>
          <p:nvSpPr>
            <p:cNvPr name="Freeform 3" id="3"/>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2"/>
              <a:stretch>
                <a:fillRect l="0" t="-897" r="0" b="-897"/>
              </a:stretch>
            </a:blipFill>
          </p:spPr>
        </p:sp>
        <p:sp>
          <p:nvSpPr>
            <p:cNvPr name="Freeform 4" id="4"/>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3"/>
              <a:stretch>
                <a:fillRect l="-83" t="0" r="-83" b="0"/>
              </a:stretch>
            </a:blipFill>
          </p:spPr>
        </p:sp>
      </p:grpSp>
      <p:grpSp>
        <p:nvGrpSpPr>
          <p:cNvPr name="Group 5" id="5"/>
          <p:cNvGrpSpPr>
            <a:grpSpLocks noChangeAspect="true"/>
          </p:cNvGrpSpPr>
          <p:nvPr/>
        </p:nvGrpSpPr>
        <p:grpSpPr>
          <a:xfrm rot="0">
            <a:off x="13103487" y="569094"/>
            <a:ext cx="4554414" cy="9169962"/>
            <a:chOff x="0" y="0"/>
            <a:chExt cx="9461500" cy="19050000"/>
          </a:xfrm>
        </p:grpSpPr>
        <p:sp>
          <p:nvSpPr>
            <p:cNvPr name="Freeform 6" id="6"/>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4"/>
              <a:stretch>
                <a:fillRect l="0" t="-1036" r="0" b="-1036"/>
              </a:stretch>
            </a:blipFill>
          </p:spPr>
        </p:sp>
        <p:sp>
          <p:nvSpPr>
            <p:cNvPr name="Freeform 7" id="7"/>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3"/>
              <a:stretch>
                <a:fillRect l="-83" t="0" r="-83" b="0"/>
              </a:stretch>
            </a:blipFill>
          </p:spPr>
        </p:sp>
      </p:grpSp>
      <p:sp>
        <p:nvSpPr>
          <p:cNvPr name="TextBox 8" id="8"/>
          <p:cNvSpPr txBox="true"/>
          <p:nvPr/>
        </p:nvSpPr>
        <p:spPr>
          <a:xfrm rot="0">
            <a:off x="588530" y="968094"/>
            <a:ext cx="7107575" cy="2329687"/>
          </a:xfrm>
          <a:prstGeom prst="rect">
            <a:avLst/>
          </a:prstGeom>
        </p:spPr>
        <p:txBody>
          <a:bodyPr anchor="t" rtlCol="false" tIns="0" lIns="0" bIns="0" rIns="0">
            <a:spAutoFit/>
          </a:bodyPr>
          <a:lstStyle/>
          <a:p>
            <a:pPr algn="l" marL="0" indent="0" lvl="0">
              <a:lnSpc>
                <a:spcPts val="8610"/>
              </a:lnSpc>
            </a:pPr>
            <a:r>
              <a:rPr lang="en-US" b="true" sz="10899" spc="-1286">
                <a:solidFill>
                  <a:srgbClr val="CA0013"/>
                </a:solidFill>
                <a:latin typeface="Inter Bold"/>
                <a:ea typeface="Inter Bold"/>
                <a:cs typeface="Inter Bold"/>
                <a:sym typeface="Inter Bold"/>
              </a:rPr>
              <a:t>PATIENT APP</a:t>
            </a:r>
          </a:p>
        </p:txBody>
      </p:sp>
      <p:sp>
        <p:nvSpPr>
          <p:cNvPr name="TextBox 9" id="9"/>
          <p:cNvSpPr txBox="true"/>
          <p:nvPr/>
        </p:nvSpPr>
        <p:spPr>
          <a:xfrm rot="0">
            <a:off x="588530" y="3250156"/>
            <a:ext cx="5226844" cy="824865"/>
          </a:xfrm>
          <a:prstGeom prst="rect">
            <a:avLst/>
          </a:prstGeom>
        </p:spPr>
        <p:txBody>
          <a:bodyPr anchor="t" rtlCol="false" tIns="0" lIns="0" bIns="0" rIns="0">
            <a:spAutoFit/>
          </a:bodyPr>
          <a:lstStyle/>
          <a:p>
            <a:pPr algn="ctr">
              <a:lnSpc>
                <a:spcPts val="3359"/>
              </a:lnSpc>
              <a:spcBef>
                <a:spcPct val="0"/>
              </a:spcBef>
            </a:pPr>
            <a:r>
              <a:rPr lang="en-US" b="true" sz="2399" spc="-71">
                <a:solidFill>
                  <a:srgbClr val="CA0013"/>
                </a:solidFill>
                <a:latin typeface="Inter Bold"/>
                <a:ea typeface="Inter Bold"/>
                <a:cs typeface="Inter Bold"/>
                <a:sym typeface="Inter Bold"/>
              </a:rPr>
              <a:t>THE PATIENT'S SAFETY COMPANION</a:t>
            </a:r>
          </a:p>
          <a:p>
            <a:pPr algn="ctr">
              <a:lnSpc>
                <a:spcPts val="3359"/>
              </a:lnSpc>
              <a:spcBef>
                <a:spcPct val="0"/>
              </a:spcBef>
            </a:pPr>
          </a:p>
        </p:txBody>
      </p:sp>
      <p:sp>
        <p:nvSpPr>
          <p:cNvPr name="TextBox 10" id="10"/>
          <p:cNvSpPr txBox="true"/>
          <p:nvPr/>
        </p:nvSpPr>
        <p:spPr>
          <a:xfrm rot="0">
            <a:off x="588530" y="3496854"/>
            <a:ext cx="7204496" cy="1108710"/>
          </a:xfrm>
          <a:prstGeom prst="rect">
            <a:avLst/>
          </a:prstGeom>
        </p:spPr>
        <p:txBody>
          <a:bodyPr anchor="t" rtlCol="false" tIns="0" lIns="0" bIns="0" rIns="0">
            <a:spAutoFit/>
          </a:bodyPr>
          <a:lstStyle/>
          <a:p>
            <a:pPr algn="ctr">
              <a:lnSpc>
                <a:spcPts val="2940"/>
              </a:lnSpc>
              <a:spcBef>
                <a:spcPct val="0"/>
              </a:spcBef>
            </a:pPr>
          </a:p>
          <a:p>
            <a:pPr algn="l">
              <a:lnSpc>
                <a:spcPts val="2940"/>
              </a:lnSpc>
              <a:spcBef>
                <a:spcPct val="0"/>
              </a:spcBef>
            </a:pPr>
            <a:r>
              <a:rPr lang="en-US" b="true" sz="2100" spc="-63">
                <a:solidFill>
                  <a:srgbClr val="CA0013"/>
                </a:solidFill>
                <a:latin typeface="Inter Bold"/>
                <a:ea typeface="Inter Bold"/>
                <a:cs typeface="Inter Bold"/>
                <a:sym typeface="Inter Bold"/>
              </a:rPr>
              <a:t>→ </a:t>
            </a:r>
            <a:r>
              <a:rPr lang="en-US" b="true" sz="2100" spc="-63">
                <a:solidFill>
                  <a:srgbClr val="CA0013"/>
                </a:solidFill>
                <a:latin typeface="Inter Bold"/>
                <a:ea typeface="Inter Bold"/>
                <a:cs typeface="Inter Bold"/>
                <a:sym typeface="Inter Bold"/>
              </a:rPr>
              <a:t>LIVE VITALS DISPLAY</a:t>
            </a:r>
          </a:p>
          <a:p>
            <a:pPr algn="l">
              <a:lnSpc>
                <a:spcPts val="2940"/>
              </a:lnSpc>
              <a:spcBef>
                <a:spcPct val="0"/>
              </a:spcBef>
            </a:pPr>
          </a:p>
        </p:txBody>
      </p:sp>
      <p:sp>
        <p:nvSpPr>
          <p:cNvPr name="TextBox 11" id="11"/>
          <p:cNvSpPr txBox="true"/>
          <p:nvPr/>
        </p:nvSpPr>
        <p:spPr>
          <a:xfrm rot="0">
            <a:off x="588530" y="4218720"/>
            <a:ext cx="7558172" cy="935355"/>
          </a:xfrm>
          <a:prstGeom prst="rect">
            <a:avLst/>
          </a:prstGeom>
        </p:spPr>
        <p:txBody>
          <a:bodyPr anchor="t" rtlCol="false" tIns="0" lIns="0" bIns="0" rIns="0">
            <a:spAutoFit/>
          </a:bodyPr>
          <a:lstStyle/>
          <a:p>
            <a:pPr algn="l">
              <a:lnSpc>
                <a:spcPts val="2520"/>
              </a:lnSpc>
              <a:spcBef>
                <a:spcPct val="0"/>
              </a:spcBef>
            </a:pPr>
            <a:r>
              <a:rPr lang="en-US" sz="1800" spc="-54">
                <a:solidFill>
                  <a:srgbClr val="CA0013"/>
                </a:solidFill>
                <a:latin typeface="Inter"/>
                <a:ea typeface="Inter"/>
                <a:cs typeface="Inter"/>
                <a:sym typeface="Inter"/>
              </a:rPr>
              <a:t>REAL-TIME HR, SPO2, AND BLOOD PRESSURE WITH COLOUR-CODED SAFETY ZONES (GREEN / AMBER / RED).</a:t>
            </a:r>
          </a:p>
          <a:p>
            <a:pPr algn="l">
              <a:lnSpc>
                <a:spcPts val="2520"/>
              </a:lnSpc>
              <a:spcBef>
                <a:spcPct val="0"/>
              </a:spcBef>
            </a:pPr>
          </a:p>
        </p:txBody>
      </p:sp>
      <p:sp>
        <p:nvSpPr>
          <p:cNvPr name="TextBox 12" id="12"/>
          <p:cNvSpPr txBox="true"/>
          <p:nvPr/>
        </p:nvSpPr>
        <p:spPr>
          <a:xfrm rot="0">
            <a:off x="588530" y="4944654"/>
            <a:ext cx="7204496" cy="1108710"/>
          </a:xfrm>
          <a:prstGeom prst="rect">
            <a:avLst/>
          </a:prstGeom>
        </p:spPr>
        <p:txBody>
          <a:bodyPr anchor="t" rtlCol="false" tIns="0" lIns="0" bIns="0" rIns="0">
            <a:spAutoFit/>
          </a:bodyPr>
          <a:lstStyle/>
          <a:p>
            <a:pPr algn="ctr">
              <a:lnSpc>
                <a:spcPts val="2940"/>
              </a:lnSpc>
              <a:spcBef>
                <a:spcPct val="0"/>
              </a:spcBef>
            </a:pPr>
          </a:p>
          <a:p>
            <a:pPr algn="l">
              <a:lnSpc>
                <a:spcPts val="2940"/>
              </a:lnSpc>
              <a:spcBef>
                <a:spcPct val="0"/>
              </a:spcBef>
            </a:pPr>
            <a:r>
              <a:rPr lang="en-US" b="true" sz="2100" spc="-63">
                <a:solidFill>
                  <a:srgbClr val="CA0013"/>
                </a:solidFill>
                <a:latin typeface="Inter Bold"/>
                <a:ea typeface="Inter Bold"/>
                <a:cs typeface="Inter Bold"/>
                <a:sym typeface="Inter Bold"/>
              </a:rPr>
              <a:t>→ ON-DEV</a:t>
            </a:r>
            <a:r>
              <a:rPr lang="en-US" b="true" sz="2100" spc="-63">
                <a:solidFill>
                  <a:srgbClr val="CA0013"/>
                </a:solidFill>
                <a:latin typeface="Inter Bold"/>
                <a:ea typeface="Inter Bold"/>
                <a:cs typeface="Inter Bold"/>
                <a:sym typeface="Inter Bold"/>
              </a:rPr>
              <a:t>ICE EDGE AI</a:t>
            </a:r>
          </a:p>
          <a:p>
            <a:pPr algn="l">
              <a:lnSpc>
                <a:spcPts val="2940"/>
              </a:lnSpc>
              <a:spcBef>
                <a:spcPct val="0"/>
              </a:spcBef>
            </a:pPr>
          </a:p>
        </p:txBody>
      </p:sp>
      <p:sp>
        <p:nvSpPr>
          <p:cNvPr name="TextBox 13" id="13"/>
          <p:cNvSpPr txBox="true"/>
          <p:nvPr/>
        </p:nvSpPr>
        <p:spPr>
          <a:xfrm rot="0">
            <a:off x="588530" y="5666521"/>
            <a:ext cx="7558172" cy="935355"/>
          </a:xfrm>
          <a:prstGeom prst="rect">
            <a:avLst/>
          </a:prstGeom>
        </p:spPr>
        <p:txBody>
          <a:bodyPr anchor="t" rtlCol="false" tIns="0" lIns="0" bIns="0" rIns="0">
            <a:spAutoFit/>
          </a:bodyPr>
          <a:lstStyle/>
          <a:p>
            <a:pPr algn="l">
              <a:lnSpc>
                <a:spcPts val="2520"/>
              </a:lnSpc>
              <a:spcBef>
                <a:spcPct val="0"/>
              </a:spcBef>
            </a:pPr>
            <a:r>
              <a:rPr lang="en-US" sz="1800" spc="-54">
                <a:solidFill>
                  <a:srgbClr val="CA0013"/>
                </a:solidFill>
                <a:latin typeface="Inter"/>
                <a:ea typeface="Inter"/>
                <a:cs typeface="Inter"/>
                <a:sym typeface="Inter"/>
              </a:rPr>
              <a:t>PUR</a:t>
            </a:r>
            <a:r>
              <a:rPr lang="en-US" sz="1800" spc="-54">
                <a:solidFill>
                  <a:srgbClr val="CA0013"/>
                </a:solidFill>
                <a:latin typeface="Inter"/>
                <a:ea typeface="Inter"/>
                <a:cs typeface="Inter"/>
                <a:sym typeface="Inter"/>
              </a:rPr>
              <a:t>E-DART RANDOM FOREST MODEL — WORKS COMPLETELY OFFLINE, &lt;160MS INFERENCE.</a:t>
            </a:r>
          </a:p>
          <a:p>
            <a:pPr algn="l">
              <a:lnSpc>
                <a:spcPts val="2520"/>
              </a:lnSpc>
              <a:spcBef>
                <a:spcPct val="0"/>
              </a:spcBef>
            </a:pPr>
          </a:p>
        </p:txBody>
      </p:sp>
      <p:sp>
        <p:nvSpPr>
          <p:cNvPr name="TextBox 14" id="14"/>
          <p:cNvSpPr txBox="true"/>
          <p:nvPr/>
        </p:nvSpPr>
        <p:spPr>
          <a:xfrm rot="0">
            <a:off x="588530" y="6396264"/>
            <a:ext cx="7204496" cy="1108710"/>
          </a:xfrm>
          <a:prstGeom prst="rect">
            <a:avLst/>
          </a:prstGeom>
        </p:spPr>
        <p:txBody>
          <a:bodyPr anchor="t" rtlCol="false" tIns="0" lIns="0" bIns="0" rIns="0">
            <a:spAutoFit/>
          </a:bodyPr>
          <a:lstStyle/>
          <a:p>
            <a:pPr algn="ctr">
              <a:lnSpc>
                <a:spcPts val="2940"/>
              </a:lnSpc>
              <a:spcBef>
                <a:spcPct val="0"/>
              </a:spcBef>
            </a:pPr>
          </a:p>
          <a:p>
            <a:pPr algn="l">
              <a:lnSpc>
                <a:spcPts val="2940"/>
              </a:lnSpc>
              <a:spcBef>
                <a:spcPct val="0"/>
              </a:spcBef>
            </a:pPr>
            <a:r>
              <a:rPr lang="en-US" b="true" sz="2100" spc="-63">
                <a:solidFill>
                  <a:srgbClr val="CA0013"/>
                </a:solidFill>
                <a:latin typeface="Inter Bold"/>
                <a:ea typeface="Inter Bold"/>
                <a:cs typeface="Inter Bold"/>
                <a:sym typeface="Inter Bold"/>
              </a:rPr>
              <a:t>→ BLE W</a:t>
            </a:r>
            <a:r>
              <a:rPr lang="en-US" b="true" sz="2100" spc="-63">
                <a:solidFill>
                  <a:srgbClr val="CA0013"/>
                </a:solidFill>
                <a:latin typeface="Inter Bold"/>
                <a:ea typeface="Inter Bold"/>
                <a:cs typeface="Inter Bold"/>
                <a:sym typeface="Inter Bold"/>
              </a:rPr>
              <a:t>EARABLE + GEMINI COACH</a:t>
            </a:r>
          </a:p>
          <a:p>
            <a:pPr algn="l">
              <a:lnSpc>
                <a:spcPts val="2940"/>
              </a:lnSpc>
              <a:spcBef>
                <a:spcPct val="0"/>
              </a:spcBef>
            </a:pPr>
          </a:p>
        </p:txBody>
      </p:sp>
      <p:sp>
        <p:nvSpPr>
          <p:cNvPr name="TextBox 15" id="15"/>
          <p:cNvSpPr txBox="true"/>
          <p:nvPr/>
        </p:nvSpPr>
        <p:spPr>
          <a:xfrm rot="0">
            <a:off x="588530" y="7118131"/>
            <a:ext cx="7558172" cy="935355"/>
          </a:xfrm>
          <a:prstGeom prst="rect">
            <a:avLst/>
          </a:prstGeom>
        </p:spPr>
        <p:txBody>
          <a:bodyPr anchor="t" rtlCol="false" tIns="0" lIns="0" bIns="0" rIns="0">
            <a:spAutoFit/>
          </a:bodyPr>
          <a:lstStyle/>
          <a:p>
            <a:pPr algn="l">
              <a:lnSpc>
                <a:spcPts val="2520"/>
              </a:lnSpc>
              <a:spcBef>
                <a:spcPct val="0"/>
              </a:spcBef>
            </a:pPr>
            <a:r>
              <a:rPr lang="en-US" sz="1800" spc="-54">
                <a:solidFill>
                  <a:srgbClr val="CA0013"/>
                </a:solidFill>
                <a:latin typeface="Inter"/>
                <a:ea typeface="Inter"/>
                <a:cs typeface="Inter"/>
                <a:sym typeface="Inter"/>
              </a:rPr>
              <a:t>BLUETOOTH W</a:t>
            </a:r>
            <a:r>
              <a:rPr lang="en-US" sz="1800" spc="-54">
                <a:solidFill>
                  <a:srgbClr val="CA0013"/>
                </a:solidFill>
                <a:latin typeface="Inter"/>
                <a:ea typeface="Inter"/>
                <a:cs typeface="Inter"/>
                <a:sym typeface="Inter"/>
              </a:rPr>
              <a:t>EARABLE CONNECTIVITY AND AI HEALTH COACH POWERED BY GEMINI FOR NARRATIVE GUIDANCE.</a:t>
            </a:r>
          </a:p>
          <a:p>
            <a:pPr algn="l">
              <a:lnSpc>
                <a:spcPts val="2520"/>
              </a:lnSpc>
              <a:spcBef>
                <a:spcPct val="0"/>
              </a:spcBef>
            </a:pPr>
          </a:p>
        </p:txBody>
      </p:sp>
      <p:sp>
        <p:nvSpPr>
          <p:cNvPr name="TextBox 16" id="16"/>
          <p:cNvSpPr txBox="true"/>
          <p:nvPr/>
        </p:nvSpPr>
        <p:spPr>
          <a:xfrm rot="0">
            <a:off x="588530" y="7847874"/>
            <a:ext cx="7204496" cy="1480185"/>
          </a:xfrm>
          <a:prstGeom prst="rect">
            <a:avLst/>
          </a:prstGeom>
        </p:spPr>
        <p:txBody>
          <a:bodyPr anchor="t" rtlCol="false" tIns="0" lIns="0" bIns="0" rIns="0">
            <a:spAutoFit/>
          </a:bodyPr>
          <a:lstStyle/>
          <a:p>
            <a:pPr algn="ctr">
              <a:lnSpc>
                <a:spcPts val="2940"/>
              </a:lnSpc>
              <a:spcBef>
                <a:spcPct val="0"/>
              </a:spcBef>
            </a:pPr>
          </a:p>
          <a:p>
            <a:pPr algn="l">
              <a:lnSpc>
                <a:spcPts val="2940"/>
              </a:lnSpc>
              <a:spcBef>
                <a:spcPct val="0"/>
              </a:spcBef>
            </a:pPr>
            <a:r>
              <a:rPr lang="en-US" b="true" sz="2100" spc="-63">
                <a:solidFill>
                  <a:srgbClr val="CA0013"/>
                </a:solidFill>
                <a:latin typeface="Inter Bold"/>
                <a:ea typeface="Inter Bold"/>
                <a:cs typeface="Inter Bold"/>
                <a:sym typeface="Inter Bold"/>
              </a:rPr>
              <a:t>→ OFFL</a:t>
            </a:r>
            <a:r>
              <a:rPr lang="en-US" b="true" sz="2100" spc="-63">
                <a:solidFill>
                  <a:srgbClr val="CA0013"/>
                </a:solidFill>
                <a:latin typeface="Inter Bold"/>
                <a:ea typeface="Inter Bold"/>
                <a:cs typeface="Inter Bold"/>
                <a:sym typeface="Inter Bold"/>
              </a:rPr>
              <a:t>INE SYNC + SECURITY</a:t>
            </a:r>
          </a:p>
          <a:p>
            <a:pPr algn="l">
              <a:lnSpc>
                <a:spcPts val="2940"/>
              </a:lnSpc>
              <a:spcBef>
                <a:spcPct val="0"/>
              </a:spcBef>
            </a:pPr>
          </a:p>
          <a:p>
            <a:pPr algn="l">
              <a:lnSpc>
                <a:spcPts val="2940"/>
              </a:lnSpc>
              <a:spcBef>
                <a:spcPct val="0"/>
              </a:spcBef>
            </a:pPr>
          </a:p>
        </p:txBody>
      </p:sp>
      <p:sp>
        <p:nvSpPr>
          <p:cNvPr name="TextBox 17" id="17"/>
          <p:cNvSpPr txBox="true"/>
          <p:nvPr/>
        </p:nvSpPr>
        <p:spPr>
          <a:xfrm rot="0">
            <a:off x="588530" y="8569741"/>
            <a:ext cx="7558172" cy="935355"/>
          </a:xfrm>
          <a:prstGeom prst="rect">
            <a:avLst/>
          </a:prstGeom>
        </p:spPr>
        <p:txBody>
          <a:bodyPr anchor="t" rtlCol="false" tIns="0" lIns="0" bIns="0" rIns="0">
            <a:spAutoFit/>
          </a:bodyPr>
          <a:lstStyle/>
          <a:p>
            <a:pPr algn="l">
              <a:lnSpc>
                <a:spcPts val="2520"/>
              </a:lnSpc>
              <a:spcBef>
                <a:spcPct val="0"/>
              </a:spcBef>
            </a:pPr>
            <a:r>
              <a:rPr lang="en-US" sz="1800" spc="-54">
                <a:solidFill>
                  <a:srgbClr val="CA0013"/>
                </a:solidFill>
                <a:latin typeface="Inter"/>
                <a:ea typeface="Inter"/>
                <a:cs typeface="Inter"/>
                <a:sym typeface="Inter"/>
              </a:rPr>
              <a:t>AUTOM</a:t>
            </a:r>
            <a:r>
              <a:rPr lang="en-US" sz="1800" spc="-54">
                <a:solidFill>
                  <a:srgbClr val="CA0013"/>
                </a:solidFill>
                <a:latin typeface="Inter"/>
                <a:ea typeface="Inter"/>
                <a:cs typeface="Inter"/>
                <a:sym typeface="Inter"/>
              </a:rPr>
              <a:t>ATIC SYNC ON RECONNECTION; BRUTE FORCE PROTECTION LOCKS ACCOUNT AFTER FAILED ATTEMPTS.</a:t>
            </a:r>
          </a:p>
          <a:p>
            <a:pPr algn="l">
              <a:lnSpc>
                <a:spcPts val="2520"/>
              </a:lnSpc>
              <a:spcBef>
                <a:spcPct val="0"/>
              </a:spcBef>
            </a:pPr>
          </a:p>
        </p:txBody>
      </p:sp>
      <p:sp>
        <p:nvSpPr>
          <p:cNvPr name="Freeform 18" id="18"/>
          <p:cNvSpPr/>
          <p:nvPr/>
        </p:nvSpPr>
        <p:spPr>
          <a:xfrm flipH="false" flipV="false" rot="0">
            <a:off x="5753716" y="228232"/>
            <a:ext cx="2039310" cy="2155149"/>
          </a:xfrm>
          <a:custGeom>
            <a:avLst/>
            <a:gdLst/>
            <a:ahLst/>
            <a:cxnLst/>
            <a:rect r="r" b="b" t="t" l="l"/>
            <a:pathLst>
              <a:path h="2155149" w="2039310">
                <a:moveTo>
                  <a:pt x="0" y="0"/>
                </a:moveTo>
                <a:lnTo>
                  <a:pt x="2039310" y="0"/>
                </a:lnTo>
                <a:lnTo>
                  <a:pt x="2039310" y="2155149"/>
                </a:lnTo>
                <a:lnTo>
                  <a:pt x="0" y="2155149"/>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710995" y="2170981"/>
            <a:ext cx="10972800" cy="7689291"/>
          </a:xfrm>
          <a:prstGeom prst="rect">
            <a:avLst/>
          </a:prstGeom>
        </p:spPr>
      </p:pic>
      <p:grpSp>
        <p:nvGrpSpPr>
          <p:cNvPr name="Group 3" id="3"/>
          <p:cNvGrpSpPr/>
          <p:nvPr/>
        </p:nvGrpSpPr>
        <p:grpSpPr>
          <a:xfrm rot="0">
            <a:off x="9347405" y="2543596"/>
            <a:ext cx="4258359" cy="3284433"/>
            <a:chOff x="0" y="0"/>
            <a:chExt cx="1121543" cy="865036"/>
          </a:xfrm>
        </p:grpSpPr>
        <p:sp>
          <p:nvSpPr>
            <p:cNvPr name="Freeform 4" id="4"/>
            <p:cNvSpPr/>
            <p:nvPr/>
          </p:nvSpPr>
          <p:spPr>
            <a:xfrm flipH="false" flipV="false" rot="0">
              <a:off x="0" y="0"/>
              <a:ext cx="1121543" cy="865036"/>
            </a:xfrm>
            <a:custGeom>
              <a:avLst/>
              <a:gdLst/>
              <a:ahLst/>
              <a:cxnLst/>
              <a:rect r="r" b="b" t="t" l="l"/>
              <a:pathLst>
                <a:path h="865036" w="1121543">
                  <a:moveTo>
                    <a:pt x="92721" y="0"/>
                  </a:moveTo>
                  <a:lnTo>
                    <a:pt x="1028823" y="0"/>
                  </a:lnTo>
                  <a:cubicBezTo>
                    <a:pt x="1080031" y="0"/>
                    <a:pt x="1121543" y="41512"/>
                    <a:pt x="1121543" y="92721"/>
                  </a:cubicBezTo>
                  <a:lnTo>
                    <a:pt x="1121543" y="772315"/>
                  </a:lnTo>
                  <a:cubicBezTo>
                    <a:pt x="1121543" y="796906"/>
                    <a:pt x="1111774" y="820490"/>
                    <a:pt x="1094386" y="837879"/>
                  </a:cubicBezTo>
                  <a:cubicBezTo>
                    <a:pt x="1076998" y="855267"/>
                    <a:pt x="1053414" y="865036"/>
                    <a:pt x="1028823" y="865036"/>
                  </a:cubicBezTo>
                  <a:lnTo>
                    <a:pt x="92721" y="865036"/>
                  </a:lnTo>
                  <a:cubicBezTo>
                    <a:pt x="41512" y="865036"/>
                    <a:pt x="0" y="823523"/>
                    <a:pt x="0" y="772315"/>
                  </a:cubicBezTo>
                  <a:lnTo>
                    <a:pt x="0" y="92721"/>
                  </a:lnTo>
                  <a:cubicBezTo>
                    <a:pt x="0" y="41512"/>
                    <a:pt x="41512" y="0"/>
                    <a:pt x="92721" y="0"/>
                  </a:cubicBezTo>
                  <a:close/>
                </a:path>
              </a:pathLst>
            </a:custGeom>
            <a:solidFill>
              <a:srgbClr val="CBC4B3"/>
            </a:solidFill>
          </p:spPr>
        </p:sp>
        <p:sp>
          <p:nvSpPr>
            <p:cNvPr name="TextBox 5" id="5"/>
            <p:cNvSpPr txBox="true"/>
            <p:nvPr/>
          </p:nvSpPr>
          <p:spPr>
            <a:xfrm>
              <a:off x="0" y="-38100"/>
              <a:ext cx="1121543" cy="903136"/>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4043566" y="849421"/>
            <a:ext cx="10200868" cy="1694175"/>
          </a:xfrm>
          <a:prstGeom prst="rect">
            <a:avLst/>
          </a:prstGeom>
        </p:spPr>
        <p:txBody>
          <a:bodyPr anchor="t" rtlCol="false" tIns="0" lIns="0" bIns="0" rIns="0">
            <a:spAutoFit/>
          </a:bodyPr>
          <a:lstStyle/>
          <a:p>
            <a:pPr algn="l">
              <a:lnSpc>
                <a:spcPts val="6283"/>
              </a:lnSpc>
            </a:pPr>
            <a:r>
              <a:rPr lang="en-US" b="true" sz="7954" spc="-938">
                <a:solidFill>
                  <a:srgbClr val="CA0013"/>
                </a:solidFill>
                <a:latin typeface="Inter Bold"/>
                <a:ea typeface="Inter Bold"/>
                <a:cs typeface="Inter Bold"/>
                <a:sym typeface="Inter Bold"/>
              </a:rPr>
              <a:t>CLINICIAN DASHBOARD</a:t>
            </a:r>
          </a:p>
          <a:p>
            <a:pPr algn="l" marL="0" indent="0" lvl="0">
              <a:lnSpc>
                <a:spcPts val="6283"/>
              </a:lnSpc>
            </a:pPr>
          </a:p>
        </p:txBody>
      </p:sp>
      <p:sp>
        <p:nvSpPr>
          <p:cNvPr name="TextBox 7" id="7"/>
          <p:cNvSpPr txBox="true"/>
          <p:nvPr/>
        </p:nvSpPr>
        <p:spPr>
          <a:xfrm rot="0">
            <a:off x="6115448" y="1940284"/>
            <a:ext cx="5940103" cy="763270"/>
          </a:xfrm>
          <a:prstGeom prst="rect">
            <a:avLst/>
          </a:prstGeom>
        </p:spPr>
        <p:txBody>
          <a:bodyPr anchor="t" rtlCol="false" tIns="0" lIns="0" bIns="0" rIns="0">
            <a:spAutoFit/>
          </a:bodyPr>
          <a:lstStyle/>
          <a:p>
            <a:pPr algn="ctr">
              <a:lnSpc>
                <a:spcPts val="3079"/>
              </a:lnSpc>
              <a:spcBef>
                <a:spcPct val="0"/>
              </a:spcBef>
            </a:pPr>
            <a:r>
              <a:rPr lang="en-US" b="true" sz="2199" spc="-65">
                <a:solidFill>
                  <a:srgbClr val="CA0013"/>
                </a:solidFill>
                <a:latin typeface="Inter Bold"/>
                <a:ea typeface="Inter Bold"/>
                <a:cs typeface="Inter Bold"/>
                <a:sym typeface="Inter Bold"/>
              </a:rPr>
              <a:t>CLINICAL OVERSIGHT, ANYWHERE, ANYTIME</a:t>
            </a:r>
          </a:p>
          <a:p>
            <a:pPr algn="ctr">
              <a:lnSpc>
                <a:spcPts val="3079"/>
              </a:lnSpc>
              <a:spcBef>
                <a:spcPct val="0"/>
              </a:spcBef>
            </a:pPr>
          </a:p>
        </p:txBody>
      </p:sp>
      <p:grpSp>
        <p:nvGrpSpPr>
          <p:cNvPr name="Group 8" id="8"/>
          <p:cNvGrpSpPr/>
          <p:nvPr/>
        </p:nvGrpSpPr>
        <p:grpSpPr>
          <a:xfrm rot="0">
            <a:off x="13808303" y="2543596"/>
            <a:ext cx="4258359" cy="3284433"/>
            <a:chOff x="0" y="0"/>
            <a:chExt cx="1121543" cy="865036"/>
          </a:xfrm>
        </p:grpSpPr>
        <p:sp>
          <p:nvSpPr>
            <p:cNvPr name="Freeform 9" id="9"/>
            <p:cNvSpPr/>
            <p:nvPr/>
          </p:nvSpPr>
          <p:spPr>
            <a:xfrm flipH="false" flipV="false" rot="0">
              <a:off x="0" y="0"/>
              <a:ext cx="1121543" cy="865036"/>
            </a:xfrm>
            <a:custGeom>
              <a:avLst/>
              <a:gdLst/>
              <a:ahLst/>
              <a:cxnLst/>
              <a:rect r="r" b="b" t="t" l="l"/>
              <a:pathLst>
                <a:path h="865036" w="1121543">
                  <a:moveTo>
                    <a:pt x="92721" y="0"/>
                  </a:moveTo>
                  <a:lnTo>
                    <a:pt x="1028823" y="0"/>
                  </a:lnTo>
                  <a:cubicBezTo>
                    <a:pt x="1080031" y="0"/>
                    <a:pt x="1121543" y="41512"/>
                    <a:pt x="1121543" y="92721"/>
                  </a:cubicBezTo>
                  <a:lnTo>
                    <a:pt x="1121543" y="772315"/>
                  </a:lnTo>
                  <a:cubicBezTo>
                    <a:pt x="1121543" y="796906"/>
                    <a:pt x="1111774" y="820490"/>
                    <a:pt x="1094386" y="837879"/>
                  </a:cubicBezTo>
                  <a:cubicBezTo>
                    <a:pt x="1076998" y="855267"/>
                    <a:pt x="1053414" y="865036"/>
                    <a:pt x="1028823" y="865036"/>
                  </a:cubicBezTo>
                  <a:lnTo>
                    <a:pt x="92721" y="865036"/>
                  </a:lnTo>
                  <a:cubicBezTo>
                    <a:pt x="41512" y="865036"/>
                    <a:pt x="0" y="823523"/>
                    <a:pt x="0" y="772315"/>
                  </a:cubicBezTo>
                  <a:lnTo>
                    <a:pt x="0" y="92721"/>
                  </a:lnTo>
                  <a:cubicBezTo>
                    <a:pt x="0" y="41512"/>
                    <a:pt x="41512" y="0"/>
                    <a:pt x="92721" y="0"/>
                  </a:cubicBezTo>
                  <a:close/>
                </a:path>
              </a:pathLst>
            </a:custGeom>
            <a:solidFill>
              <a:srgbClr val="CBC4B3"/>
            </a:solidFill>
          </p:spPr>
        </p:sp>
        <p:sp>
          <p:nvSpPr>
            <p:cNvPr name="TextBox 10" id="10"/>
            <p:cNvSpPr txBox="true"/>
            <p:nvPr/>
          </p:nvSpPr>
          <p:spPr>
            <a:xfrm>
              <a:off x="0" y="-38100"/>
              <a:ext cx="1121543" cy="903136"/>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9347405" y="5950483"/>
            <a:ext cx="4258359" cy="3284433"/>
            <a:chOff x="0" y="0"/>
            <a:chExt cx="1121543" cy="865036"/>
          </a:xfrm>
        </p:grpSpPr>
        <p:sp>
          <p:nvSpPr>
            <p:cNvPr name="Freeform 12" id="12"/>
            <p:cNvSpPr/>
            <p:nvPr/>
          </p:nvSpPr>
          <p:spPr>
            <a:xfrm flipH="false" flipV="false" rot="0">
              <a:off x="0" y="0"/>
              <a:ext cx="1121543" cy="865036"/>
            </a:xfrm>
            <a:custGeom>
              <a:avLst/>
              <a:gdLst/>
              <a:ahLst/>
              <a:cxnLst/>
              <a:rect r="r" b="b" t="t" l="l"/>
              <a:pathLst>
                <a:path h="865036" w="1121543">
                  <a:moveTo>
                    <a:pt x="92721" y="0"/>
                  </a:moveTo>
                  <a:lnTo>
                    <a:pt x="1028823" y="0"/>
                  </a:lnTo>
                  <a:cubicBezTo>
                    <a:pt x="1080031" y="0"/>
                    <a:pt x="1121543" y="41512"/>
                    <a:pt x="1121543" y="92721"/>
                  </a:cubicBezTo>
                  <a:lnTo>
                    <a:pt x="1121543" y="772315"/>
                  </a:lnTo>
                  <a:cubicBezTo>
                    <a:pt x="1121543" y="796906"/>
                    <a:pt x="1111774" y="820490"/>
                    <a:pt x="1094386" y="837879"/>
                  </a:cubicBezTo>
                  <a:cubicBezTo>
                    <a:pt x="1076998" y="855267"/>
                    <a:pt x="1053414" y="865036"/>
                    <a:pt x="1028823" y="865036"/>
                  </a:cubicBezTo>
                  <a:lnTo>
                    <a:pt x="92721" y="865036"/>
                  </a:lnTo>
                  <a:cubicBezTo>
                    <a:pt x="41512" y="865036"/>
                    <a:pt x="0" y="823523"/>
                    <a:pt x="0" y="772315"/>
                  </a:cubicBezTo>
                  <a:lnTo>
                    <a:pt x="0" y="92721"/>
                  </a:lnTo>
                  <a:cubicBezTo>
                    <a:pt x="0" y="41512"/>
                    <a:pt x="41512" y="0"/>
                    <a:pt x="92721" y="0"/>
                  </a:cubicBezTo>
                  <a:close/>
                </a:path>
              </a:pathLst>
            </a:custGeom>
            <a:solidFill>
              <a:srgbClr val="CBC4B3"/>
            </a:solidFill>
          </p:spPr>
        </p:sp>
        <p:sp>
          <p:nvSpPr>
            <p:cNvPr name="TextBox 13" id="13"/>
            <p:cNvSpPr txBox="true"/>
            <p:nvPr/>
          </p:nvSpPr>
          <p:spPr>
            <a:xfrm>
              <a:off x="0" y="-38100"/>
              <a:ext cx="1121543" cy="903136"/>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13808303" y="5950483"/>
            <a:ext cx="4258359" cy="3284433"/>
            <a:chOff x="0" y="0"/>
            <a:chExt cx="1121543" cy="865036"/>
          </a:xfrm>
        </p:grpSpPr>
        <p:sp>
          <p:nvSpPr>
            <p:cNvPr name="Freeform 15" id="15"/>
            <p:cNvSpPr/>
            <p:nvPr/>
          </p:nvSpPr>
          <p:spPr>
            <a:xfrm flipH="false" flipV="false" rot="0">
              <a:off x="0" y="0"/>
              <a:ext cx="1121543" cy="865036"/>
            </a:xfrm>
            <a:custGeom>
              <a:avLst/>
              <a:gdLst/>
              <a:ahLst/>
              <a:cxnLst/>
              <a:rect r="r" b="b" t="t" l="l"/>
              <a:pathLst>
                <a:path h="865036" w="1121543">
                  <a:moveTo>
                    <a:pt x="92721" y="0"/>
                  </a:moveTo>
                  <a:lnTo>
                    <a:pt x="1028823" y="0"/>
                  </a:lnTo>
                  <a:cubicBezTo>
                    <a:pt x="1080031" y="0"/>
                    <a:pt x="1121543" y="41512"/>
                    <a:pt x="1121543" y="92721"/>
                  </a:cubicBezTo>
                  <a:lnTo>
                    <a:pt x="1121543" y="772315"/>
                  </a:lnTo>
                  <a:cubicBezTo>
                    <a:pt x="1121543" y="796906"/>
                    <a:pt x="1111774" y="820490"/>
                    <a:pt x="1094386" y="837879"/>
                  </a:cubicBezTo>
                  <a:cubicBezTo>
                    <a:pt x="1076998" y="855267"/>
                    <a:pt x="1053414" y="865036"/>
                    <a:pt x="1028823" y="865036"/>
                  </a:cubicBezTo>
                  <a:lnTo>
                    <a:pt x="92721" y="865036"/>
                  </a:lnTo>
                  <a:cubicBezTo>
                    <a:pt x="41512" y="865036"/>
                    <a:pt x="0" y="823523"/>
                    <a:pt x="0" y="772315"/>
                  </a:cubicBezTo>
                  <a:lnTo>
                    <a:pt x="0" y="92721"/>
                  </a:lnTo>
                  <a:cubicBezTo>
                    <a:pt x="0" y="41512"/>
                    <a:pt x="41512" y="0"/>
                    <a:pt x="92721" y="0"/>
                  </a:cubicBezTo>
                  <a:close/>
                </a:path>
              </a:pathLst>
            </a:custGeom>
            <a:solidFill>
              <a:srgbClr val="CBC4B3"/>
            </a:solidFill>
          </p:spPr>
        </p:sp>
        <p:sp>
          <p:nvSpPr>
            <p:cNvPr name="TextBox 16" id="16"/>
            <p:cNvSpPr txBox="true"/>
            <p:nvPr/>
          </p:nvSpPr>
          <p:spPr>
            <a:xfrm>
              <a:off x="0" y="-38100"/>
              <a:ext cx="1121543" cy="903136"/>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9566921" y="3148705"/>
            <a:ext cx="2488629" cy="789305"/>
          </a:xfrm>
          <a:prstGeom prst="rect">
            <a:avLst/>
          </a:prstGeom>
        </p:spPr>
        <p:txBody>
          <a:bodyPr anchor="t" rtlCol="false" tIns="0" lIns="0" bIns="0" rIns="0">
            <a:spAutoFit/>
          </a:bodyPr>
          <a:lstStyle/>
          <a:p>
            <a:pPr algn="r">
              <a:lnSpc>
                <a:spcPts val="3219"/>
              </a:lnSpc>
              <a:spcBef>
                <a:spcPct val="0"/>
              </a:spcBef>
            </a:pPr>
            <a:r>
              <a:rPr lang="en-US" b="true" sz="2299" spc="-68">
                <a:solidFill>
                  <a:srgbClr val="CA0013"/>
                </a:solidFill>
                <a:latin typeface="Inter Bold"/>
                <a:ea typeface="Inter Bold"/>
                <a:cs typeface="Inter Bold"/>
                <a:sym typeface="Inter Bold"/>
              </a:rPr>
              <a:t>LIVE PATIENT LIST</a:t>
            </a:r>
          </a:p>
          <a:p>
            <a:pPr algn="r">
              <a:lnSpc>
                <a:spcPts val="3219"/>
              </a:lnSpc>
              <a:spcBef>
                <a:spcPct val="0"/>
              </a:spcBef>
            </a:pPr>
          </a:p>
        </p:txBody>
      </p:sp>
      <p:sp>
        <p:nvSpPr>
          <p:cNvPr name="TextBox 18" id="18"/>
          <p:cNvSpPr txBox="true"/>
          <p:nvPr/>
        </p:nvSpPr>
        <p:spPr>
          <a:xfrm rot="0">
            <a:off x="9566921" y="3788961"/>
            <a:ext cx="3819328" cy="1544320"/>
          </a:xfrm>
          <a:prstGeom prst="rect">
            <a:avLst/>
          </a:prstGeom>
        </p:spPr>
        <p:txBody>
          <a:bodyPr anchor="t" rtlCol="false" tIns="0" lIns="0" bIns="0" rIns="0">
            <a:spAutoFit/>
          </a:bodyPr>
          <a:lstStyle/>
          <a:p>
            <a:pPr algn="l">
              <a:lnSpc>
                <a:spcPts val="3079"/>
              </a:lnSpc>
              <a:spcBef>
                <a:spcPct val="0"/>
              </a:spcBef>
            </a:pPr>
            <a:r>
              <a:rPr lang="en-US" sz="2199" spc="-65">
                <a:solidFill>
                  <a:srgbClr val="CA0013"/>
                </a:solidFill>
                <a:latin typeface="Inter"/>
                <a:ea typeface="Inter"/>
                <a:cs typeface="Inter"/>
                <a:sym typeface="Inter"/>
              </a:rPr>
              <a:t>REAL-TIME HEALTH SCORES AND RISK LEVELS ACROSS ALL ASSIGNED PATIENTS.</a:t>
            </a:r>
          </a:p>
          <a:p>
            <a:pPr algn="l">
              <a:lnSpc>
                <a:spcPts val="3079"/>
              </a:lnSpc>
              <a:spcBef>
                <a:spcPct val="0"/>
              </a:spcBef>
            </a:pPr>
          </a:p>
        </p:txBody>
      </p:sp>
      <p:grpSp>
        <p:nvGrpSpPr>
          <p:cNvPr name="Group 19" id="19"/>
          <p:cNvGrpSpPr/>
          <p:nvPr/>
        </p:nvGrpSpPr>
        <p:grpSpPr>
          <a:xfrm rot="0">
            <a:off x="13824840" y="2543596"/>
            <a:ext cx="4258359" cy="3284433"/>
            <a:chOff x="0" y="0"/>
            <a:chExt cx="1121543" cy="865036"/>
          </a:xfrm>
        </p:grpSpPr>
        <p:sp>
          <p:nvSpPr>
            <p:cNvPr name="Freeform 20" id="20"/>
            <p:cNvSpPr/>
            <p:nvPr/>
          </p:nvSpPr>
          <p:spPr>
            <a:xfrm flipH="false" flipV="false" rot="0">
              <a:off x="0" y="0"/>
              <a:ext cx="1121543" cy="865036"/>
            </a:xfrm>
            <a:custGeom>
              <a:avLst/>
              <a:gdLst/>
              <a:ahLst/>
              <a:cxnLst/>
              <a:rect r="r" b="b" t="t" l="l"/>
              <a:pathLst>
                <a:path h="865036" w="1121543">
                  <a:moveTo>
                    <a:pt x="92721" y="0"/>
                  </a:moveTo>
                  <a:lnTo>
                    <a:pt x="1028823" y="0"/>
                  </a:lnTo>
                  <a:cubicBezTo>
                    <a:pt x="1080031" y="0"/>
                    <a:pt x="1121543" y="41512"/>
                    <a:pt x="1121543" y="92721"/>
                  </a:cubicBezTo>
                  <a:lnTo>
                    <a:pt x="1121543" y="772315"/>
                  </a:lnTo>
                  <a:cubicBezTo>
                    <a:pt x="1121543" y="796906"/>
                    <a:pt x="1111774" y="820490"/>
                    <a:pt x="1094386" y="837879"/>
                  </a:cubicBezTo>
                  <a:cubicBezTo>
                    <a:pt x="1076998" y="855267"/>
                    <a:pt x="1053414" y="865036"/>
                    <a:pt x="1028823" y="865036"/>
                  </a:cubicBezTo>
                  <a:lnTo>
                    <a:pt x="92721" y="865036"/>
                  </a:lnTo>
                  <a:cubicBezTo>
                    <a:pt x="41512" y="865036"/>
                    <a:pt x="0" y="823523"/>
                    <a:pt x="0" y="772315"/>
                  </a:cubicBezTo>
                  <a:lnTo>
                    <a:pt x="0" y="92721"/>
                  </a:lnTo>
                  <a:cubicBezTo>
                    <a:pt x="0" y="41512"/>
                    <a:pt x="41512" y="0"/>
                    <a:pt x="92721" y="0"/>
                  </a:cubicBezTo>
                  <a:close/>
                </a:path>
              </a:pathLst>
            </a:custGeom>
            <a:solidFill>
              <a:srgbClr val="CBC4B3"/>
            </a:solidFill>
          </p:spPr>
        </p:sp>
        <p:sp>
          <p:nvSpPr>
            <p:cNvPr name="TextBox 21" id="21"/>
            <p:cNvSpPr txBox="true"/>
            <p:nvPr/>
          </p:nvSpPr>
          <p:spPr>
            <a:xfrm>
              <a:off x="0" y="-38100"/>
              <a:ext cx="1121543" cy="903136"/>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14157485" y="3037756"/>
            <a:ext cx="2759571" cy="789305"/>
          </a:xfrm>
          <a:prstGeom prst="rect">
            <a:avLst/>
          </a:prstGeom>
        </p:spPr>
        <p:txBody>
          <a:bodyPr anchor="t" rtlCol="false" tIns="0" lIns="0" bIns="0" rIns="0">
            <a:spAutoFit/>
          </a:bodyPr>
          <a:lstStyle/>
          <a:p>
            <a:pPr algn="r">
              <a:lnSpc>
                <a:spcPts val="3219"/>
              </a:lnSpc>
              <a:spcBef>
                <a:spcPct val="0"/>
              </a:spcBef>
            </a:pPr>
            <a:r>
              <a:rPr lang="en-US" b="true" sz="2299" spc="-68">
                <a:solidFill>
                  <a:srgbClr val="CA0013"/>
                </a:solidFill>
                <a:latin typeface="Inter Bold"/>
                <a:ea typeface="Inter Bold"/>
                <a:cs typeface="Inter Bold"/>
                <a:sym typeface="Inter Bold"/>
              </a:rPr>
              <a:t>AI R</a:t>
            </a:r>
            <a:r>
              <a:rPr lang="en-US" b="true" sz="2299" spc="-68">
                <a:solidFill>
                  <a:srgbClr val="CA0013"/>
                </a:solidFill>
                <a:latin typeface="Inter Bold"/>
                <a:ea typeface="Inter Bold"/>
                <a:cs typeface="Inter Bold"/>
                <a:sym typeface="Inter Bold"/>
              </a:rPr>
              <a:t>ISK SUMMARIES</a:t>
            </a:r>
          </a:p>
          <a:p>
            <a:pPr algn="r">
              <a:lnSpc>
                <a:spcPts val="3219"/>
              </a:lnSpc>
              <a:spcBef>
                <a:spcPct val="0"/>
              </a:spcBef>
            </a:pPr>
          </a:p>
        </p:txBody>
      </p:sp>
      <p:sp>
        <p:nvSpPr>
          <p:cNvPr name="TextBox 23" id="23"/>
          <p:cNvSpPr txBox="true"/>
          <p:nvPr/>
        </p:nvSpPr>
        <p:spPr>
          <a:xfrm rot="0">
            <a:off x="14157485" y="3509385"/>
            <a:ext cx="3819328" cy="2325370"/>
          </a:xfrm>
          <a:prstGeom prst="rect">
            <a:avLst/>
          </a:prstGeom>
        </p:spPr>
        <p:txBody>
          <a:bodyPr anchor="t" rtlCol="false" tIns="0" lIns="0" bIns="0" rIns="0">
            <a:spAutoFit/>
          </a:bodyPr>
          <a:lstStyle/>
          <a:p>
            <a:pPr algn="l">
              <a:lnSpc>
                <a:spcPts val="3079"/>
              </a:lnSpc>
              <a:spcBef>
                <a:spcPct val="0"/>
              </a:spcBef>
            </a:pPr>
            <a:r>
              <a:rPr lang="en-US" sz="2199" spc="-65">
                <a:solidFill>
                  <a:srgbClr val="CA0013"/>
                </a:solidFill>
                <a:latin typeface="Inter"/>
                <a:ea typeface="Inter"/>
                <a:cs typeface="Inter"/>
                <a:sym typeface="Inter"/>
              </a:rPr>
              <a:t>AI-G</a:t>
            </a:r>
            <a:r>
              <a:rPr lang="en-US" sz="2199" spc="-65">
                <a:solidFill>
                  <a:srgbClr val="CA0013"/>
                </a:solidFill>
                <a:latin typeface="Inter"/>
                <a:ea typeface="Inter"/>
                <a:cs typeface="Inter"/>
                <a:sym typeface="Inter"/>
              </a:rPr>
              <a:t>ENERATED NARRATIVE SUMMARIES AND INTERACTIVE CARDIOVASCULAR TREND GRAPHS.</a:t>
            </a:r>
          </a:p>
          <a:p>
            <a:pPr algn="l">
              <a:lnSpc>
                <a:spcPts val="3079"/>
              </a:lnSpc>
              <a:spcBef>
                <a:spcPct val="0"/>
              </a:spcBef>
            </a:pPr>
          </a:p>
        </p:txBody>
      </p:sp>
      <p:grpSp>
        <p:nvGrpSpPr>
          <p:cNvPr name="Group 24" id="24"/>
          <p:cNvGrpSpPr/>
          <p:nvPr/>
        </p:nvGrpSpPr>
        <p:grpSpPr>
          <a:xfrm rot="0">
            <a:off x="9347405" y="5973867"/>
            <a:ext cx="4258359" cy="3284433"/>
            <a:chOff x="0" y="0"/>
            <a:chExt cx="1121543" cy="865036"/>
          </a:xfrm>
        </p:grpSpPr>
        <p:sp>
          <p:nvSpPr>
            <p:cNvPr name="Freeform 25" id="25"/>
            <p:cNvSpPr/>
            <p:nvPr/>
          </p:nvSpPr>
          <p:spPr>
            <a:xfrm flipH="false" flipV="false" rot="0">
              <a:off x="0" y="0"/>
              <a:ext cx="1121543" cy="865036"/>
            </a:xfrm>
            <a:custGeom>
              <a:avLst/>
              <a:gdLst/>
              <a:ahLst/>
              <a:cxnLst/>
              <a:rect r="r" b="b" t="t" l="l"/>
              <a:pathLst>
                <a:path h="865036" w="1121543">
                  <a:moveTo>
                    <a:pt x="92721" y="0"/>
                  </a:moveTo>
                  <a:lnTo>
                    <a:pt x="1028823" y="0"/>
                  </a:lnTo>
                  <a:cubicBezTo>
                    <a:pt x="1080031" y="0"/>
                    <a:pt x="1121543" y="41512"/>
                    <a:pt x="1121543" y="92721"/>
                  </a:cubicBezTo>
                  <a:lnTo>
                    <a:pt x="1121543" y="772315"/>
                  </a:lnTo>
                  <a:cubicBezTo>
                    <a:pt x="1121543" y="796906"/>
                    <a:pt x="1111774" y="820490"/>
                    <a:pt x="1094386" y="837879"/>
                  </a:cubicBezTo>
                  <a:cubicBezTo>
                    <a:pt x="1076998" y="855267"/>
                    <a:pt x="1053414" y="865036"/>
                    <a:pt x="1028823" y="865036"/>
                  </a:cubicBezTo>
                  <a:lnTo>
                    <a:pt x="92721" y="865036"/>
                  </a:lnTo>
                  <a:cubicBezTo>
                    <a:pt x="41512" y="865036"/>
                    <a:pt x="0" y="823523"/>
                    <a:pt x="0" y="772315"/>
                  </a:cubicBezTo>
                  <a:lnTo>
                    <a:pt x="0" y="92721"/>
                  </a:lnTo>
                  <a:cubicBezTo>
                    <a:pt x="0" y="41512"/>
                    <a:pt x="41512" y="0"/>
                    <a:pt x="92721" y="0"/>
                  </a:cubicBezTo>
                  <a:close/>
                </a:path>
              </a:pathLst>
            </a:custGeom>
            <a:solidFill>
              <a:srgbClr val="CBC4B3"/>
            </a:solidFill>
          </p:spPr>
        </p:sp>
        <p:sp>
          <p:nvSpPr>
            <p:cNvPr name="TextBox 26" id="26"/>
            <p:cNvSpPr txBox="true"/>
            <p:nvPr/>
          </p:nvSpPr>
          <p:spPr>
            <a:xfrm>
              <a:off x="0" y="-38100"/>
              <a:ext cx="1121543" cy="903136"/>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9566921" y="6555592"/>
            <a:ext cx="3226966" cy="789305"/>
          </a:xfrm>
          <a:prstGeom prst="rect">
            <a:avLst/>
          </a:prstGeom>
        </p:spPr>
        <p:txBody>
          <a:bodyPr anchor="t" rtlCol="false" tIns="0" lIns="0" bIns="0" rIns="0">
            <a:spAutoFit/>
          </a:bodyPr>
          <a:lstStyle/>
          <a:p>
            <a:pPr algn="r">
              <a:lnSpc>
                <a:spcPts val="3219"/>
              </a:lnSpc>
              <a:spcBef>
                <a:spcPct val="0"/>
              </a:spcBef>
            </a:pPr>
            <a:r>
              <a:rPr lang="en-US" b="true" sz="2299" spc="-68">
                <a:solidFill>
                  <a:srgbClr val="CA0013"/>
                </a:solidFill>
                <a:latin typeface="Inter Bold"/>
                <a:ea typeface="Inter Bold"/>
                <a:cs typeface="Inter Bold"/>
                <a:sym typeface="Inter Bold"/>
              </a:rPr>
              <a:t>CRIT</a:t>
            </a:r>
            <a:r>
              <a:rPr lang="en-US" b="true" sz="2299" spc="-68">
                <a:solidFill>
                  <a:srgbClr val="CA0013"/>
                </a:solidFill>
                <a:latin typeface="Inter Bold"/>
                <a:ea typeface="Inter Bold"/>
                <a:cs typeface="Inter Bold"/>
                <a:sym typeface="Inter Bold"/>
              </a:rPr>
              <a:t>ICAL ALERT PANEL</a:t>
            </a:r>
          </a:p>
          <a:p>
            <a:pPr algn="r">
              <a:lnSpc>
                <a:spcPts val="3219"/>
              </a:lnSpc>
              <a:spcBef>
                <a:spcPct val="0"/>
              </a:spcBef>
            </a:pPr>
          </a:p>
        </p:txBody>
      </p:sp>
      <p:sp>
        <p:nvSpPr>
          <p:cNvPr name="TextBox 28" id="28"/>
          <p:cNvSpPr txBox="true"/>
          <p:nvPr/>
        </p:nvSpPr>
        <p:spPr>
          <a:xfrm rot="0">
            <a:off x="9566921" y="7111535"/>
            <a:ext cx="3819328" cy="1934845"/>
          </a:xfrm>
          <a:prstGeom prst="rect">
            <a:avLst/>
          </a:prstGeom>
        </p:spPr>
        <p:txBody>
          <a:bodyPr anchor="t" rtlCol="false" tIns="0" lIns="0" bIns="0" rIns="0">
            <a:spAutoFit/>
          </a:bodyPr>
          <a:lstStyle/>
          <a:p>
            <a:pPr algn="l">
              <a:lnSpc>
                <a:spcPts val="3079"/>
              </a:lnSpc>
              <a:spcBef>
                <a:spcPct val="0"/>
              </a:spcBef>
            </a:pPr>
            <a:r>
              <a:rPr lang="en-US" sz="2199" spc="-65">
                <a:solidFill>
                  <a:srgbClr val="CA0013"/>
                </a:solidFill>
                <a:latin typeface="Inter"/>
                <a:ea typeface="Inter"/>
                <a:cs typeface="Inter"/>
                <a:sym typeface="Inter"/>
              </a:rPr>
              <a:t>CO</a:t>
            </a:r>
            <a:r>
              <a:rPr lang="en-US" sz="2199" spc="-65">
                <a:solidFill>
                  <a:srgbClr val="CA0013"/>
                </a:solidFill>
                <a:latin typeface="Inter"/>
                <a:ea typeface="Inter"/>
                <a:cs typeface="Inter"/>
                <a:sym typeface="Inter"/>
              </a:rPr>
              <a:t>LOUR-CODED SEVERITY ALERTS AND POPULATION-LEVEL ANALYTICS AT A GLANCE.</a:t>
            </a:r>
          </a:p>
          <a:p>
            <a:pPr algn="l">
              <a:lnSpc>
                <a:spcPts val="3079"/>
              </a:lnSpc>
              <a:spcBef>
                <a:spcPct val="0"/>
              </a:spcBef>
            </a:pPr>
          </a:p>
        </p:txBody>
      </p:sp>
      <p:grpSp>
        <p:nvGrpSpPr>
          <p:cNvPr name="Group 29" id="29"/>
          <p:cNvGrpSpPr/>
          <p:nvPr/>
        </p:nvGrpSpPr>
        <p:grpSpPr>
          <a:xfrm rot="0">
            <a:off x="13808303" y="5950483"/>
            <a:ext cx="4258359" cy="3284433"/>
            <a:chOff x="0" y="0"/>
            <a:chExt cx="1121543" cy="865036"/>
          </a:xfrm>
        </p:grpSpPr>
        <p:sp>
          <p:nvSpPr>
            <p:cNvPr name="Freeform 30" id="30"/>
            <p:cNvSpPr/>
            <p:nvPr/>
          </p:nvSpPr>
          <p:spPr>
            <a:xfrm flipH="false" flipV="false" rot="0">
              <a:off x="0" y="0"/>
              <a:ext cx="1121543" cy="865036"/>
            </a:xfrm>
            <a:custGeom>
              <a:avLst/>
              <a:gdLst/>
              <a:ahLst/>
              <a:cxnLst/>
              <a:rect r="r" b="b" t="t" l="l"/>
              <a:pathLst>
                <a:path h="865036" w="1121543">
                  <a:moveTo>
                    <a:pt x="92721" y="0"/>
                  </a:moveTo>
                  <a:lnTo>
                    <a:pt x="1028823" y="0"/>
                  </a:lnTo>
                  <a:cubicBezTo>
                    <a:pt x="1080031" y="0"/>
                    <a:pt x="1121543" y="41512"/>
                    <a:pt x="1121543" y="92721"/>
                  </a:cubicBezTo>
                  <a:lnTo>
                    <a:pt x="1121543" y="772315"/>
                  </a:lnTo>
                  <a:cubicBezTo>
                    <a:pt x="1121543" y="796906"/>
                    <a:pt x="1111774" y="820490"/>
                    <a:pt x="1094386" y="837879"/>
                  </a:cubicBezTo>
                  <a:cubicBezTo>
                    <a:pt x="1076998" y="855267"/>
                    <a:pt x="1053414" y="865036"/>
                    <a:pt x="1028823" y="865036"/>
                  </a:cubicBezTo>
                  <a:lnTo>
                    <a:pt x="92721" y="865036"/>
                  </a:lnTo>
                  <a:cubicBezTo>
                    <a:pt x="41512" y="865036"/>
                    <a:pt x="0" y="823523"/>
                    <a:pt x="0" y="772315"/>
                  </a:cubicBezTo>
                  <a:lnTo>
                    <a:pt x="0" y="92721"/>
                  </a:lnTo>
                  <a:cubicBezTo>
                    <a:pt x="0" y="41512"/>
                    <a:pt x="41512" y="0"/>
                    <a:pt x="92721" y="0"/>
                  </a:cubicBezTo>
                  <a:close/>
                </a:path>
              </a:pathLst>
            </a:custGeom>
            <a:solidFill>
              <a:srgbClr val="CBC4B3"/>
            </a:solidFill>
          </p:spPr>
        </p:sp>
        <p:sp>
          <p:nvSpPr>
            <p:cNvPr name="TextBox 31" id="31"/>
            <p:cNvSpPr txBox="true"/>
            <p:nvPr/>
          </p:nvSpPr>
          <p:spPr>
            <a:xfrm>
              <a:off x="0" y="-38100"/>
              <a:ext cx="1121543" cy="903136"/>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14027819" y="6555592"/>
            <a:ext cx="3018904" cy="789305"/>
          </a:xfrm>
          <a:prstGeom prst="rect">
            <a:avLst/>
          </a:prstGeom>
        </p:spPr>
        <p:txBody>
          <a:bodyPr anchor="t" rtlCol="false" tIns="0" lIns="0" bIns="0" rIns="0">
            <a:spAutoFit/>
          </a:bodyPr>
          <a:lstStyle/>
          <a:p>
            <a:pPr algn="r">
              <a:lnSpc>
                <a:spcPts val="3219"/>
              </a:lnSpc>
              <a:spcBef>
                <a:spcPct val="0"/>
              </a:spcBef>
            </a:pPr>
            <a:r>
              <a:rPr lang="en-US" b="true" sz="2299" spc="-68">
                <a:solidFill>
                  <a:srgbClr val="CA0013"/>
                </a:solidFill>
                <a:latin typeface="Inter Bold"/>
                <a:ea typeface="Inter Bold"/>
                <a:cs typeface="Inter Bold"/>
                <a:sym typeface="Inter Bold"/>
              </a:rPr>
              <a:t>ROL</a:t>
            </a:r>
            <a:r>
              <a:rPr lang="en-US" b="true" sz="2299" spc="-68">
                <a:solidFill>
                  <a:srgbClr val="CA0013"/>
                </a:solidFill>
                <a:latin typeface="Inter Bold"/>
                <a:ea typeface="Inter Bold"/>
                <a:cs typeface="Inter Bold"/>
                <a:sym typeface="Inter Bold"/>
              </a:rPr>
              <a:t>E-BASED ACCESS</a:t>
            </a:r>
          </a:p>
          <a:p>
            <a:pPr algn="r">
              <a:lnSpc>
                <a:spcPts val="3219"/>
              </a:lnSpc>
              <a:spcBef>
                <a:spcPct val="0"/>
              </a:spcBef>
            </a:pPr>
          </a:p>
        </p:txBody>
      </p:sp>
      <p:sp>
        <p:nvSpPr>
          <p:cNvPr name="TextBox 33" id="33"/>
          <p:cNvSpPr txBox="true"/>
          <p:nvPr/>
        </p:nvSpPr>
        <p:spPr>
          <a:xfrm rot="0">
            <a:off x="14027819" y="7111535"/>
            <a:ext cx="3819328" cy="1934845"/>
          </a:xfrm>
          <a:prstGeom prst="rect">
            <a:avLst/>
          </a:prstGeom>
        </p:spPr>
        <p:txBody>
          <a:bodyPr anchor="t" rtlCol="false" tIns="0" lIns="0" bIns="0" rIns="0">
            <a:spAutoFit/>
          </a:bodyPr>
          <a:lstStyle/>
          <a:p>
            <a:pPr algn="l">
              <a:lnSpc>
                <a:spcPts val="3079"/>
              </a:lnSpc>
              <a:spcBef>
                <a:spcPct val="0"/>
              </a:spcBef>
            </a:pPr>
            <a:r>
              <a:rPr lang="en-US" sz="2199" spc="-65">
                <a:solidFill>
                  <a:srgbClr val="CA0013"/>
                </a:solidFill>
                <a:latin typeface="Inter"/>
                <a:ea typeface="Inter"/>
                <a:cs typeface="Inter"/>
                <a:sym typeface="Inter"/>
              </a:rPr>
              <a:t>S</a:t>
            </a:r>
            <a:r>
              <a:rPr lang="en-US" sz="2199" spc="-65">
                <a:solidFill>
                  <a:srgbClr val="CA0013"/>
                </a:solidFill>
                <a:latin typeface="Inter"/>
                <a:ea typeface="Inter"/>
                <a:cs typeface="Inter"/>
                <a:sym typeface="Inter"/>
              </a:rPr>
              <a:t>ECURE MESSAGING AND STRICTLY ENFORCED DOCTOR / ADMIN / PATIENT ACCESS TIERS.</a:t>
            </a:r>
          </a:p>
          <a:p>
            <a:pPr algn="l">
              <a:lnSpc>
                <a:spcPts val="3079"/>
              </a:lnSpc>
              <a:spcBef>
                <a:spcPct val="0"/>
              </a:spcBef>
            </a:pPr>
          </a:p>
        </p:txBody>
      </p:sp>
      <p:sp>
        <p:nvSpPr>
          <p:cNvPr name="Freeform 34" id="34"/>
          <p:cNvSpPr/>
          <p:nvPr/>
        </p:nvSpPr>
        <p:spPr>
          <a:xfrm flipH="false" flipV="false" rot="0">
            <a:off x="16239619" y="-392665"/>
            <a:ext cx="2048381" cy="2164735"/>
          </a:xfrm>
          <a:custGeom>
            <a:avLst/>
            <a:gdLst/>
            <a:ahLst/>
            <a:cxnLst/>
            <a:rect r="r" b="b" t="t" l="l"/>
            <a:pathLst>
              <a:path h="2164735" w="2048381">
                <a:moveTo>
                  <a:pt x="0" y="0"/>
                </a:moveTo>
                <a:lnTo>
                  <a:pt x="2048381" y="0"/>
                </a:lnTo>
                <a:lnTo>
                  <a:pt x="2048381" y="2164736"/>
                </a:lnTo>
                <a:lnTo>
                  <a:pt x="0" y="2164736"/>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grpSp>
        <p:nvGrpSpPr>
          <p:cNvPr name="Group 2" id="2"/>
          <p:cNvGrpSpPr/>
          <p:nvPr/>
        </p:nvGrpSpPr>
        <p:grpSpPr>
          <a:xfrm rot="0">
            <a:off x="214007" y="4403902"/>
            <a:ext cx="4101841" cy="1933819"/>
            <a:chOff x="0" y="0"/>
            <a:chExt cx="1080320" cy="509319"/>
          </a:xfrm>
        </p:grpSpPr>
        <p:sp>
          <p:nvSpPr>
            <p:cNvPr name="Freeform 3" id="3"/>
            <p:cNvSpPr/>
            <p:nvPr/>
          </p:nvSpPr>
          <p:spPr>
            <a:xfrm flipH="false" flipV="false" rot="0">
              <a:off x="0" y="0"/>
              <a:ext cx="1080320" cy="509319"/>
            </a:xfrm>
            <a:custGeom>
              <a:avLst/>
              <a:gdLst/>
              <a:ahLst/>
              <a:cxnLst/>
              <a:rect r="r" b="b" t="t" l="l"/>
              <a:pathLst>
                <a:path h="509319" w="1080320">
                  <a:moveTo>
                    <a:pt x="96259" y="0"/>
                  </a:moveTo>
                  <a:lnTo>
                    <a:pt x="984061" y="0"/>
                  </a:lnTo>
                  <a:cubicBezTo>
                    <a:pt x="1009591" y="0"/>
                    <a:pt x="1034075" y="10142"/>
                    <a:pt x="1052127" y="28194"/>
                  </a:cubicBezTo>
                  <a:cubicBezTo>
                    <a:pt x="1070179" y="46246"/>
                    <a:pt x="1080320" y="70729"/>
                    <a:pt x="1080320" y="96259"/>
                  </a:cubicBezTo>
                  <a:lnTo>
                    <a:pt x="1080320" y="413060"/>
                  </a:lnTo>
                  <a:cubicBezTo>
                    <a:pt x="1080320" y="466222"/>
                    <a:pt x="1037224" y="509319"/>
                    <a:pt x="984061" y="509319"/>
                  </a:cubicBezTo>
                  <a:lnTo>
                    <a:pt x="96259" y="509319"/>
                  </a:lnTo>
                  <a:cubicBezTo>
                    <a:pt x="70729" y="509319"/>
                    <a:pt x="46246" y="499177"/>
                    <a:pt x="28194" y="481125"/>
                  </a:cubicBezTo>
                  <a:cubicBezTo>
                    <a:pt x="10142" y="463073"/>
                    <a:pt x="0" y="438589"/>
                    <a:pt x="0" y="413060"/>
                  </a:cubicBezTo>
                  <a:lnTo>
                    <a:pt x="0" y="96259"/>
                  </a:lnTo>
                  <a:cubicBezTo>
                    <a:pt x="0" y="43096"/>
                    <a:pt x="43096" y="0"/>
                    <a:pt x="96259" y="0"/>
                  </a:cubicBezTo>
                  <a:close/>
                </a:path>
              </a:pathLst>
            </a:custGeom>
            <a:solidFill>
              <a:srgbClr val="CBC4B3"/>
            </a:solidFill>
          </p:spPr>
        </p:sp>
        <p:sp>
          <p:nvSpPr>
            <p:cNvPr name="TextBox 4" id="4"/>
            <p:cNvSpPr txBox="true"/>
            <p:nvPr/>
          </p:nvSpPr>
          <p:spPr>
            <a:xfrm>
              <a:off x="0" y="-38100"/>
              <a:ext cx="1080320" cy="547419"/>
            </a:xfrm>
            <a:prstGeom prst="rect">
              <a:avLst/>
            </a:prstGeom>
          </p:spPr>
          <p:txBody>
            <a:bodyPr anchor="ctr" rtlCol="false" tIns="50800" lIns="50800" bIns="50800" rIns="50800"/>
            <a:lstStyle/>
            <a:p>
              <a:pPr algn="ctr">
                <a:lnSpc>
                  <a:spcPts val="2520"/>
                </a:lnSpc>
              </a:pPr>
            </a:p>
          </p:txBody>
        </p:sp>
      </p:grpSp>
      <p:sp>
        <p:nvSpPr>
          <p:cNvPr name="TextBox 5" id="5"/>
          <p:cNvSpPr txBox="true"/>
          <p:nvPr/>
        </p:nvSpPr>
        <p:spPr>
          <a:xfrm rot="0">
            <a:off x="516718" y="950094"/>
            <a:ext cx="9274237" cy="2108576"/>
          </a:xfrm>
          <a:prstGeom prst="rect">
            <a:avLst/>
          </a:prstGeom>
        </p:spPr>
        <p:txBody>
          <a:bodyPr anchor="t" rtlCol="false" tIns="0" lIns="0" bIns="0" rIns="0">
            <a:spAutoFit/>
          </a:bodyPr>
          <a:lstStyle/>
          <a:p>
            <a:pPr algn="l" marL="0" indent="0" lvl="0">
              <a:lnSpc>
                <a:spcPts val="7826"/>
              </a:lnSpc>
            </a:pPr>
            <a:r>
              <a:rPr lang="en-US" b="true" sz="9906" spc="-1168">
                <a:solidFill>
                  <a:srgbClr val="CA0013"/>
                </a:solidFill>
                <a:latin typeface="Inter Bold"/>
                <a:ea typeface="Inter Bold"/>
                <a:cs typeface="Inter Bold"/>
                <a:sym typeface="Inter Bold"/>
              </a:rPr>
              <a:t>AI &amp; MACHINE LEARNING</a:t>
            </a:r>
          </a:p>
        </p:txBody>
      </p:sp>
      <p:sp>
        <p:nvSpPr>
          <p:cNvPr name="TextBox 6" id="6"/>
          <p:cNvSpPr txBox="true"/>
          <p:nvPr/>
        </p:nvSpPr>
        <p:spPr>
          <a:xfrm rot="0">
            <a:off x="516718" y="3107232"/>
            <a:ext cx="4361259" cy="763270"/>
          </a:xfrm>
          <a:prstGeom prst="rect">
            <a:avLst/>
          </a:prstGeom>
        </p:spPr>
        <p:txBody>
          <a:bodyPr anchor="t" rtlCol="false" tIns="0" lIns="0" bIns="0" rIns="0">
            <a:spAutoFit/>
          </a:bodyPr>
          <a:lstStyle/>
          <a:p>
            <a:pPr algn="ctr">
              <a:lnSpc>
                <a:spcPts val="3079"/>
              </a:lnSpc>
              <a:spcBef>
                <a:spcPct val="0"/>
              </a:spcBef>
            </a:pPr>
            <a:r>
              <a:rPr lang="en-US" b="true" sz="2199" spc="-65">
                <a:solidFill>
                  <a:srgbClr val="CA0013"/>
                </a:solidFill>
                <a:latin typeface="Inter Bold"/>
                <a:ea typeface="Inter Bold"/>
                <a:cs typeface="Inter Bold"/>
                <a:sym typeface="Inter Bold"/>
              </a:rPr>
              <a:t>THREE LAYERS OF INTELLIGENCE</a:t>
            </a:r>
          </a:p>
          <a:p>
            <a:pPr algn="ctr">
              <a:lnSpc>
                <a:spcPts val="3079"/>
              </a:lnSpc>
              <a:spcBef>
                <a:spcPct val="0"/>
              </a:spcBef>
            </a:pPr>
          </a:p>
        </p:txBody>
      </p:sp>
      <p:grpSp>
        <p:nvGrpSpPr>
          <p:cNvPr name="Group 7" id="7"/>
          <p:cNvGrpSpPr>
            <a:grpSpLocks noChangeAspect="true"/>
          </p:cNvGrpSpPr>
          <p:nvPr/>
        </p:nvGrpSpPr>
        <p:grpSpPr>
          <a:xfrm rot="0">
            <a:off x="13283932" y="569094"/>
            <a:ext cx="4554414" cy="9169962"/>
            <a:chOff x="0" y="0"/>
            <a:chExt cx="9461500" cy="19050000"/>
          </a:xfrm>
        </p:grpSpPr>
        <p:sp>
          <p:nvSpPr>
            <p:cNvPr name="Freeform 8" id="8"/>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3"/>
              <a:stretch>
                <a:fillRect l="0" t="-839" r="0" b="-839"/>
              </a:stretch>
            </a:blipFill>
          </p:spPr>
        </p:sp>
        <p:sp>
          <p:nvSpPr>
            <p:cNvPr name="Freeform 9" id="9"/>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4"/>
              <a:stretch>
                <a:fillRect l="-83" t="0" r="-83" b="0"/>
              </a:stretch>
            </a:blipFill>
          </p:spPr>
        </p:sp>
      </p:grpSp>
      <p:sp>
        <p:nvSpPr>
          <p:cNvPr name="TextBox 10" id="10"/>
          <p:cNvSpPr txBox="true"/>
          <p:nvPr/>
        </p:nvSpPr>
        <p:spPr>
          <a:xfrm rot="0">
            <a:off x="516718" y="4721478"/>
            <a:ext cx="3496419"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LAYER 1 — EDGE AI (ON-DEVICE)</a:t>
            </a:r>
          </a:p>
          <a:p>
            <a:pPr algn="ctr">
              <a:lnSpc>
                <a:spcPts val="2520"/>
              </a:lnSpc>
              <a:spcBef>
                <a:spcPct val="0"/>
              </a:spcBef>
            </a:pPr>
          </a:p>
        </p:txBody>
      </p:sp>
      <p:sp>
        <p:nvSpPr>
          <p:cNvPr name="TextBox 11" id="11"/>
          <p:cNvSpPr txBox="true"/>
          <p:nvPr/>
        </p:nvSpPr>
        <p:spPr>
          <a:xfrm rot="0">
            <a:off x="516718" y="5304408"/>
            <a:ext cx="3496419" cy="621030"/>
          </a:xfrm>
          <a:prstGeom prst="rect">
            <a:avLst/>
          </a:prstGeom>
        </p:spPr>
        <p:txBody>
          <a:bodyPr anchor="t" rtlCol="false" tIns="0" lIns="0" bIns="0" rIns="0">
            <a:spAutoFit/>
          </a:bodyPr>
          <a:lstStyle/>
          <a:p>
            <a:pPr algn="l">
              <a:lnSpc>
                <a:spcPts val="2520"/>
              </a:lnSpc>
              <a:spcBef>
                <a:spcPct val="0"/>
              </a:spcBef>
            </a:pPr>
            <a:r>
              <a:rPr lang="en-US" sz="1800" spc="-54">
                <a:solidFill>
                  <a:srgbClr val="CA0013"/>
                </a:solidFill>
                <a:latin typeface="Inter"/>
                <a:ea typeface="Inter"/>
                <a:cs typeface="Inter"/>
                <a:sym typeface="Inter"/>
              </a:rPr>
              <a:t>RANDOM FOREST · PURE DART · &lt;160MS · FULLY OFFLINE</a:t>
            </a:r>
          </a:p>
        </p:txBody>
      </p:sp>
      <p:grpSp>
        <p:nvGrpSpPr>
          <p:cNvPr name="Group 12" id="12"/>
          <p:cNvGrpSpPr/>
          <p:nvPr/>
        </p:nvGrpSpPr>
        <p:grpSpPr>
          <a:xfrm rot="0">
            <a:off x="4542892" y="4403902"/>
            <a:ext cx="4101841" cy="1933819"/>
            <a:chOff x="0" y="0"/>
            <a:chExt cx="1080320" cy="509319"/>
          </a:xfrm>
        </p:grpSpPr>
        <p:sp>
          <p:nvSpPr>
            <p:cNvPr name="Freeform 13" id="13"/>
            <p:cNvSpPr/>
            <p:nvPr/>
          </p:nvSpPr>
          <p:spPr>
            <a:xfrm flipH="false" flipV="false" rot="0">
              <a:off x="0" y="0"/>
              <a:ext cx="1080320" cy="509319"/>
            </a:xfrm>
            <a:custGeom>
              <a:avLst/>
              <a:gdLst/>
              <a:ahLst/>
              <a:cxnLst/>
              <a:rect r="r" b="b" t="t" l="l"/>
              <a:pathLst>
                <a:path h="509319" w="1080320">
                  <a:moveTo>
                    <a:pt x="96259" y="0"/>
                  </a:moveTo>
                  <a:lnTo>
                    <a:pt x="984061" y="0"/>
                  </a:lnTo>
                  <a:cubicBezTo>
                    <a:pt x="1009591" y="0"/>
                    <a:pt x="1034075" y="10142"/>
                    <a:pt x="1052127" y="28194"/>
                  </a:cubicBezTo>
                  <a:cubicBezTo>
                    <a:pt x="1070179" y="46246"/>
                    <a:pt x="1080320" y="70729"/>
                    <a:pt x="1080320" y="96259"/>
                  </a:cubicBezTo>
                  <a:lnTo>
                    <a:pt x="1080320" y="413060"/>
                  </a:lnTo>
                  <a:cubicBezTo>
                    <a:pt x="1080320" y="466222"/>
                    <a:pt x="1037224" y="509319"/>
                    <a:pt x="984061" y="509319"/>
                  </a:cubicBezTo>
                  <a:lnTo>
                    <a:pt x="96259" y="509319"/>
                  </a:lnTo>
                  <a:cubicBezTo>
                    <a:pt x="70729" y="509319"/>
                    <a:pt x="46246" y="499177"/>
                    <a:pt x="28194" y="481125"/>
                  </a:cubicBezTo>
                  <a:cubicBezTo>
                    <a:pt x="10142" y="463073"/>
                    <a:pt x="0" y="438589"/>
                    <a:pt x="0" y="413060"/>
                  </a:cubicBezTo>
                  <a:lnTo>
                    <a:pt x="0" y="96259"/>
                  </a:lnTo>
                  <a:cubicBezTo>
                    <a:pt x="0" y="43096"/>
                    <a:pt x="43096" y="0"/>
                    <a:pt x="96259" y="0"/>
                  </a:cubicBezTo>
                  <a:close/>
                </a:path>
              </a:pathLst>
            </a:custGeom>
            <a:solidFill>
              <a:srgbClr val="CBC4B3"/>
            </a:solidFill>
          </p:spPr>
        </p:sp>
        <p:sp>
          <p:nvSpPr>
            <p:cNvPr name="TextBox 14" id="14"/>
            <p:cNvSpPr txBox="true"/>
            <p:nvPr/>
          </p:nvSpPr>
          <p:spPr>
            <a:xfrm>
              <a:off x="0" y="-38100"/>
              <a:ext cx="1080320" cy="547419"/>
            </a:xfrm>
            <a:prstGeom prst="rect">
              <a:avLst/>
            </a:prstGeom>
          </p:spPr>
          <p:txBody>
            <a:bodyPr anchor="ctr" rtlCol="false" tIns="50800" lIns="50800" bIns="50800" rIns="50800"/>
            <a:lstStyle/>
            <a:p>
              <a:pPr algn="ctr">
                <a:lnSpc>
                  <a:spcPts val="2520"/>
                </a:lnSpc>
              </a:pPr>
            </a:p>
          </p:txBody>
        </p:sp>
      </p:grpSp>
      <p:sp>
        <p:nvSpPr>
          <p:cNvPr name="TextBox 15" id="15"/>
          <p:cNvSpPr txBox="true"/>
          <p:nvPr/>
        </p:nvSpPr>
        <p:spPr>
          <a:xfrm rot="0">
            <a:off x="4806944" y="4721478"/>
            <a:ext cx="3573735"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LAYER 2 — CLOUD ML (AWS EC2)</a:t>
            </a:r>
          </a:p>
          <a:p>
            <a:pPr algn="ctr">
              <a:lnSpc>
                <a:spcPts val="2520"/>
              </a:lnSpc>
              <a:spcBef>
                <a:spcPct val="0"/>
              </a:spcBef>
            </a:pPr>
          </a:p>
        </p:txBody>
      </p:sp>
      <p:sp>
        <p:nvSpPr>
          <p:cNvPr name="TextBox 16" id="16"/>
          <p:cNvSpPr txBox="true"/>
          <p:nvPr/>
        </p:nvSpPr>
        <p:spPr>
          <a:xfrm rot="0">
            <a:off x="4806944" y="5088041"/>
            <a:ext cx="3496419" cy="1249680"/>
          </a:xfrm>
          <a:prstGeom prst="rect">
            <a:avLst/>
          </a:prstGeom>
        </p:spPr>
        <p:txBody>
          <a:bodyPr anchor="t" rtlCol="false" tIns="0" lIns="0" bIns="0" rIns="0">
            <a:spAutoFit/>
          </a:bodyPr>
          <a:lstStyle/>
          <a:p>
            <a:pPr algn="l">
              <a:lnSpc>
                <a:spcPts val="2520"/>
              </a:lnSpc>
              <a:spcBef>
                <a:spcPct val="0"/>
              </a:spcBef>
            </a:pPr>
            <a:r>
              <a:rPr lang="en-US" sz="1800" spc="-54">
                <a:solidFill>
                  <a:srgbClr val="CA0013"/>
                </a:solidFill>
                <a:latin typeface="Inter"/>
                <a:ea typeface="Inter"/>
                <a:cs typeface="Inter"/>
                <a:sym typeface="Inter"/>
              </a:rPr>
              <a:t>RANDOM FOREST · SCIKIT-LEARN · 96.9% ACCURACY · HIGH RISK RECALL OPTIMISED</a:t>
            </a:r>
          </a:p>
          <a:p>
            <a:pPr algn="l">
              <a:lnSpc>
                <a:spcPts val="2520"/>
              </a:lnSpc>
              <a:spcBef>
                <a:spcPct val="0"/>
              </a:spcBef>
            </a:pPr>
          </a:p>
        </p:txBody>
      </p:sp>
      <p:grpSp>
        <p:nvGrpSpPr>
          <p:cNvPr name="Group 17" id="17"/>
          <p:cNvGrpSpPr/>
          <p:nvPr/>
        </p:nvGrpSpPr>
        <p:grpSpPr>
          <a:xfrm rot="0">
            <a:off x="8873332" y="4403902"/>
            <a:ext cx="4101841" cy="1933819"/>
            <a:chOff x="0" y="0"/>
            <a:chExt cx="1080320" cy="509319"/>
          </a:xfrm>
        </p:grpSpPr>
        <p:sp>
          <p:nvSpPr>
            <p:cNvPr name="Freeform 18" id="18"/>
            <p:cNvSpPr/>
            <p:nvPr/>
          </p:nvSpPr>
          <p:spPr>
            <a:xfrm flipH="false" flipV="false" rot="0">
              <a:off x="0" y="0"/>
              <a:ext cx="1080320" cy="509319"/>
            </a:xfrm>
            <a:custGeom>
              <a:avLst/>
              <a:gdLst/>
              <a:ahLst/>
              <a:cxnLst/>
              <a:rect r="r" b="b" t="t" l="l"/>
              <a:pathLst>
                <a:path h="509319" w="1080320">
                  <a:moveTo>
                    <a:pt x="96259" y="0"/>
                  </a:moveTo>
                  <a:lnTo>
                    <a:pt x="984061" y="0"/>
                  </a:lnTo>
                  <a:cubicBezTo>
                    <a:pt x="1009591" y="0"/>
                    <a:pt x="1034075" y="10142"/>
                    <a:pt x="1052127" y="28194"/>
                  </a:cubicBezTo>
                  <a:cubicBezTo>
                    <a:pt x="1070179" y="46246"/>
                    <a:pt x="1080320" y="70729"/>
                    <a:pt x="1080320" y="96259"/>
                  </a:cubicBezTo>
                  <a:lnTo>
                    <a:pt x="1080320" y="413060"/>
                  </a:lnTo>
                  <a:cubicBezTo>
                    <a:pt x="1080320" y="466222"/>
                    <a:pt x="1037224" y="509319"/>
                    <a:pt x="984061" y="509319"/>
                  </a:cubicBezTo>
                  <a:lnTo>
                    <a:pt x="96259" y="509319"/>
                  </a:lnTo>
                  <a:cubicBezTo>
                    <a:pt x="70729" y="509319"/>
                    <a:pt x="46246" y="499177"/>
                    <a:pt x="28194" y="481125"/>
                  </a:cubicBezTo>
                  <a:cubicBezTo>
                    <a:pt x="10142" y="463073"/>
                    <a:pt x="0" y="438589"/>
                    <a:pt x="0" y="413060"/>
                  </a:cubicBezTo>
                  <a:lnTo>
                    <a:pt x="0" y="96259"/>
                  </a:lnTo>
                  <a:cubicBezTo>
                    <a:pt x="0" y="43096"/>
                    <a:pt x="43096" y="0"/>
                    <a:pt x="96259" y="0"/>
                  </a:cubicBezTo>
                  <a:close/>
                </a:path>
              </a:pathLst>
            </a:custGeom>
            <a:solidFill>
              <a:srgbClr val="CBC4B3"/>
            </a:solidFill>
          </p:spPr>
        </p:sp>
        <p:sp>
          <p:nvSpPr>
            <p:cNvPr name="TextBox 19" id="19"/>
            <p:cNvSpPr txBox="true"/>
            <p:nvPr/>
          </p:nvSpPr>
          <p:spPr>
            <a:xfrm>
              <a:off x="0" y="-38100"/>
              <a:ext cx="1080320" cy="547419"/>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9176043" y="4721478"/>
            <a:ext cx="3121670"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LAYER 3 — GEMINI AI COACH</a:t>
            </a:r>
          </a:p>
          <a:p>
            <a:pPr algn="ctr">
              <a:lnSpc>
                <a:spcPts val="2520"/>
              </a:lnSpc>
              <a:spcBef>
                <a:spcPct val="0"/>
              </a:spcBef>
            </a:pPr>
          </a:p>
        </p:txBody>
      </p:sp>
      <p:sp>
        <p:nvSpPr>
          <p:cNvPr name="TextBox 21" id="21"/>
          <p:cNvSpPr txBox="true"/>
          <p:nvPr/>
        </p:nvSpPr>
        <p:spPr>
          <a:xfrm rot="0">
            <a:off x="9176043" y="5088041"/>
            <a:ext cx="3496419" cy="1249680"/>
          </a:xfrm>
          <a:prstGeom prst="rect">
            <a:avLst/>
          </a:prstGeom>
        </p:spPr>
        <p:txBody>
          <a:bodyPr anchor="t" rtlCol="false" tIns="0" lIns="0" bIns="0" rIns="0">
            <a:spAutoFit/>
          </a:bodyPr>
          <a:lstStyle/>
          <a:p>
            <a:pPr algn="l">
              <a:lnSpc>
                <a:spcPts val="2520"/>
              </a:lnSpc>
              <a:spcBef>
                <a:spcPct val="0"/>
              </a:spcBef>
            </a:pPr>
            <a:r>
              <a:rPr lang="en-US" sz="1800" spc="-54">
                <a:solidFill>
                  <a:srgbClr val="CA0013"/>
                </a:solidFill>
                <a:latin typeface="Inter"/>
                <a:ea typeface="Inter"/>
                <a:cs typeface="Inter"/>
                <a:sym typeface="Inter"/>
              </a:rPr>
              <a:t>N</a:t>
            </a:r>
            <a:r>
              <a:rPr lang="en-US" sz="1800" spc="-54">
                <a:solidFill>
                  <a:srgbClr val="CA0013"/>
                </a:solidFill>
                <a:latin typeface="Inter"/>
                <a:ea typeface="Inter"/>
                <a:cs typeface="Inter"/>
                <a:sym typeface="Inter"/>
              </a:rPr>
              <a:t>ARRATIVE RECOMMENDATIONS · TEMPERATURE 0.4 · DUAL-PATH FALLBACK — NEVER OFFLINE</a:t>
            </a:r>
          </a:p>
          <a:p>
            <a:pPr algn="l">
              <a:lnSpc>
                <a:spcPts val="2520"/>
              </a:lnSpc>
              <a:spcBef>
                <a:spcPct val="0"/>
              </a:spcBef>
            </a:pPr>
          </a:p>
        </p:txBody>
      </p:sp>
      <p:sp>
        <p:nvSpPr>
          <p:cNvPr name="TextBox 22" id="22"/>
          <p:cNvSpPr txBox="true"/>
          <p:nvPr/>
        </p:nvSpPr>
        <p:spPr>
          <a:xfrm rot="0">
            <a:off x="214007" y="6783662"/>
            <a:ext cx="12878896" cy="935355"/>
          </a:xfrm>
          <a:prstGeom prst="rect">
            <a:avLst/>
          </a:prstGeom>
        </p:spPr>
        <p:txBody>
          <a:bodyPr anchor="t" rtlCol="false" tIns="0" lIns="0" bIns="0" rIns="0">
            <a:spAutoFit/>
          </a:bodyPr>
          <a:lstStyle/>
          <a:p>
            <a:pPr algn="l">
              <a:lnSpc>
                <a:spcPts val="2520"/>
              </a:lnSpc>
              <a:spcBef>
                <a:spcPct val="0"/>
              </a:spcBef>
            </a:pPr>
            <a:r>
              <a:rPr lang="en-US" b="true" sz="1800" spc="-54">
                <a:solidFill>
                  <a:srgbClr val="CA0013"/>
                </a:solidFill>
                <a:latin typeface="Inter Bold"/>
                <a:ea typeface="Inter Bold"/>
                <a:cs typeface="Inter Bold"/>
                <a:sym typeface="Inter Bold"/>
              </a:rPr>
              <a:t>RISK CLASSIFICATION: LOW (0.0–0.49) → CONTINUE SAFELY · MODERATE (0.50–0.79) → SLOW DOWN · HIGH (0.80–1.0) → STOP IMMEDIATELY + ALERT DOCTOR</a:t>
            </a:r>
          </a:p>
          <a:p>
            <a:pPr algn="l">
              <a:lnSpc>
                <a:spcPts val="2520"/>
              </a:lnSpc>
              <a:spcBef>
                <a:spcPct val="0"/>
              </a:spcBef>
            </a:pPr>
          </a:p>
        </p:txBody>
      </p:sp>
      <p:sp>
        <p:nvSpPr>
          <p:cNvPr name="Freeform 23" id="23"/>
          <p:cNvSpPr/>
          <p:nvPr/>
        </p:nvSpPr>
        <p:spPr>
          <a:xfrm flipH="false" flipV="false" rot="0">
            <a:off x="-125275" y="8252359"/>
            <a:ext cx="2048381" cy="2164735"/>
          </a:xfrm>
          <a:custGeom>
            <a:avLst/>
            <a:gdLst/>
            <a:ahLst/>
            <a:cxnLst/>
            <a:rect r="r" b="b" t="t" l="l"/>
            <a:pathLst>
              <a:path h="2164735" w="2048381">
                <a:moveTo>
                  <a:pt x="0" y="0"/>
                </a:moveTo>
                <a:lnTo>
                  <a:pt x="2048381" y="0"/>
                </a:lnTo>
                <a:lnTo>
                  <a:pt x="2048381" y="2164736"/>
                </a:lnTo>
                <a:lnTo>
                  <a:pt x="0" y="2164736"/>
                </a:lnTo>
                <a:lnTo>
                  <a:pt x="0" y="0"/>
                </a:lnTo>
                <a:close/>
              </a:path>
            </a:pathLst>
          </a:custGeom>
          <a:blipFill>
            <a:blip r:embed="rId5"/>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648535" y="4189664"/>
            <a:ext cx="760330" cy="760330"/>
          </a:xfrm>
          <a:custGeom>
            <a:avLst/>
            <a:gdLst/>
            <a:ahLst/>
            <a:cxnLst/>
            <a:rect r="r" b="b" t="t" l="l"/>
            <a:pathLst>
              <a:path h="760330" w="760330">
                <a:moveTo>
                  <a:pt x="0" y="0"/>
                </a:moveTo>
                <a:lnTo>
                  <a:pt x="760330" y="0"/>
                </a:lnTo>
                <a:lnTo>
                  <a:pt x="760330" y="760329"/>
                </a:lnTo>
                <a:lnTo>
                  <a:pt x="0" y="760329"/>
                </a:lnTo>
                <a:lnTo>
                  <a:pt x="0" y="0"/>
                </a:lnTo>
                <a:close/>
              </a:path>
            </a:pathLst>
          </a:custGeom>
          <a:blipFill>
            <a:blip r:embed="rId3"/>
            <a:stretch>
              <a:fillRect l="0" t="0" r="0" b="0"/>
            </a:stretch>
          </a:blipFill>
          <a:ln cap="sq">
            <a:noFill/>
            <a:prstDash val="solid"/>
            <a:miter/>
          </a:ln>
        </p:spPr>
      </p:sp>
      <p:sp>
        <p:nvSpPr>
          <p:cNvPr name="Freeform 3" id="3"/>
          <p:cNvSpPr/>
          <p:nvPr/>
        </p:nvSpPr>
        <p:spPr>
          <a:xfrm flipH="false" flipV="false" rot="0">
            <a:off x="605856" y="5604385"/>
            <a:ext cx="845687" cy="845687"/>
          </a:xfrm>
          <a:custGeom>
            <a:avLst/>
            <a:gdLst/>
            <a:ahLst/>
            <a:cxnLst/>
            <a:rect r="r" b="b" t="t" l="l"/>
            <a:pathLst>
              <a:path h="845687" w="845687">
                <a:moveTo>
                  <a:pt x="0" y="0"/>
                </a:moveTo>
                <a:lnTo>
                  <a:pt x="845688" y="0"/>
                </a:lnTo>
                <a:lnTo>
                  <a:pt x="845688" y="845687"/>
                </a:lnTo>
                <a:lnTo>
                  <a:pt x="0" y="845687"/>
                </a:lnTo>
                <a:lnTo>
                  <a:pt x="0" y="0"/>
                </a:lnTo>
                <a:close/>
              </a:path>
            </a:pathLst>
          </a:custGeom>
          <a:blipFill>
            <a:blip r:embed="rId4"/>
            <a:stretch>
              <a:fillRect l="0" t="0" r="0" b="0"/>
            </a:stretch>
          </a:blipFill>
          <a:ln cap="sq">
            <a:noFill/>
            <a:prstDash val="solid"/>
            <a:miter/>
          </a:ln>
        </p:spPr>
      </p:sp>
      <p:sp>
        <p:nvSpPr>
          <p:cNvPr name="Freeform 4" id="4"/>
          <p:cNvSpPr/>
          <p:nvPr/>
        </p:nvSpPr>
        <p:spPr>
          <a:xfrm flipH="false" flipV="false" rot="0">
            <a:off x="9435223" y="7279870"/>
            <a:ext cx="973381" cy="973381"/>
          </a:xfrm>
          <a:custGeom>
            <a:avLst/>
            <a:gdLst/>
            <a:ahLst/>
            <a:cxnLst/>
            <a:rect r="r" b="b" t="t" l="l"/>
            <a:pathLst>
              <a:path h="973381" w="973381">
                <a:moveTo>
                  <a:pt x="0" y="0"/>
                </a:moveTo>
                <a:lnTo>
                  <a:pt x="973381" y="0"/>
                </a:lnTo>
                <a:lnTo>
                  <a:pt x="973381" y="973381"/>
                </a:lnTo>
                <a:lnTo>
                  <a:pt x="0" y="973381"/>
                </a:lnTo>
                <a:lnTo>
                  <a:pt x="0" y="0"/>
                </a:lnTo>
                <a:close/>
              </a:path>
            </a:pathLst>
          </a:custGeom>
          <a:blipFill>
            <a:blip r:embed="rId5"/>
            <a:stretch>
              <a:fillRect l="0" t="0" r="0" b="0"/>
            </a:stretch>
          </a:blipFill>
          <a:ln cap="sq">
            <a:noFill/>
            <a:prstDash val="solid"/>
            <a:miter/>
          </a:ln>
        </p:spPr>
      </p:sp>
      <p:sp>
        <p:nvSpPr>
          <p:cNvPr name="Freeform 5" id="5"/>
          <p:cNvSpPr/>
          <p:nvPr/>
        </p:nvSpPr>
        <p:spPr>
          <a:xfrm flipH="false" flipV="false" rot="0">
            <a:off x="9482070" y="5514095"/>
            <a:ext cx="879686" cy="879686"/>
          </a:xfrm>
          <a:custGeom>
            <a:avLst/>
            <a:gdLst/>
            <a:ahLst/>
            <a:cxnLst/>
            <a:rect r="r" b="b" t="t" l="l"/>
            <a:pathLst>
              <a:path h="879686" w="879686">
                <a:moveTo>
                  <a:pt x="0" y="0"/>
                </a:moveTo>
                <a:lnTo>
                  <a:pt x="879687" y="0"/>
                </a:lnTo>
                <a:lnTo>
                  <a:pt x="879687" y="879686"/>
                </a:lnTo>
                <a:lnTo>
                  <a:pt x="0" y="879686"/>
                </a:lnTo>
                <a:lnTo>
                  <a:pt x="0" y="0"/>
                </a:lnTo>
                <a:close/>
              </a:path>
            </a:pathLst>
          </a:custGeom>
          <a:blipFill>
            <a:blip r:embed="rId6"/>
            <a:stretch>
              <a:fillRect l="0" t="0" r="0" b="0"/>
            </a:stretch>
          </a:blipFill>
          <a:ln cap="sq">
            <a:noFill/>
            <a:prstDash val="solid"/>
            <a:miter/>
          </a:ln>
        </p:spPr>
      </p:sp>
      <p:sp>
        <p:nvSpPr>
          <p:cNvPr name="Freeform 6" id="6"/>
          <p:cNvSpPr/>
          <p:nvPr/>
        </p:nvSpPr>
        <p:spPr>
          <a:xfrm flipH="false" flipV="false" rot="0">
            <a:off x="751865" y="7256942"/>
            <a:ext cx="782354" cy="782354"/>
          </a:xfrm>
          <a:custGeom>
            <a:avLst/>
            <a:gdLst/>
            <a:ahLst/>
            <a:cxnLst/>
            <a:rect r="r" b="b" t="t" l="l"/>
            <a:pathLst>
              <a:path h="782354" w="782354">
                <a:moveTo>
                  <a:pt x="0" y="0"/>
                </a:moveTo>
                <a:lnTo>
                  <a:pt x="782354" y="0"/>
                </a:lnTo>
                <a:lnTo>
                  <a:pt x="782354" y="782354"/>
                </a:lnTo>
                <a:lnTo>
                  <a:pt x="0" y="782354"/>
                </a:lnTo>
                <a:lnTo>
                  <a:pt x="0" y="0"/>
                </a:lnTo>
                <a:close/>
              </a:path>
            </a:pathLst>
          </a:custGeom>
          <a:blipFill>
            <a:blip r:embed="rId7"/>
            <a:stretch>
              <a:fillRect l="0" t="0" r="0" b="0"/>
            </a:stretch>
          </a:blipFill>
          <a:ln cap="sq">
            <a:noFill/>
            <a:prstDash val="solid"/>
            <a:miter/>
          </a:ln>
        </p:spPr>
      </p:sp>
      <p:sp>
        <p:nvSpPr>
          <p:cNvPr name="Freeform 7" id="7"/>
          <p:cNvSpPr/>
          <p:nvPr/>
        </p:nvSpPr>
        <p:spPr>
          <a:xfrm flipH="false" flipV="false" rot="0">
            <a:off x="9501518" y="4189664"/>
            <a:ext cx="840792" cy="840792"/>
          </a:xfrm>
          <a:custGeom>
            <a:avLst/>
            <a:gdLst/>
            <a:ahLst/>
            <a:cxnLst/>
            <a:rect r="r" b="b" t="t" l="l"/>
            <a:pathLst>
              <a:path h="840792" w="840792">
                <a:moveTo>
                  <a:pt x="0" y="0"/>
                </a:moveTo>
                <a:lnTo>
                  <a:pt x="840791" y="0"/>
                </a:lnTo>
                <a:lnTo>
                  <a:pt x="840791" y="840792"/>
                </a:lnTo>
                <a:lnTo>
                  <a:pt x="0" y="840792"/>
                </a:lnTo>
                <a:lnTo>
                  <a:pt x="0" y="0"/>
                </a:lnTo>
                <a:close/>
              </a:path>
            </a:pathLst>
          </a:custGeom>
          <a:blipFill>
            <a:blip r:embed="rId8"/>
            <a:stretch>
              <a:fillRect l="0" t="0" r="0" b="0"/>
            </a:stretch>
          </a:blipFill>
          <a:ln cap="sq">
            <a:noFill/>
            <a:prstDash val="solid"/>
            <a:miter/>
          </a:ln>
        </p:spPr>
      </p:sp>
      <p:sp>
        <p:nvSpPr>
          <p:cNvPr name="TextBox 8" id="8"/>
          <p:cNvSpPr txBox="true"/>
          <p:nvPr/>
        </p:nvSpPr>
        <p:spPr>
          <a:xfrm rot="0">
            <a:off x="422706" y="1587912"/>
            <a:ext cx="17865294" cy="1048384"/>
          </a:xfrm>
          <a:prstGeom prst="rect">
            <a:avLst/>
          </a:prstGeom>
        </p:spPr>
        <p:txBody>
          <a:bodyPr anchor="t" rtlCol="false" tIns="0" lIns="0" bIns="0" rIns="0">
            <a:spAutoFit/>
          </a:bodyPr>
          <a:lstStyle/>
          <a:p>
            <a:pPr algn="l" marL="0" indent="0" lvl="0">
              <a:lnSpc>
                <a:spcPts val="7479"/>
              </a:lnSpc>
            </a:pPr>
            <a:r>
              <a:rPr lang="en-US" b="true" sz="8799">
                <a:solidFill>
                  <a:srgbClr val="CA0013"/>
                </a:solidFill>
                <a:latin typeface="Inter Bold"/>
                <a:ea typeface="Inter Bold"/>
                <a:cs typeface="Inter Bold"/>
                <a:sym typeface="Inter Bold"/>
              </a:rPr>
              <a:t>SECURITY</a:t>
            </a:r>
          </a:p>
        </p:txBody>
      </p:sp>
      <p:sp>
        <p:nvSpPr>
          <p:cNvPr name="TextBox 9" id="9"/>
          <p:cNvSpPr txBox="true"/>
          <p:nvPr/>
        </p:nvSpPr>
        <p:spPr>
          <a:xfrm rot="0">
            <a:off x="422706" y="2931571"/>
            <a:ext cx="6966049" cy="372745"/>
          </a:xfrm>
          <a:prstGeom prst="rect">
            <a:avLst/>
          </a:prstGeom>
        </p:spPr>
        <p:txBody>
          <a:bodyPr anchor="t" rtlCol="false" tIns="0" lIns="0" bIns="0" rIns="0">
            <a:spAutoFit/>
          </a:bodyPr>
          <a:lstStyle/>
          <a:p>
            <a:pPr algn="ctr">
              <a:lnSpc>
                <a:spcPts val="3079"/>
              </a:lnSpc>
              <a:spcBef>
                <a:spcPct val="0"/>
              </a:spcBef>
            </a:pPr>
            <a:r>
              <a:rPr lang="en-US" b="true" sz="2199" spc="-65">
                <a:solidFill>
                  <a:srgbClr val="CA0013"/>
                </a:solidFill>
                <a:latin typeface="Inter Bold"/>
                <a:ea typeface="Inter Bold"/>
                <a:cs typeface="Inter Bold"/>
                <a:sym typeface="Inter Bold"/>
              </a:rPr>
              <a:t>HEALTHCARE-GRADE SECURITY. NO COMPROMISES.</a:t>
            </a:r>
          </a:p>
        </p:txBody>
      </p:sp>
      <p:sp>
        <p:nvSpPr>
          <p:cNvPr name="TextBox 10" id="10"/>
          <p:cNvSpPr txBox="true"/>
          <p:nvPr/>
        </p:nvSpPr>
        <p:spPr>
          <a:xfrm rot="0">
            <a:off x="1845202" y="4160688"/>
            <a:ext cx="4515296"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ARGON2ID PASSWORD HASHING</a:t>
            </a:r>
          </a:p>
          <a:p>
            <a:pPr algn="ctr">
              <a:lnSpc>
                <a:spcPts val="3219"/>
              </a:lnSpc>
              <a:spcBef>
                <a:spcPct val="0"/>
              </a:spcBef>
            </a:pPr>
          </a:p>
        </p:txBody>
      </p:sp>
      <p:sp>
        <p:nvSpPr>
          <p:cNvPr name="TextBox 11" id="11"/>
          <p:cNvSpPr txBox="true"/>
          <p:nvPr/>
        </p:nvSpPr>
        <p:spPr>
          <a:xfrm rot="0">
            <a:off x="1845202" y="4557563"/>
            <a:ext cx="6906071" cy="737235"/>
          </a:xfrm>
          <a:prstGeom prst="rect">
            <a:avLst/>
          </a:prstGeom>
        </p:spPr>
        <p:txBody>
          <a:bodyPr anchor="t" rtlCol="false" tIns="0" lIns="0" bIns="0" rIns="0">
            <a:spAutoFit/>
          </a:bodyPr>
          <a:lstStyle/>
          <a:p>
            <a:pPr algn="ctr">
              <a:lnSpc>
                <a:spcPts val="2940"/>
              </a:lnSpc>
              <a:spcBef>
                <a:spcPct val="0"/>
              </a:spcBef>
            </a:pPr>
            <a:r>
              <a:rPr lang="en-US" sz="2100" spc="-63">
                <a:solidFill>
                  <a:srgbClr val="CA0013"/>
                </a:solidFill>
                <a:latin typeface="Inter"/>
                <a:ea typeface="Inter"/>
                <a:cs typeface="Inter"/>
                <a:sym typeface="Inter"/>
              </a:rPr>
              <a:t>OWASP &amp; NIST SP 800-63B RECOMMENDED STANDARD.</a:t>
            </a:r>
          </a:p>
          <a:p>
            <a:pPr algn="ctr">
              <a:lnSpc>
                <a:spcPts val="2940"/>
              </a:lnSpc>
              <a:spcBef>
                <a:spcPct val="0"/>
              </a:spcBef>
            </a:pPr>
          </a:p>
        </p:txBody>
      </p:sp>
      <p:sp>
        <p:nvSpPr>
          <p:cNvPr name="TextBox 12" id="12"/>
          <p:cNvSpPr txBox="true"/>
          <p:nvPr/>
        </p:nvSpPr>
        <p:spPr>
          <a:xfrm rot="0">
            <a:off x="1748166" y="5556760"/>
            <a:ext cx="3550072" cy="789305"/>
          </a:xfrm>
          <a:prstGeom prst="rect">
            <a:avLst/>
          </a:prstGeom>
        </p:spPr>
        <p:txBody>
          <a:bodyPr anchor="t" rtlCol="false" tIns="0" lIns="0" bIns="0" rIns="0">
            <a:spAutoFit/>
          </a:bodyPr>
          <a:lstStyle/>
          <a:p>
            <a:pPr algn="l">
              <a:lnSpc>
                <a:spcPts val="3219"/>
              </a:lnSpc>
              <a:spcBef>
                <a:spcPct val="0"/>
              </a:spcBef>
            </a:pPr>
            <a:r>
              <a:rPr lang="en-US" b="true" sz="2299" spc="-68">
                <a:solidFill>
                  <a:srgbClr val="CA0013"/>
                </a:solidFill>
                <a:latin typeface="Inter Bold"/>
                <a:ea typeface="Inter Bold"/>
                <a:cs typeface="Inter Bold"/>
                <a:sym typeface="Inter Bold"/>
              </a:rPr>
              <a:t>JWT W</a:t>
            </a:r>
            <a:r>
              <a:rPr lang="en-US" b="true" sz="2299" spc="-68">
                <a:solidFill>
                  <a:srgbClr val="CA0013"/>
                </a:solidFill>
                <a:latin typeface="Inter Bold"/>
                <a:ea typeface="Inter Bold"/>
                <a:cs typeface="Inter Bold"/>
                <a:sym typeface="Inter Bold"/>
              </a:rPr>
              <a:t>ITH JTI BLOCKLIST</a:t>
            </a:r>
          </a:p>
          <a:p>
            <a:pPr algn="l">
              <a:lnSpc>
                <a:spcPts val="3219"/>
              </a:lnSpc>
              <a:spcBef>
                <a:spcPct val="0"/>
              </a:spcBef>
            </a:pPr>
          </a:p>
        </p:txBody>
      </p:sp>
      <p:sp>
        <p:nvSpPr>
          <p:cNvPr name="TextBox 13" id="13"/>
          <p:cNvSpPr txBox="true"/>
          <p:nvPr/>
        </p:nvSpPr>
        <p:spPr>
          <a:xfrm rot="0">
            <a:off x="1748166" y="5953635"/>
            <a:ext cx="7687057" cy="1108710"/>
          </a:xfrm>
          <a:prstGeom prst="rect">
            <a:avLst/>
          </a:prstGeom>
        </p:spPr>
        <p:txBody>
          <a:bodyPr anchor="t" rtlCol="false" tIns="0" lIns="0" bIns="0" rIns="0">
            <a:spAutoFit/>
          </a:bodyPr>
          <a:lstStyle/>
          <a:p>
            <a:pPr algn="l">
              <a:lnSpc>
                <a:spcPts val="2940"/>
              </a:lnSpc>
              <a:spcBef>
                <a:spcPct val="0"/>
              </a:spcBef>
            </a:pPr>
            <a:r>
              <a:rPr lang="en-US" sz="2100" spc="-63">
                <a:solidFill>
                  <a:srgbClr val="CA0013"/>
                </a:solidFill>
                <a:latin typeface="Inter"/>
                <a:ea typeface="Inter"/>
                <a:cs typeface="Inter"/>
                <a:sym typeface="Inter"/>
              </a:rPr>
              <a:t>IMMEDIATE TOKEN REVOCATION ON LOGOUT — STATEFUL SESSION CONTROL.</a:t>
            </a:r>
          </a:p>
          <a:p>
            <a:pPr algn="l">
              <a:lnSpc>
                <a:spcPts val="2940"/>
              </a:lnSpc>
              <a:spcBef>
                <a:spcPct val="0"/>
              </a:spcBef>
            </a:pPr>
          </a:p>
        </p:txBody>
      </p:sp>
      <p:sp>
        <p:nvSpPr>
          <p:cNvPr name="TextBox 14" id="14"/>
          <p:cNvSpPr txBox="true"/>
          <p:nvPr/>
        </p:nvSpPr>
        <p:spPr>
          <a:xfrm rot="0">
            <a:off x="1748166" y="7348095"/>
            <a:ext cx="4192488" cy="789305"/>
          </a:xfrm>
          <a:prstGeom prst="rect">
            <a:avLst/>
          </a:prstGeom>
        </p:spPr>
        <p:txBody>
          <a:bodyPr anchor="t" rtlCol="false" tIns="0" lIns="0" bIns="0" rIns="0">
            <a:spAutoFit/>
          </a:bodyPr>
          <a:lstStyle/>
          <a:p>
            <a:pPr algn="l">
              <a:lnSpc>
                <a:spcPts val="3219"/>
              </a:lnSpc>
              <a:spcBef>
                <a:spcPct val="0"/>
              </a:spcBef>
            </a:pPr>
            <a:r>
              <a:rPr lang="en-US" b="true" sz="2299" spc="-68">
                <a:solidFill>
                  <a:srgbClr val="CA0013"/>
                </a:solidFill>
                <a:latin typeface="Inter Bold"/>
                <a:ea typeface="Inter Bold"/>
                <a:cs typeface="Inter Bold"/>
                <a:sym typeface="Inter Bold"/>
              </a:rPr>
              <a:t>HIPAA &amp; UAE</a:t>
            </a:r>
            <a:r>
              <a:rPr lang="en-US" b="true" sz="2299" spc="-68">
                <a:solidFill>
                  <a:srgbClr val="CA0013"/>
                </a:solidFill>
                <a:latin typeface="Inter Bold"/>
                <a:ea typeface="Inter Bold"/>
                <a:cs typeface="Inter Bold"/>
                <a:sym typeface="Inter Bold"/>
              </a:rPr>
              <a:t> DHA COMPLIANT</a:t>
            </a:r>
          </a:p>
          <a:p>
            <a:pPr algn="l">
              <a:lnSpc>
                <a:spcPts val="3219"/>
              </a:lnSpc>
              <a:spcBef>
                <a:spcPct val="0"/>
              </a:spcBef>
            </a:pPr>
          </a:p>
        </p:txBody>
      </p:sp>
      <p:sp>
        <p:nvSpPr>
          <p:cNvPr name="TextBox 15" id="15"/>
          <p:cNvSpPr txBox="true"/>
          <p:nvPr/>
        </p:nvSpPr>
        <p:spPr>
          <a:xfrm rot="0">
            <a:off x="1808269" y="7690995"/>
            <a:ext cx="7687057" cy="737235"/>
          </a:xfrm>
          <a:prstGeom prst="rect">
            <a:avLst/>
          </a:prstGeom>
        </p:spPr>
        <p:txBody>
          <a:bodyPr anchor="t" rtlCol="false" tIns="0" lIns="0" bIns="0" rIns="0">
            <a:spAutoFit/>
          </a:bodyPr>
          <a:lstStyle/>
          <a:p>
            <a:pPr algn="l">
              <a:lnSpc>
                <a:spcPts val="2940"/>
              </a:lnSpc>
              <a:spcBef>
                <a:spcPct val="0"/>
              </a:spcBef>
            </a:pPr>
            <a:r>
              <a:rPr lang="en-US" sz="2100" spc="-63">
                <a:solidFill>
                  <a:srgbClr val="CA0013"/>
                </a:solidFill>
                <a:latin typeface="Inter"/>
                <a:ea typeface="Inter"/>
                <a:cs typeface="Inter"/>
                <a:sym typeface="Inter"/>
              </a:rPr>
              <a:t>CLOU</a:t>
            </a:r>
            <a:r>
              <a:rPr lang="en-US" sz="2100" spc="-63">
                <a:solidFill>
                  <a:srgbClr val="CA0013"/>
                </a:solidFill>
                <a:latin typeface="Inter"/>
                <a:ea typeface="Inter"/>
                <a:cs typeface="Inter"/>
                <a:sym typeface="Inter"/>
              </a:rPr>
              <a:t>DTRAIL AUDIT LOGS WITH 6-YEAR RETENTION.</a:t>
            </a:r>
          </a:p>
          <a:p>
            <a:pPr algn="l">
              <a:lnSpc>
                <a:spcPts val="2940"/>
              </a:lnSpc>
              <a:spcBef>
                <a:spcPct val="0"/>
              </a:spcBef>
            </a:pPr>
          </a:p>
        </p:txBody>
      </p:sp>
      <p:sp>
        <p:nvSpPr>
          <p:cNvPr name="TextBox 16" id="16"/>
          <p:cNvSpPr txBox="true"/>
          <p:nvPr/>
        </p:nvSpPr>
        <p:spPr>
          <a:xfrm rot="0">
            <a:off x="10742757" y="4042927"/>
            <a:ext cx="3934271" cy="789305"/>
          </a:xfrm>
          <a:prstGeom prst="rect">
            <a:avLst/>
          </a:prstGeom>
        </p:spPr>
        <p:txBody>
          <a:bodyPr anchor="t" rtlCol="false" tIns="0" lIns="0" bIns="0" rIns="0">
            <a:spAutoFit/>
          </a:bodyPr>
          <a:lstStyle/>
          <a:p>
            <a:pPr algn="l">
              <a:lnSpc>
                <a:spcPts val="3219"/>
              </a:lnSpc>
              <a:spcBef>
                <a:spcPct val="0"/>
              </a:spcBef>
            </a:pPr>
            <a:r>
              <a:rPr lang="en-US" b="true" sz="2299" spc="-68">
                <a:solidFill>
                  <a:srgbClr val="CA0013"/>
                </a:solidFill>
                <a:latin typeface="Inter Bold"/>
                <a:ea typeface="Inter Bold"/>
                <a:cs typeface="Inter Bold"/>
                <a:sym typeface="Inter Bold"/>
              </a:rPr>
              <a:t>AES-256-GCM</a:t>
            </a:r>
            <a:r>
              <a:rPr lang="en-US" b="true" sz="2299" spc="-68">
                <a:solidFill>
                  <a:srgbClr val="CA0013"/>
                </a:solidFill>
                <a:latin typeface="Inter Bold"/>
                <a:ea typeface="Inter Bold"/>
                <a:cs typeface="Inter Bold"/>
                <a:sym typeface="Inter Bold"/>
              </a:rPr>
              <a:t> ENCRYPTION</a:t>
            </a:r>
          </a:p>
          <a:p>
            <a:pPr algn="l">
              <a:lnSpc>
                <a:spcPts val="3219"/>
              </a:lnSpc>
              <a:spcBef>
                <a:spcPct val="0"/>
              </a:spcBef>
            </a:pPr>
          </a:p>
        </p:txBody>
      </p:sp>
      <p:sp>
        <p:nvSpPr>
          <p:cNvPr name="TextBox 17" id="17"/>
          <p:cNvSpPr txBox="true"/>
          <p:nvPr/>
        </p:nvSpPr>
        <p:spPr>
          <a:xfrm rot="0">
            <a:off x="10742757" y="4439802"/>
            <a:ext cx="7687057" cy="737235"/>
          </a:xfrm>
          <a:prstGeom prst="rect">
            <a:avLst/>
          </a:prstGeom>
        </p:spPr>
        <p:txBody>
          <a:bodyPr anchor="t" rtlCol="false" tIns="0" lIns="0" bIns="0" rIns="0">
            <a:spAutoFit/>
          </a:bodyPr>
          <a:lstStyle/>
          <a:p>
            <a:pPr algn="l">
              <a:lnSpc>
                <a:spcPts val="2940"/>
              </a:lnSpc>
              <a:spcBef>
                <a:spcPct val="0"/>
              </a:spcBef>
            </a:pPr>
            <a:r>
              <a:rPr lang="en-US" sz="2100" spc="-63">
                <a:solidFill>
                  <a:srgbClr val="CA0013"/>
                </a:solidFill>
                <a:latin typeface="Inter"/>
                <a:ea typeface="Inter"/>
                <a:cs typeface="Inter"/>
                <a:sym typeface="Inter"/>
              </a:rPr>
              <a:t>EV</a:t>
            </a:r>
            <a:r>
              <a:rPr lang="en-US" sz="2100" spc="-63">
                <a:solidFill>
                  <a:srgbClr val="CA0013"/>
                </a:solidFill>
                <a:latin typeface="Inter"/>
                <a:ea typeface="Inter"/>
                <a:cs typeface="Inter"/>
                <a:sym typeface="Inter"/>
              </a:rPr>
              <a:t>ERY PHI FIELD ENCRYPTED BEFORE DATABASE STORAGE.</a:t>
            </a:r>
          </a:p>
          <a:p>
            <a:pPr algn="l">
              <a:lnSpc>
                <a:spcPts val="2940"/>
              </a:lnSpc>
              <a:spcBef>
                <a:spcPct val="0"/>
              </a:spcBef>
            </a:pPr>
          </a:p>
        </p:txBody>
      </p:sp>
      <p:sp>
        <p:nvSpPr>
          <p:cNvPr name="TextBox 18" id="18"/>
          <p:cNvSpPr txBox="true"/>
          <p:nvPr/>
        </p:nvSpPr>
        <p:spPr>
          <a:xfrm rot="0">
            <a:off x="10742757" y="5669109"/>
            <a:ext cx="2541538" cy="789305"/>
          </a:xfrm>
          <a:prstGeom prst="rect">
            <a:avLst/>
          </a:prstGeom>
        </p:spPr>
        <p:txBody>
          <a:bodyPr anchor="t" rtlCol="false" tIns="0" lIns="0" bIns="0" rIns="0">
            <a:spAutoFit/>
          </a:bodyPr>
          <a:lstStyle/>
          <a:p>
            <a:pPr algn="l">
              <a:lnSpc>
                <a:spcPts val="3219"/>
              </a:lnSpc>
              <a:spcBef>
                <a:spcPct val="0"/>
              </a:spcBef>
            </a:pPr>
            <a:r>
              <a:rPr lang="en-US" b="true" sz="2299" spc="-68">
                <a:solidFill>
                  <a:srgbClr val="CA0013"/>
                </a:solidFill>
                <a:latin typeface="Inter Bold"/>
                <a:ea typeface="Inter Bold"/>
                <a:cs typeface="Inter Bold"/>
                <a:sym typeface="Inter Bold"/>
              </a:rPr>
              <a:t>AWS PR</a:t>
            </a:r>
            <a:r>
              <a:rPr lang="en-US" b="true" sz="2299" spc="-68">
                <a:solidFill>
                  <a:srgbClr val="CA0013"/>
                </a:solidFill>
                <a:latin typeface="Inter Bold"/>
                <a:ea typeface="Inter Bold"/>
                <a:cs typeface="Inter Bold"/>
                <a:sym typeface="Inter Bold"/>
              </a:rPr>
              <a:t>IVATE VPC</a:t>
            </a:r>
          </a:p>
          <a:p>
            <a:pPr algn="l">
              <a:lnSpc>
                <a:spcPts val="3219"/>
              </a:lnSpc>
              <a:spcBef>
                <a:spcPct val="0"/>
              </a:spcBef>
            </a:pPr>
          </a:p>
        </p:txBody>
      </p:sp>
      <p:sp>
        <p:nvSpPr>
          <p:cNvPr name="TextBox 19" id="19"/>
          <p:cNvSpPr txBox="true"/>
          <p:nvPr/>
        </p:nvSpPr>
        <p:spPr>
          <a:xfrm rot="0">
            <a:off x="10742757" y="6065984"/>
            <a:ext cx="7687057" cy="737235"/>
          </a:xfrm>
          <a:prstGeom prst="rect">
            <a:avLst/>
          </a:prstGeom>
        </p:spPr>
        <p:txBody>
          <a:bodyPr anchor="t" rtlCol="false" tIns="0" lIns="0" bIns="0" rIns="0">
            <a:spAutoFit/>
          </a:bodyPr>
          <a:lstStyle/>
          <a:p>
            <a:pPr algn="l">
              <a:lnSpc>
                <a:spcPts val="2940"/>
              </a:lnSpc>
              <a:spcBef>
                <a:spcPct val="0"/>
              </a:spcBef>
            </a:pPr>
            <a:r>
              <a:rPr lang="en-US" sz="2100" spc="-63">
                <a:solidFill>
                  <a:srgbClr val="CA0013"/>
                </a:solidFill>
                <a:latin typeface="Inter"/>
                <a:ea typeface="Inter"/>
                <a:cs typeface="Inter"/>
                <a:sym typeface="Inter"/>
              </a:rPr>
              <a:t>D</a:t>
            </a:r>
            <a:r>
              <a:rPr lang="en-US" sz="2100" spc="-63">
                <a:solidFill>
                  <a:srgbClr val="CA0013"/>
                </a:solidFill>
                <a:latin typeface="Inter"/>
                <a:ea typeface="Inter"/>
                <a:cs typeface="Inter"/>
                <a:sym typeface="Inter"/>
              </a:rPr>
              <a:t>ATABASE HAS ZERO PUBLIC INTERNET ACCESS.</a:t>
            </a:r>
          </a:p>
          <a:p>
            <a:pPr algn="l">
              <a:lnSpc>
                <a:spcPts val="2940"/>
              </a:lnSpc>
              <a:spcBef>
                <a:spcPct val="0"/>
              </a:spcBef>
            </a:pPr>
          </a:p>
        </p:txBody>
      </p:sp>
      <p:sp>
        <p:nvSpPr>
          <p:cNvPr name="TextBox 20" id="20"/>
          <p:cNvSpPr txBox="true"/>
          <p:nvPr/>
        </p:nvSpPr>
        <p:spPr>
          <a:xfrm rot="0">
            <a:off x="10742757" y="7294120"/>
            <a:ext cx="4460304" cy="789305"/>
          </a:xfrm>
          <a:prstGeom prst="rect">
            <a:avLst/>
          </a:prstGeom>
        </p:spPr>
        <p:txBody>
          <a:bodyPr anchor="t" rtlCol="false" tIns="0" lIns="0" bIns="0" rIns="0">
            <a:spAutoFit/>
          </a:bodyPr>
          <a:lstStyle/>
          <a:p>
            <a:pPr algn="l">
              <a:lnSpc>
                <a:spcPts val="3219"/>
              </a:lnSpc>
              <a:spcBef>
                <a:spcPct val="0"/>
              </a:spcBef>
            </a:pPr>
            <a:r>
              <a:rPr lang="en-US" b="true" sz="2299" spc="-68">
                <a:solidFill>
                  <a:srgbClr val="CA0013"/>
                </a:solidFill>
                <a:latin typeface="Inter Bold"/>
                <a:ea typeface="Inter Bold"/>
                <a:cs typeface="Inter Bold"/>
                <a:sym typeface="Inter Bold"/>
              </a:rPr>
              <a:t>ROLE-BASED ACCESS CON</a:t>
            </a:r>
            <a:r>
              <a:rPr lang="en-US" b="true" sz="2299" spc="-68">
                <a:solidFill>
                  <a:srgbClr val="CA0013"/>
                </a:solidFill>
                <a:latin typeface="Inter Bold"/>
                <a:ea typeface="Inter Bold"/>
                <a:cs typeface="Inter Bold"/>
                <a:sym typeface="Inter Bold"/>
              </a:rPr>
              <a:t>TROL</a:t>
            </a:r>
          </a:p>
          <a:p>
            <a:pPr algn="l">
              <a:lnSpc>
                <a:spcPts val="3219"/>
              </a:lnSpc>
              <a:spcBef>
                <a:spcPct val="0"/>
              </a:spcBef>
            </a:pPr>
          </a:p>
        </p:txBody>
      </p:sp>
      <p:sp>
        <p:nvSpPr>
          <p:cNvPr name="TextBox 21" id="21"/>
          <p:cNvSpPr txBox="true"/>
          <p:nvPr/>
        </p:nvSpPr>
        <p:spPr>
          <a:xfrm rot="0">
            <a:off x="10742757" y="7690995"/>
            <a:ext cx="7687057" cy="1108710"/>
          </a:xfrm>
          <a:prstGeom prst="rect">
            <a:avLst/>
          </a:prstGeom>
        </p:spPr>
        <p:txBody>
          <a:bodyPr anchor="t" rtlCol="false" tIns="0" lIns="0" bIns="0" rIns="0">
            <a:spAutoFit/>
          </a:bodyPr>
          <a:lstStyle/>
          <a:p>
            <a:pPr algn="l">
              <a:lnSpc>
                <a:spcPts val="2940"/>
              </a:lnSpc>
              <a:spcBef>
                <a:spcPct val="0"/>
              </a:spcBef>
            </a:pPr>
            <a:r>
              <a:rPr lang="en-US" sz="2100" spc="-63">
                <a:solidFill>
                  <a:srgbClr val="CA0013"/>
                </a:solidFill>
                <a:latin typeface="Inter"/>
                <a:ea typeface="Inter"/>
                <a:cs typeface="Inter"/>
                <a:sym typeface="Inter"/>
              </a:rPr>
              <a:t>P</a:t>
            </a:r>
            <a:r>
              <a:rPr lang="en-US" sz="2100" spc="-63">
                <a:solidFill>
                  <a:srgbClr val="CA0013"/>
                </a:solidFill>
                <a:latin typeface="Inter"/>
                <a:ea typeface="Inter"/>
                <a:cs typeface="Inter"/>
                <a:sym typeface="Inter"/>
              </a:rPr>
              <a:t>ATIENT · DOCTOR · ADMIN — STRICTLY ENFORCED ACROSS ALL ENDPOINTS.</a:t>
            </a:r>
          </a:p>
          <a:p>
            <a:pPr algn="l">
              <a:lnSpc>
                <a:spcPts val="2940"/>
              </a:lnSpc>
              <a:spcBef>
                <a:spcPct val="0"/>
              </a:spcBef>
            </a:pPr>
          </a:p>
        </p:txBody>
      </p:sp>
      <p:sp>
        <p:nvSpPr>
          <p:cNvPr name="Freeform 22" id="22"/>
          <p:cNvSpPr/>
          <p:nvPr/>
        </p:nvSpPr>
        <p:spPr>
          <a:xfrm flipH="false" flipV="false" rot="0">
            <a:off x="16239619" y="-392665"/>
            <a:ext cx="2048381" cy="2164735"/>
          </a:xfrm>
          <a:custGeom>
            <a:avLst/>
            <a:gdLst/>
            <a:ahLst/>
            <a:cxnLst/>
            <a:rect r="r" b="b" t="t" l="l"/>
            <a:pathLst>
              <a:path h="2164735" w="2048381">
                <a:moveTo>
                  <a:pt x="0" y="0"/>
                </a:moveTo>
                <a:lnTo>
                  <a:pt x="2048381" y="0"/>
                </a:lnTo>
                <a:lnTo>
                  <a:pt x="2048381" y="2164736"/>
                </a:lnTo>
                <a:lnTo>
                  <a:pt x="0" y="2164736"/>
                </a:lnTo>
                <a:lnTo>
                  <a:pt x="0" y="0"/>
                </a:lnTo>
                <a:close/>
              </a:path>
            </a:pathLst>
          </a:custGeom>
          <a:blipFill>
            <a:blip r:embed="rId9"/>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6099393" y="-356280"/>
            <a:ext cx="2048381" cy="2164735"/>
          </a:xfrm>
          <a:custGeom>
            <a:avLst/>
            <a:gdLst/>
            <a:ahLst/>
            <a:cxnLst/>
            <a:rect r="r" b="b" t="t" l="l"/>
            <a:pathLst>
              <a:path h="2164735" w="2048381">
                <a:moveTo>
                  <a:pt x="0" y="0"/>
                </a:moveTo>
                <a:lnTo>
                  <a:pt x="2048381" y="0"/>
                </a:lnTo>
                <a:lnTo>
                  <a:pt x="2048381" y="2164736"/>
                </a:lnTo>
                <a:lnTo>
                  <a:pt x="0" y="2164736"/>
                </a:lnTo>
                <a:lnTo>
                  <a:pt x="0" y="0"/>
                </a:lnTo>
                <a:close/>
              </a:path>
            </a:pathLst>
          </a:custGeom>
          <a:blipFill>
            <a:blip r:embed="rId3"/>
            <a:stretch>
              <a:fillRect l="0" t="0" r="0" b="0"/>
            </a:stretch>
          </a:blipFill>
        </p:spPr>
      </p:sp>
      <p:graphicFrame>
        <p:nvGraphicFramePr>
          <p:cNvPr name="Table 3" id="3"/>
          <p:cNvGraphicFramePr>
            <a:graphicFrameLocks noGrp="true"/>
          </p:cNvGraphicFramePr>
          <p:nvPr/>
        </p:nvGraphicFramePr>
        <p:xfrm>
          <a:off x="1948677" y="4296071"/>
          <a:ext cx="6651146" cy="5184753"/>
        </p:xfrm>
        <a:graphic>
          <a:graphicData uri="http://schemas.openxmlformats.org/drawingml/2006/table">
            <a:tbl>
              <a:tblPr/>
              <a:tblGrid>
                <a:gridCol w="2970836"/>
                <a:gridCol w="1809144"/>
                <a:gridCol w="1871166"/>
              </a:tblGrid>
              <a:tr h="729259">
                <a:tc>
                  <a:txBody>
                    <a:bodyPr anchor="t" rtlCol="false"/>
                    <a:lstStyle/>
                    <a:p>
                      <a:pPr algn="l">
                        <a:lnSpc>
                          <a:spcPts val="2940"/>
                        </a:lnSpc>
                        <a:defRPr/>
                      </a:pPr>
                      <a:r>
                        <a:rPr lang="en-US" sz="2100" b="true">
                          <a:solidFill>
                            <a:srgbClr val="CA0013"/>
                          </a:solidFill>
                          <a:latin typeface="Inter Bold"/>
                          <a:ea typeface="Inter Bold"/>
                          <a:cs typeface="Inter Bold"/>
                          <a:sym typeface="Inter Bold"/>
                        </a:rPr>
                        <a:t>Category</a:t>
                      </a:r>
                      <a:endParaRPr lang="en-US" sz="1100"/>
                    </a:p>
                  </a:txBody>
                  <a:tcPr marL="123825" marR="123825" marT="123825" marB="123825" anchor="ctr">
                    <a:lnL cmpd="sng" algn="ctr" cap="flat" w="38100">
                      <a:solidFill>
                        <a:srgbClr val="CA0013"/>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38100">
                      <a:solidFill>
                        <a:srgbClr val="CA0013"/>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just">
                        <a:lnSpc>
                          <a:spcPts val="2940"/>
                        </a:lnSpc>
                        <a:defRPr/>
                      </a:pPr>
                      <a:r>
                        <a:rPr lang="en-US" b="true" sz="2100">
                          <a:solidFill>
                            <a:srgbClr val="CA0013"/>
                          </a:solidFill>
                          <a:latin typeface="Inter Bold"/>
                          <a:ea typeface="Inter Bold"/>
                          <a:cs typeface="Inter Bold"/>
                          <a:sym typeface="Inter Bold"/>
                        </a:rPr>
                        <a:t>Tests</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38100">
                      <a:solidFill>
                        <a:srgbClr val="CA0013"/>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b="true">
                          <a:solidFill>
                            <a:srgbClr val="CA0013"/>
                          </a:solidFill>
                          <a:latin typeface="Inter Bold"/>
                          <a:ea typeface="Inter Bold"/>
                          <a:cs typeface="Inter Bold"/>
                          <a:sym typeface="Inter Bold"/>
                        </a:rPr>
                        <a:t>Result</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38100">
                      <a:solidFill>
                        <a:srgbClr val="CA0013"/>
                      </a:solidFill>
                      <a:prstDash val="solid"/>
                      <a:round/>
                      <a:headEnd type="none" w="med" len="med"/>
                      <a:tailEnd type="none" w="med" len="med"/>
                    </a:lnR>
                    <a:lnT cmpd="sng" algn="ctr" cap="flat" w="38100">
                      <a:solidFill>
                        <a:srgbClr val="CA0013"/>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720994">
                <a:tc>
                  <a:txBody>
                    <a:bodyPr anchor="t" rtlCol="false"/>
                    <a:lstStyle/>
                    <a:p>
                      <a:pPr algn="l">
                        <a:lnSpc>
                          <a:spcPts val="2940"/>
                        </a:lnSpc>
                        <a:defRPr/>
                      </a:pPr>
                      <a:r>
                        <a:rPr lang="en-US" sz="2100">
                          <a:solidFill>
                            <a:srgbClr val="CA0013"/>
                          </a:solidFill>
                          <a:latin typeface="Inter"/>
                          <a:ea typeface="Inter"/>
                          <a:cs typeface="Inter"/>
                          <a:sym typeface="Inter"/>
                        </a:rPr>
                        <a:t>Functionality</a:t>
                      </a:r>
                      <a:endParaRPr lang="en-US" sz="1100"/>
                    </a:p>
                  </a:txBody>
                  <a:tcPr marL="123825" marR="123825" marT="123825" marB="123825" anchor="ctr">
                    <a:lnL cmpd="sng" algn="ctr" cap="flat" w="38100">
                      <a:solidFill>
                        <a:srgbClr val="CA0013"/>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12</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PASS</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38100">
                      <a:solidFill>
                        <a:srgbClr val="CA0013"/>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736232">
                <a:tc>
                  <a:txBody>
                    <a:bodyPr anchor="t" rtlCol="false"/>
                    <a:lstStyle/>
                    <a:p>
                      <a:pPr algn="l">
                        <a:lnSpc>
                          <a:spcPts val="2940"/>
                        </a:lnSpc>
                        <a:defRPr/>
                      </a:pPr>
                      <a:r>
                        <a:rPr lang="en-US" sz="2100">
                          <a:solidFill>
                            <a:srgbClr val="CA0013"/>
                          </a:solidFill>
                          <a:latin typeface="Inter"/>
                          <a:ea typeface="Inter"/>
                          <a:cs typeface="Inter"/>
                          <a:sym typeface="Inter"/>
                        </a:rPr>
                        <a:t>Database</a:t>
                      </a:r>
                      <a:endParaRPr lang="en-US" sz="1100"/>
                    </a:p>
                  </a:txBody>
                  <a:tcPr marL="123825" marR="123825" marT="123825" marB="123825" anchor="ctr">
                    <a:lnL cmpd="sng" algn="ctr" cap="flat" w="38100">
                      <a:solidFill>
                        <a:srgbClr val="CA0013"/>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8</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PASS</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38100">
                      <a:solidFill>
                        <a:srgbClr val="CA0013"/>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752644">
                <a:tc>
                  <a:txBody>
                    <a:bodyPr anchor="t" rtlCol="false"/>
                    <a:lstStyle/>
                    <a:p>
                      <a:pPr algn="l">
                        <a:lnSpc>
                          <a:spcPts val="2940"/>
                        </a:lnSpc>
                        <a:defRPr/>
                      </a:pPr>
                      <a:r>
                        <a:rPr lang="en-US" sz="2100">
                          <a:solidFill>
                            <a:srgbClr val="CA0013"/>
                          </a:solidFill>
                          <a:latin typeface="Inter"/>
                          <a:ea typeface="Inter"/>
                          <a:cs typeface="Inter"/>
                          <a:sym typeface="Inter"/>
                        </a:rPr>
                        <a:t>UX / UI</a:t>
                      </a:r>
                      <a:endParaRPr lang="en-US" sz="1100"/>
                    </a:p>
                  </a:txBody>
                  <a:tcPr marL="123825" marR="123825" marT="123825" marB="123825" anchor="ctr">
                    <a:lnL cmpd="sng" algn="ctr" cap="flat" w="38100">
                      <a:solidFill>
                        <a:srgbClr val="CA0013"/>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10</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PASS</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38100">
                      <a:solidFill>
                        <a:srgbClr val="CA0013"/>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752644">
                <a:tc>
                  <a:txBody>
                    <a:bodyPr anchor="t" rtlCol="false"/>
                    <a:lstStyle/>
                    <a:p>
                      <a:pPr algn="l">
                        <a:lnSpc>
                          <a:spcPts val="2940"/>
                        </a:lnSpc>
                        <a:defRPr/>
                      </a:pPr>
                      <a:r>
                        <a:rPr lang="en-US" sz="2100">
                          <a:solidFill>
                            <a:srgbClr val="CA0013"/>
                          </a:solidFill>
                          <a:latin typeface="Inter"/>
                          <a:ea typeface="Inter"/>
                          <a:cs typeface="Inter"/>
                          <a:sym typeface="Inter"/>
                        </a:rPr>
                        <a:t>Security</a:t>
                      </a:r>
                      <a:endParaRPr lang="en-US" sz="1100"/>
                    </a:p>
                  </a:txBody>
                  <a:tcPr marL="123825" marR="123825" marT="123825" marB="123825" anchor="ctr">
                    <a:lnL cmpd="sng" algn="ctr" cap="flat" w="38100">
                      <a:solidFill>
                        <a:srgbClr val="CA0013"/>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9</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PASS</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38100">
                      <a:solidFill>
                        <a:srgbClr val="CA0013"/>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752644">
                <a:tc>
                  <a:txBody>
                    <a:bodyPr anchor="t" rtlCol="false"/>
                    <a:lstStyle/>
                    <a:p>
                      <a:pPr algn="l">
                        <a:lnSpc>
                          <a:spcPts val="2940"/>
                        </a:lnSpc>
                        <a:defRPr/>
                      </a:pPr>
                      <a:r>
                        <a:rPr lang="en-US" sz="2100">
                          <a:solidFill>
                            <a:srgbClr val="CA0013"/>
                          </a:solidFill>
                          <a:latin typeface="Inter"/>
                          <a:ea typeface="Inter"/>
                          <a:cs typeface="Inter"/>
                          <a:sym typeface="Inter"/>
                        </a:rPr>
                        <a:t>Machine Learning</a:t>
                      </a:r>
                      <a:endParaRPr lang="en-US" sz="1100"/>
                    </a:p>
                  </a:txBody>
                  <a:tcPr marL="123825" marR="123825" marT="123825" marB="123825" anchor="ctr">
                    <a:lnL cmpd="sng" algn="ctr" cap="flat" w="38100">
                      <a:solidFill>
                        <a:srgbClr val="CA0013"/>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7</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PASS</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38100">
                      <a:solidFill>
                        <a:srgbClr val="CA0013"/>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740335">
                <a:tc>
                  <a:txBody>
                    <a:bodyPr anchor="t" rtlCol="false"/>
                    <a:lstStyle/>
                    <a:p>
                      <a:pPr algn="l">
                        <a:lnSpc>
                          <a:spcPts val="2940"/>
                        </a:lnSpc>
                        <a:defRPr/>
                      </a:pPr>
                      <a:r>
                        <a:rPr lang="en-US" sz="2100" b="true">
                          <a:solidFill>
                            <a:srgbClr val="CA0013"/>
                          </a:solidFill>
                          <a:latin typeface="Inter Bold"/>
                          <a:ea typeface="Inter Bold"/>
                          <a:cs typeface="Inter Bold"/>
                          <a:sym typeface="Inter Bold"/>
                        </a:rPr>
                        <a:t>TOTAL</a:t>
                      </a:r>
                      <a:endParaRPr lang="en-US" sz="1100"/>
                    </a:p>
                  </a:txBody>
                  <a:tcPr marL="123825" marR="123825" marT="123825" marB="123825" anchor="ctr">
                    <a:lnL cmpd="sng" algn="ctr" cap="flat" w="38100">
                      <a:solidFill>
                        <a:srgbClr val="CA0013"/>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38100">
                      <a:solidFill>
                        <a:srgbClr val="CA0013"/>
                      </a:solidFill>
                      <a:prstDash val="solid"/>
                      <a:round/>
                      <a:headEnd type="none" w="med" len="med"/>
                      <a:tailEnd type="none" w="med" len="med"/>
                    </a:lnB>
                  </a:tcPr>
                </a:tc>
                <a:tc>
                  <a:txBody>
                    <a:bodyPr anchor="t" rtlCol="false"/>
                    <a:lstStyle/>
                    <a:p>
                      <a:pPr algn="l">
                        <a:lnSpc>
                          <a:spcPts val="2940"/>
                        </a:lnSpc>
                        <a:defRPr/>
                      </a:pPr>
                      <a:r>
                        <a:rPr lang="en-US" sz="2100">
                          <a:solidFill>
                            <a:srgbClr val="CA0013"/>
                          </a:solidFill>
                          <a:latin typeface="Inter"/>
                          <a:ea typeface="Inter"/>
                          <a:cs typeface="Inter"/>
                          <a:sym typeface="Inter"/>
                        </a:rPr>
                        <a:t>46</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38100">
                      <a:solidFill>
                        <a:srgbClr val="CA0013"/>
                      </a:solidFill>
                      <a:prstDash val="solid"/>
                      <a:round/>
                      <a:headEnd type="none" w="med" len="med"/>
                      <a:tailEnd type="none" w="med" len="med"/>
                    </a:lnB>
                  </a:tcPr>
                </a:tc>
                <a:tc>
                  <a:txBody>
                    <a:bodyPr anchor="t" rtlCol="false"/>
                    <a:lstStyle/>
                    <a:p>
                      <a:pPr algn="l">
                        <a:lnSpc>
                          <a:spcPts val="2940"/>
                        </a:lnSpc>
                        <a:defRPr/>
                      </a:pPr>
                      <a:r>
                        <a:rPr lang="en-US" sz="2100" b="true">
                          <a:solidFill>
                            <a:srgbClr val="CA0013"/>
                          </a:solidFill>
                          <a:latin typeface="Inter Bold"/>
                          <a:ea typeface="Inter Bold"/>
                          <a:cs typeface="Inter Bold"/>
                          <a:sym typeface="Inter Bold"/>
                        </a:rPr>
                        <a:t>100% ✓</a:t>
                      </a:r>
                      <a:endParaRPr lang="en-US" sz="1100"/>
                    </a:p>
                  </a:txBody>
                  <a:tcPr marL="123825" marR="123825" marT="123825" marB="123825" anchor="ctr">
                    <a:lnL cmpd="sng" algn="ctr" cap="flat" w="0">
                      <a:solidFill>
                        <a:srgbClr val="000000"/>
                      </a:solidFill>
                      <a:prstDash val="solid"/>
                      <a:round/>
                      <a:headEnd type="none" w="med" len="med"/>
                      <a:tailEnd type="none" w="med" len="med"/>
                    </a:lnL>
                    <a:lnR cmpd="sng" algn="ctr" cap="flat" w="38100">
                      <a:solidFill>
                        <a:srgbClr val="CA0013"/>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38100">
                      <a:solidFill>
                        <a:srgbClr val="CA0013"/>
                      </a:solidFill>
                      <a:prstDash val="solid"/>
                      <a:round/>
                      <a:headEnd type="none" w="med" len="med"/>
                      <a:tailEnd type="none" w="med" len="med"/>
                    </a:lnB>
                  </a:tcPr>
                </a:tc>
              </a:tr>
            </a:tbl>
          </a:graphicData>
        </a:graphic>
      </p:graphicFrame>
      <p:grpSp>
        <p:nvGrpSpPr>
          <p:cNvPr name="Group 4" id="4"/>
          <p:cNvGrpSpPr/>
          <p:nvPr/>
        </p:nvGrpSpPr>
        <p:grpSpPr>
          <a:xfrm rot="0">
            <a:off x="9972970" y="4115719"/>
            <a:ext cx="6007742" cy="5545457"/>
            <a:chOff x="0" y="0"/>
            <a:chExt cx="1582286" cy="1460532"/>
          </a:xfrm>
        </p:grpSpPr>
        <p:sp>
          <p:nvSpPr>
            <p:cNvPr name="Freeform 5" id="5"/>
            <p:cNvSpPr/>
            <p:nvPr/>
          </p:nvSpPr>
          <p:spPr>
            <a:xfrm flipH="false" flipV="false" rot="0">
              <a:off x="0" y="0"/>
              <a:ext cx="1582286" cy="1460532"/>
            </a:xfrm>
            <a:custGeom>
              <a:avLst/>
              <a:gdLst/>
              <a:ahLst/>
              <a:cxnLst/>
              <a:rect r="r" b="b" t="t" l="l"/>
              <a:pathLst>
                <a:path h="1460532" w="1582286">
                  <a:moveTo>
                    <a:pt x="65722" y="0"/>
                  </a:moveTo>
                  <a:lnTo>
                    <a:pt x="1516565" y="0"/>
                  </a:lnTo>
                  <a:cubicBezTo>
                    <a:pt x="1552861" y="0"/>
                    <a:pt x="1582286" y="29425"/>
                    <a:pt x="1582286" y="65722"/>
                  </a:cubicBezTo>
                  <a:lnTo>
                    <a:pt x="1582286" y="1394810"/>
                  </a:lnTo>
                  <a:cubicBezTo>
                    <a:pt x="1582286" y="1412241"/>
                    <a:pt x="1575362" y="1428957"/>
                    <a:pt x="1563037" y="1441282"/>
                  </a:cubicBezTo>
                  <a:cubicBezTo>
                    <a:pt x="1550711" y="1453608"/>
                    <a:pt x="1533995" y="1460532"/>
                    <a:pt x="1516565" y="1460532"/>
                  </a:cubicBezTo>
                  <a:lnTo>
                    <a:pt x="65722" y="1460532"/>
                  </a:lnTo>
                  <a:cubicBezTo>
                    <a:pt x="48291" y="1460532"/>
                    <a:pt x="31575" y="1453608"/>
                    <a:pt x="19249" y="1441282"/>
                  </a:cubicBezTo>
                  <a:cubicBezTo>
                    <a:pt x="6924" y="1428957"/>
                    <a:pt x="0" y="1412241"/>
                    <a:pt x="0" y="1394810"/>
                  </a:cubicBezTo>
                  <a:lnTo>
                    <a:pt x="0" y="65722"/>
                  </a:lnTo>
                  <a:cubicBezTo>
                    <a:pt x="0" y="48291"/>
                    <a:pt x="6924" y="31575"/>
                    <a:pt x="19249" y="19249"/>
                  </a:cubicBezTo>
                  <a:cubicBezTo>
                    <a:pt x="31575" y="6924"/>
                    <a:pt x="48291" y="0"/>
                    <a:pt x="65722" y="0"/>
                  </a:cubicBezTo>
                  <a:close/>
                </a:path>
              </a:pathLst>
            </a:custGeom>
            <a:solidFill>
              <a:srgbClr val="CBC4B3"/>
            </a:solidFill>
          </p:spPr>
        </p:sp>
        <p:sp>
          <p:nvSpPr>
            <p:cNvPr name="TextBox 6" id="6"/>
            <p:cNvSpPr txBox="true"/>
            <p:nvPr/>
          </p:nvSpPr>
          <p:spPr>
            <a:xfrm>
              <a:off x="0" y="-47625"/>
              <a:ext cx="1582286" cy="1508157"/>
            </a:xfrm>
            <a:prstGeom prst="rect">
              <a:avLst/>
            </a:prstGeom>
          </p:spPr>
          <p:txBody>
            <a:bodyPr anchor="ctr" rtlCol="false" tIns="50800" lIns="50800" bIns="50800" rIns="50800"/>
            <a:lstStyle/>
            <a:p>
              <a:pPr algn="ctr">
                <a:lnSpc>
                  <a:spcPts val="3219"/>
                </a:lnSpc>
              </a:pPr>
            </a:p>
          </p:txBody>
        </p:sp>
      </p:grpSp>
      <p:sp>
        <p:nvSpPr>
          <p:cNvPr name="TextBox 7" id="7"/>
          <p:cNvSpPr txBox="true"/>
          <p:nvPr/>
        </p:nvSpPr>
        <p:spPr>
          <a:xfrm rot="0">
            <a:off x="516718" y="1399341"/>
            <a:ext cx="9274237" cy="2108576"/>
          </a:xfrm>
          <a:prstGeom prst="rect">
            <a:avLst/>
          </a:prstGeom>
        </p:spPr>
        <p:txBody>
          <a:bodyPr anchor="t" rtlCol="false" tIns="0" lIns="0" bIns="0" rIns="0">
            <a:spAutoFit/>
          </a:bodyPr>
          <a:lstStyle/>
          <a:p>
            <a:pPr algn="l">
              <a:lnSpc>
                <a:spcPts val="7826"/>
              </a:lnSpc>
            </a:pPr>
            <a:r>
              <a:rPr lang="en-US" b="true" sz="9906" spc="-1168">
                <a:solidFill>
                  <a:srgbClr val="CA0013"/>
                </a:solidFill>
                <a:latin typeface="Inter Bold"/>
                <a:ea typeface="Inter Bold"/>
                <a:cs typeface="Inter Bold"/>
                <a:sym typeface="Inter Bold"/>
              </a:rPr>
              <a:t>TEST RESULTS</a:t>
            </a:r>
          </a:p>
          <a:p>
            <a:pPr algn="l" marL="0" indent="0" lvl="0">
              <a:lnSpc>
                <a:spcPts val="7826"/>
              </a:lnSpc>
            </a:pPr>
          </a:p>
        </p:txBody>
      </p:sp>
      <p:sp>
        <p:nvSpPr>
          <p:cNvPr name="TextBox 8" id="8"/>
          <p:cNvSpPr txBox="true"/>
          <p:nvPr/>
        </p:nvSpPr>
        <p:spPr>
          <a:xfrm rot="0">
            <a:off x="737680" y="2719247"/>
            <a:ext cx="4695974"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46 </a:t>
            </a:r>
            <a:r>
              <a:rPr lang="en-US" b="true" sz="2299" spc="-68">
                <a:solidFill>
                  <a:srgbClr val="CA0013"/>
                </a:solidFill>
                <a:latin typeface="Inter Bold"/>
                <a:ea typeface="Inter Bold"/>
                <a:cs typeface="Inter Bold"/>
                <a:sym typeface="Inter Bold"/>
              </a:rPr>
              <a:t>TEST CASES. 100% PASS RATE.</a:t>
            </a:r>
          </a:p>
          <a:p>
            <a:pPr algn="ctr">
              <a:lnSpc>
                <a:spcPts val="3219"/>
              </a:lnSpc>
              <a:spcBef>
                <a:spcPct val="0"/>
              </a:spcBef>
            </a:pPr>
          </a:p>
        </p:txBody>
      </p:sp>
      <p:sp>
        <p:nvSpPr>
          <p:cNvPr name="TextBox 9" id="9"/>
          <p:cNvSpPr txBox="true"/>
          <p:nvPr/>
        </p:nvSpPr>
        <p:spPr>
          <a:xfrm rot="0">
            <a:off x="737643" y="3316131"/>
            <a:ext cx="10011966" cy="306705"/>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TESTED AGAINST THE LIVE PRODUCTION SYSTEM AT </a:t>
            </a:r>
            <a:r>
              <a:rPr lang="en-US" b="true" sz="1800" spc="-54" u="sng">
                <a:solidFill>
                  <a:srgbClr val="CA0013"/>
                </a:solidFill>
                <a:latin typeface="Inter Bold"/>
                <a:ea typeface="Inter Bold"/>
                <a:cs typeface="Inter Bold"/>
                <a:sym typeface="Inter Bold"/>
                <a:hlinkClick r:id="rId4" tooltip="http://api.back-adaptivhealthuowd.xyz"/>
              </a:rPr>
              <a:t>API.BACK-ADAPTIVHEALTHUOWD.XYZ</a:t>
            </a:r>
          </a:p>
        </p:txBody>
      </p:sp>
      <p:sp>
        <p:nvSpPr>
          <p:cNvPr name="TextBox 10" id="10"/>
          <p:cNvSpPr txBox="true"/>
          <p:nvPr/>
        </p:nvSpPr>
        <p:spPr>
          <a:xfrm rot="0">
            <a:off x="12457431" y="4660081"/>
            <a:ext cx="1038820" cy="1104265"/>
          </a:xfrm>
          <a:prstGeom prst="rect">
            <a:avLst/>
          </a:prstGeom>
        </p:spPr>
        <p:txBody>
          <a:bodyPr anchor="t" rtlCol="false" tIns="0" lIns="0" bIns="0" rIns="0">
            <a:spAutoFit/>
          </a:bodyPr>
          <a:lstStyle/>
          <a:p>
            <a:pPr algn="ctr">
              <a:lnSpc>
                <a:spcPts val="8959"/>
              </a:lnSpc>
              <a:spcBef>
                <a:spcPct val="0"/>
              </a:spcBef>
            </a:pPr>
            <a:r>
              <a:rPr lang="en-US" b="true" sz="6399" spc="-191">
                <a:solidFill>
                  <a:srgbClr val="CA0013"/>
                </a:solidFill>
                <a:latin typeface="Inter Bold"/>
                <a:ea typeface="Inter Bold"/>
                <a:cs typeface="Inter Bold"/>
                <a:sym typeface="Inter Bold"/>
              </a:rPr>
              <a:t>46</a:t>
            </a:r>
          </a:p>
        </p:txBody>
      </p:sp>
      <p:sp>
        <p:nvSpPr>
          <p:cNvPr name="TextBox 11" id="11"/>
          <p:cNvSpPr txBox="true"/>
          <p:nvPr/>
        </p:nvSpPr>
        <p:spPr>
          <a:xfrm rot="0">
            <a:off x="11924328" y="6755097"/>
            <a:ext cx="2105025" cy="1104265"/>
          </a:xfrm>
          <a:prstGeom prst="rect">
            <a:avLst/>
          </a:prstGeom>
        </p:spPr>
        <p:txBody>
          <a:bodyPr anchor="t" rtlCol="false" tIns="0" lIns="0" bIns="0" rIns="0">
            <a:spAutoFit/>
          </a:bodyPr>
          <a:lstStyle/>
          <a:p>
            <a:pPr algn="ctr">
              <a:lnSpc>
                <a:spcPts val="8959"/>
              </a:lnSpc>
              <a:spcBef>
                <a:spcPct val="0"/>
              </a:spcBef>
            </a:pPr>
            <a:r>
              <a:rPr lang="en-US" b="true" sz="6399" spc="-191">
                <a:solidFill>
                  <a:srgbClr val="CA0013"/>
                </a:solidFill>
                <a:latin typeface="Inter Bold"/>
                <a:ea typeface="Inter Bold"/>
                <a:cs typeface="Inter Bold"/>
                <a:sym typeface="Inter Bold"/>
              </a:rPr>
              <a:t>100%</a:t>
            </a:r>
          </a:p>
        </p:txBody>
      </p:sp>
      <p:sp>
        <p:nvSpPr>
          <p:cNvPr name="TextBox 12" id="12"/>
          <p:cNvSpPr txBox="true"/>
          <p:nvPr/>
        </p:nvSpPr>
        <p:spPr>
          <a:xfrm rot="0">
            <a:off x="11831794" y="5697671"/>
            <a:ext cx="2290093" cy="490855"/>
          </a:xfrm>
          <a:prstGeom prst="rect">
            <a:avLst/>
          </a:prstGeom>
        </p:spPr>
        <p:txBody>
          <a:bodyPr anchor="t" rtlCol="false" tIns="0" lIns="0" bIns="0" rIns="0">
            <a:spAutoFit/>
          </a:bodyPr>
          <a:lstStyle/>
          <a:p>
            <a:pPr algn="ctr">
              <a:lnSpc>
                <a:spcPts val="3919"/>
              </a:lnSpc>
              <a:spcBef>
                <a:spcPct val="0"/>
              </a:spcBef>
            </a:pPr>
            <a:r>
              <a:rPr lang="en-US" b="true" sz="2799" spc="-83">
                <a:solidFill>
                  <a:srgbClr val="CA0013"/>
                </a:solidFill>
                <a:latin typeface="Inter Bold"/>
                <a:ea typeface="Inter Bold"/>
                <a:cs typeface="Inter Bold"/>
                <a:sym typeface="Inter Bold"/>
              </a:rPr>
              <a:t>TOTAL TESTS</a:t>
            </a:r>
          </a:p>
        </p:txBody>
      </p:sp>
      <p:sp>
        <p:nvSpPr>
          <p:cNvPr name="TextBox 13" id="13"/>
          <p:cNvSpPr txBox="true"/>
          <p:nvPr/>
        </p:nvSpPr>
        <p:spPr>
          <a:xfrm rot="0">
            <a:off x="11342559" y="6208595"/>
            <a:ext cx="3268563"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ACROSS 5 CATEGORIES</a:t>
            </a:r>
          </a:p>
          <a:p>
            <a:pPr algn="ctr">
              <a:lnSpc>
                <a:spcPts val="3219"/>
              </a:lnSpc>
              <a:spcBef>
                <a:spcPct val="0"/>
              </a:spcBef>
            </a:pPr>
          </a:p>
        </p:txBody>
      </p:sp>
      <p:sp>
        <p:nvSpPr>
          <p:cNvPr name="TextBox 14" id="14"/>
          <p:cNvSpPr txBox="true"/>
          <p:nvPr/>
        </p:nvSpPr>
        <p:spPr>
          <a:xfrm rot="0">
            <a:off x="12059204" y="7859363"/>
            <a:ext cx="1835274" cy="490855"/>
          </a:xfrm>
          <a:prstGeom prst="rect">
            <a:avLst/>
          </a:prstGeom>
        </p:spPr>
        <p:txBody>
          <a:bodyPr anchor="t" rtlCol="false" tIns="0" lIns="0" bIns="0" rIns="0">
            <a:spAutoFit/>
          </a:bodyPr>
          <a:lstStyle/>
          <a:p>
            <a:pPr algn="ctr">
              <a:lnSpc>
                <a:spcPts val="3919"/>
              </a:lnSpc>
              <a:spcBef>
                <a:spcPct val="0"/>
              </a:spcBef>
            </a:pPr>
            <a:r>
              <a:rPr lang="en-US" b="true" sz="2799" spc="-83">
                <a:solidFill>
                  <a:srgbClr val="CA0013"/>
                </a:solidFill>
                <a:latin typeface="Inter Bold"/>
                <a:ea typeface="Inter Bold"/>
                <a:cs typeface="Inter Bold"/>
                <a:sym typeface="Inter Bold"/>
              </a:rPr>
              <a:t>PASS RATE</a:t>
            </a:r>
          </a:p>
        </p:txBody>
      </p:sp>
      <p:sp>
        <p:nvSpPr>
          <p:cNvPr name="TextBox 15" id="15"/>
          <p:cNvSpPr txBox="true"/>
          <p:nvPr/>
        </p:nvSpPr>
        <p:spPr>
          <a:xfrm rot="0">
            <a:off x="10749609" y="8369268"/>
            <a:ext cx="4530998" cy="38925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ZERO FAILURES ON LIVE SYSTEM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2603477" y="1730529"/>
            <a:ext cx="5247548" cy="7876245"/>
          </a:xfrm>
          <a:custGeom>
            <a:avLst/>
            <a:gdLst/>
            <a:ahLst/>
            <a:cxnLst/>
            <a:rect r="r" b="b" t="t" l="l"/>
            <a:pathLst>
              <a:path h="7876245" w="5247548">
                <a:moveTo>
                  <a:pt x="0" y="0"/>
                </a:moveTo>
                <a:lnTo>
                  <a:pt x="5247548" y="0"/>
                </a:lnTo>
                <a:lnTo>
                  <a:pt x="5247548" y="7876245"/>
                </a:lnTo>
                <a:lnTo>
                  <a:pt x="0" y="7876245"/>
                </a:lnTo>
                <a:lnTo>
                  <a:pt x="0" y="0"/>
                </a:lnTo>
                <a:close/>
              </a:path>
            </a:pathLst>
          </a:custGeom>
          <a:blipFill>
            <a:blip r:embed="rId2"/>
            <a:stretch>
              <a:fillRect l="0" t="0" r="0" b="0"/>
            </a:stretch>
          </a:blipFill>
        </p:spPr>
      </p:sp>
      <p:grpSp>
        <p:nvGrpSpPr>
          <p:cNvPr name="Group 3" id="3"/>
          <p:cNvGrpSpPr/>
          <p:nvPr/>
        </p:nvGrpSpPr>
        <p:grpSpPr>
          <a:xfrm rot="0">
            <a:off x="227237" y="3669960"/>
            <a:ext cx="11703095" cy="3086100"/>
            <a:chOff x="0" y="0"/>
            <a:chExt cx="3082297" cy="812800"/>
          </a:xfrm>
        </p:grpSpPr>
        <p:sp>
          <p:nvSpPr>
            <p:cNvPr name="Freeform 4" id="4"/>
            <p:cNvSpPr/>
            <p:nvPr/>
          </p:nvSpPr>
          <p:spPr>
            <a:xfrm flipH="false" flipV="false" rot="0">
              <a:off x="0" y="0"/>
              <a:ext cx="3082297" cy="812800"/>
            </a:xfrm>
            <a:custGeom>
              <a:avLst/>
              <a:gdLst/>
              <a:ahLst/>
              <a:cxnLst/>
              <a:rect r="r" b="b" t="t" l="l"/>
              <a:pathLst>
                <a:path h="812800" w="3082297">
                  <a:moveTo>
                    <a:pt x="33738" y="0"/>
                  </a:moveTo>
                  <a:lnTo>
                    <a:pt x="3048559" y="0"/>
                  </a:lnTo>
                  <a:cubicBezTo>
                    <a:pt x="3057507" y="0"/>
                    <a:pt x="3066088" y="3555"/>
                    <a:pt x="3072415" y="9882"/>
                  </a:cubicBezTo>
                  <a:cubicBezTo>
                    <a:pt x="3078742" y="16209"/>
                    <a:pt x="3082297" y="24790"/>
                    <a:pt x="3082297" y="33738"/>
                  </a:cubicBezTo>
                  <a:lnTo>
                    <a:pt x="3082297" y="779062"/>
                  </a:lnTo>
                  <a:cubicBezTo>
                    <a:pt x="3082297" y="797695"/>
                    <a:pt x="3067192" y="812800"/>
                    <a:pt x="3048559" y="812800"/>
                  </a:cubicBezTo>
                  <a:lnTo>
                    <a:pt x="33738" y="812800"/>
                  </a:lnTo>
                  <a:cubicBezTo>
                    <a:pt x="24790" y="812800"/>
                    <a:pt x="16209" y="809245"/>
                    <a:pt x="9882" y="802918"/>
                  </a:cubicBezTo>
                  <a:cubicBezTo>
                    <a:pt x="3555" y="796591"/>
                    <a:pt x="0" y="788010"/>
                    <a:pt x="0" y="779062"/>
                  </a:cubicBezTo>
                  <a:lnTo>
                    <a:pt x="0" y="33738"/>
                  </a:lnTo>
                  <a:cubicBezTo>
                    <a:pt x="0" y="24790"/>
                    <a:pt x="3555" y="16209"/>
                    <a:pt x="9882" y="9882"/>
                  </a:cubicBezTo>
                  <a:cubicBezTo>
                    <a:pt x="16209" y="3555"/>
                    <a:pt x="24790" y="0"/>
                    <a:pt x="33738" y="0"/>
                  </a:cubicBezTo>
                  <a:close/>
                </a:path>
              </a:pathLst>
            </a:custGeom>
            <a:solidFill>
              <a:srgbClr val="CBC4B3"/>
            </a:solidFill>
          </p:spPr>
        </p:sp>
        <p:sp>
          <p:nvSpPr>
            <p:cNvPr name="TextBox 5" id="5"/>
            <p:cNvSpPr txBox="true"/>
            <p:nvPr/>
          </p:nvSpPr>
          <p:spPr>
            <a:xfrm>
              <a:off x="0" y="-47625"/>
              <a:ext cx="3082297" cy="860425"/>
            </a:xfrm>
            <a:prstGeom prst="rect">
              <a:avLst/>
            </a:prstGeom>
          </p:spPr>
          <p:txBody>
            <a:bodyPr anchor="ctr" rtlCol="false" tIns="50800" lIns="50800" bIns="50800" rIns="50800"/>
            <a:lstStyle/>
            <a:p>
              <a:pPr algn="ctr">
                <a:lnSpc>
                  <a:spcPts val="3219"/>
                </a:lnSpc>
              </a:pPr>
            </a:p>
          </p:txBody>
        </p:sp>
      </p:grpSp>
      <p:grpSp>
        <p:nvGrpSpPr>
          <p:cNvPr name="Group 6" id="6"/>
          <p:cNvGrpSpPr/>
          <p:nvPr/>
        </p:nvGrpSpPr>
        <p:grpSpPr>
          <a:xfrm rot="0">
            <a:off x="227237" y="6879885"/>
            <a:ext cx="11703095" cy="2292414"/>
            <a:chOff x="0" y="0"/>
            <a:chExt cx="3082297" cy="603763"/>
          </a:xfrm>
        </p:grpSpPr>
        <p:sp>
          <p:nvSpPr>
            <p:cNvPr name="Freeform 7" id="7"/>
            <p:cNvSpPr/>
            <p:nvPr/>
          </p:nvSpPr>
          <p:spPr>
            <a:xfrm flipH="false" flipV="false" rot="0">
              <a:off x="0" y="0"/>
              <a:ext cx="3082297" cy="603763"/>
            </a:xfrm>
            <a:custGeom>
              <a:avLst/>
              <a:gdLst/>
              <a:ahLst/>
              <a:cxnLst/>
              <a:rect r="r" b="b" t="t" l="l"/>
              <a:pathLst>
                <a:path h="603763" w="3082297">
                  <a:moveTo>
                    <a:pt x="33738" y="0"/>
                  </a:moveTo>
                  <a:lnTo>
                    <a:pt x="3048559" y="0"/>
                  </a:lnTo>
                  <a:cubicBezTo>
                    <a:pt x="3057507" y="0"/>
                    <a:pt x="3066088" y="3555"/>
                    <a:pt x="3072415" y="9882"/>
                  </a:cubicBezTo>
                  <a:cubicBezTo>
                    <a:pt x="3078742" y="16209"/>
                    <a:pt x="3082297" y="24790"/>
                    <a:pt x="3082297" y="33738"/>
                  </a:cubicBezTo>
                  <a:lnTo>
                    <a:pt x="3082297" y="570025"/>
                  </a:lnTo>
                  <a:cubicBezTo>
                    <a:pt x="3082297" y="578973"/>
                    <a:pt x="3078742" y="587555"/>
                    <a:pt x="3072415" y="593882"/>
                  </a:cubicBezTo>
                  <a:cubicBezTo>
                    <a:pt x="3066088" y="600209"/>
                    <a:pt x="3057507" y="603763"/>
                    <a:pt x="3048559" y="603763"/>
                  </a:cubicBezTo>
                  <a:lnTo>
                    <a:pt x="33738" y="603763"/>
                  </a:lnTo>
                  <a:cubicBezTo>
                    <a:pt x="15105" y="603763"/>
                    <a:pt x="0" y="588658"/>
                    <a:pt x="0" y="570025"/>
                  </a:cubicBezTo>
                  <a:lnTo>
                    <a:pt x="0" y="33738"/>
                  </a:lnTo>
                  <a:cubicBezTo>
                    <a:pt x="0" y="24790"/>
                    <a:pt x="3555" y="16209"/>
                    <a:pt x="9882" y="9882"/>
                  </a:cubicBezTo>
                  <a:cubicBezTo>
                    <a:pt x="16209" y="3555"/>
                    <a:pt x="24790" y="0"/>
                    <a:pt x="33738" y="0"/>
                  </a:cubicBezTo>
                  <a:close/>
                </a:path>
              </a:pathLst>
            </a:custGeom>
            <a:solidFill>
              <a:srgbClr val="CBC4B3"/>
            </a:solidFill>
          </p:spPr>
        </p:sp>
        <p:sp>
          <p:nvSpPr>
            <p:cNvPr name="TextBox 8" id="8"/>
            <p:cNvSpPr txBox="true"/>
            <p:nvPr/>
          </p:nvSpPr>
          <p:spPr>
            <a:xfrm>
              <a:off x="0" y="-47625"/>
              <a:ext cx="3082297" cy="651388"/>
            </a:xfrm>
            <a:prstGeom prst="rect">
              <a:avLst/>
            </a:prstGeom>
          </p:spPr>
          <p:txBody>
            <a:bodyPr anchor="ctr" rtlCol="false" tIns="50800" lIns="50800" bIns="50800" rIns="50800"/>
            <a:lstStyle/>
            <a:p>
              <a:pPr algn="ctr">
                <a:lnSpc>
                  <a:spcPts val="3219"/>
                </a:lnSpc>
              </a:pPr>
            </a:p>
          </p:txBody>
        </p:sp>
      </p:grpSp>
      <p:sp>
        <p:nvSpPr>
          <p:cNvPr name="TextBox 9" id="9"/>
          <p:cNvSpPr txBox="true"/>
          <p:nvPr/>
        </p:nvSpPr>
        <p:spPr>
          <a:xfrm rot="0">
            <a:off x="463200" y="3622335"/>
            <a:ext cx="11305067" cy="5589905"/>
          </a:xfrm>
          <a:prstGeom prst="rect">
            <a:avLst/>
          </a:prstGeom>
        </p:spPr>
        <p:txBody>
          <a:bodyPr anchor="t" rtlCol="false" tIns="0" lIns="0" bIns="0" rIns="0">
            <a:spAutoFit/>
          </a:bodyPr>
          <a:lstStyle/>
          <a:p>
            <a:pPr algn="l">
              <a:lnSpc>
                <a:spcPts val="3219"/>
              </a:lnSpc>
              <a:spcBef>
                <a:spcPct val="0"/>
              </a:spcBef>
            </a:pPr>
          </a:p>
          <a:p>
            <a:pPr algn="l">
              <a:lnSpc>
                <a:spcPts val="3219"/>
              </a:lnSpc>
              <a:spcBef>
                <a:spcPct val="0"/>
              </a:spcBef>
            </a:pPr>
            <a:r>
              <a:rPr lang="en-US" b="true" sz="2299" spc="-68">
                <a:solidFill>
                  <a:srgbClr val="CA0013"/>
                </a:solidFill>
                <a:latin typeface="Inter Bold"/>
                <a:ea typeface="Inter Bold"/>
                <a:cs typeface="Inter Bold"/>
                <a:sym typeface="Inter Bold"/>
              </a:rPr>
              <a:t>PLANNED → DELIVERED</a:t>
            </a:r>
          </a:p>
          <a:p>
            <a:pPr algn="l">
              <a:lnSpc>
                <a:spcPts val="3219"/>
              </a:lnSpc>
              <a:spcBef>
                <a:spcPct val="0"/>
              </a:spcBef>
            </a:pPr>
          </a:p>
          <a:p>
            <a:pPr algn="l">
              <a:lnSpc>
                <a:spcPts val="3219"/>
              </a:lnSpc>
              <a:spcBef>
                <a:spcPct val="0"/>
              </a:spcBef>
            </a:pPr>
            <a:r>
              <a:rPr lang="en-US" sz="2299" spc="-68">
                <a:solidFill>
                  <a:srgbClr val="CA0013"/>
                </a:solidFill>
                <a:latin typeface="Inter"/>
                <a:ea typeface="Inter"/>
                <a:cs typeface="Inter"/>
                <a:sym typeface="Inter"/>
              </a:rPr>
              <a:t>FLASK → FASTAPI (ASYNC, PRODUCTION-GRADE) TENSORFLOW/LSTM → RANDOM FOREST (MEDICALLY VALIDATED) FIREBASE + AWS → AWS RDS ONLY (HIPAA COMPLIANT) BCRYPT → ARGON2ID (OWASP GOLD STANDARD) BASIC JWT → JWT + JTI BLOCKLIST TFLITE → PURE-DART (TRULY OFFLINE, ZERO DEPENDENCIES)</a:t>
            </a:r>
          </a:p>
          <a:p>
            <a:pPr algn="l">
              <a:lnSpc>
                <a:spcPts val="3219"/>
              </a:lnSpc>
              <a:spcBef>
                <a:spcPct val="0"/>
              </a:spcBef>
            </a:pPr>
          </a:p>
          <a:p>
            <a:pPr algn="l">
              <a:lnSpc>
                <a:spcPts val="3219"/>
              </a:lnSpc>
              <a:spcBef>
                <a:spcPct val="0"/>
              </a:spcBef>
            </a:pPr>
          </a:p>
          <a:p>
            <a:pPr algn="l">
              <a:lnSpc>
                <a:spcPts val="3219"/>
              </a:lnSpc>
              <a:spcBef>
                <a:spcPct val="0"/>
              </a:spcBef>
            </a:pPr>
            <a:r>
              <a:rPr lang="en-US" b="true" sz="2299" spc="-68">
                <a:solidFill>
                  <a:srgbClr val="CA0013"/>
                </a:solidFill>
                <a:latin typeface="Inter Bold"/>
                <a:ea typeface="Inter Bold"/>
                <a:cs typeface="Inter Bold"/>
                <a:sym typeface="Inter Bold"/>
              </a:rPr>
              <a:t>ADDED IN SEMESTER 2</a:t>
            </a:r>
          </a:p>
          <a:p>
            <a:pPr algn="l">
              <a:lnSpc>
                <a:spcPts val="3219"/>
              </a:lnSpc>
              <a:spcBef>
                <a:spcPct val="0"/>
              </a:spcBef>
            </a:pPr>
          </a:p>
          <a:p>
            <a:pPr algn="l">
              <a:lnSpc>
                <a:spcPts val="3219"/>
              </a:lnSpc>
              <a:spcBef>
                <a:spcPct val="0"/>
              </a:spcBef>
            </a:pPr>
            <a:r>
              <a:rPr lang="en-US" sz="2299" spc="-68">
                <a:solidFill>
                  <a:srgbClr val="CA0013"/>
                </a:solidFill>
                <a:latin typeface="Inter"/>
                <a:ea typeface="Inter"/>
                <a:cs typeface="Inter"/>
                <a:sym typeface="Inter"/>
              </a:rPr>
              <a:t>✦ GEMINI AI HEALTH COACH ✦ ADMIN DASHBOARD ✦ OFFLINE SYNC QUEUE ✦ CLOUDTRAIL HIPAA AUDIT LOGGING</a:t>
            </a:r>
          </a:p>
          <a:p>
            <a:pPr algn="l">
              <a:lnSpc>
                <a:spcPts val="3219"/>
              </a:lnSpc>
              <a:spcBef>
                <a:spcPct val="0"/>
              </a:spcBef>
            </a:pPr>
          </a:p>
        </p:txBody>
      </p:sp>
      <p:sp>
        <p:nvSpPr>
          <p:cNvPr name="TextBox 10" id="10"/>
          <p:cNvSpPr txBox="true"/>
          <p:nvPr/>
        </p:nvSpPr>
        <p:spPr>
          <a:xfrm rot="0">
            <a:off x="510941" y="878060"/>
            <a:ext cx="10562220" cy="852470"/>
          </a:xfrm>
          <a:prstGeom prst="rect">
            <a:avLst/>
          </a:prstGeom>
        </p:spPr>
        <p:txBody>
          <a:bodyPr anchor="t" rtlCol="false" tIns="0" lIns="0" bIns="0" rIns="0">
            <a:spAutoFit/>
          </a:bodyPr>
          <a:lstStyle/>
          <a:p>
            <a:pPr algn="l" marL="0" indent="0" lvl="0">
              <a:lnSpc>
                <a:spcPts val="6280"/>
              </a:lnSpc>
            </a:pPr>
            <a:r>
              <a:rPr lang="en-US" b="true" sz="6901" spc="-379">
                <a:solidFill>
                  <a:srgbClr val="CA0013"/>
                </a:solidFill>
                <a:latin typeface="Inter Bold"/>
                <a:ea typeface="Inter Bold"/>
                <a:cs typeface="Inter Bold"/>
                <a:sym typeface="Inter Bold"/>
              </a:rPr>
              <a:t>EVOLUTION</a:t>
            </a:r>
          </a:p>
        </p:txBody>
      </p:sp>
      <p:sp>
        <p:nvSpPr>
          <p:cNvPr name="TextBox 11" id="11"/>
          <p:cNvSpPr txBox="true"/>
          <p:nvPr/>
        </p:nvSpPr>
        <p:spPr>
          <a:xfrm rot="0">
            <a:off x="9139238" y="3242310"/>
            <a:ext cx="9525" cy="306705"/>
          </a:xfrm>
          <a:prstGeom prst="rect">
            <a:avLst/>
          </a:prstGeom>
        </p:spPr>
        <p:txBody>
          <a:bodyPr anchor="t" rtlCol="false" tIns="0" lIns="0" bIns="0" rIns="0">
            <a:spAutoFit/>
          </a:bodyPr>
          <a:lstStyle/>
          <a:p>
            <a:pPr algn="ctr">
              <a:lnSpc>
                <a:spcPts val="2520"/>
              </a:lnSpc>
              <a:spcBef>
                <a:spcPct val="0"/>
              </a:spcBef>
            </a:pPr>
          </a:p>
        </p:txBody>
      </p:sp>
      <p:sp>
        <p:nvSpPr>
          <p:cNvPr name="TextBox 12" id="12"/>
          <p:cNvSpPr txBox="true"/>
          <p:nvPr/>
        </p:nvSpPr>
        <p:spPr>
          <a:xfrm rot="0">
            <a:off x="510941" y="2062273"/>
            <a:ext cx="5604793"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WHAT WE BUILT VS. WHAT WE PLANNED</a:t>
            </a:r>
          </a:p>
          <a:p>
            <a:pPr algn="ctr">
              <a:lnSpc>
                <a:spcPts val="3219"/>
              </a:lnSpc>
              <a:spcBef>
                <a:spcPct val="0"/>
              </a:spcBef>
            </a:pPr>
          </a:p>
        </p:txBody>
      </p:sp>
      <p:sp>
        <p:nvSpPr>
          <p:cNvPr name="TextBox 13" id="13"/>
          <p:cNvSpPr txBox="true"/>
          <p:nvPr/>
        </p:nvSpPr>
        <p:spPr>
          <a:xfrm rot="0">
            <a:off x="510941" y="2659380"/>
            <a:ext cx="8418463" cy="621030"/>
          </a:xfrm>
          <a:prstGeom prst="rect">
            <a:avLst/>
          </a:prstGeom>
        </p:spPr>
        <p:txBody>
          <a:bodyPr anchor="t" rtlCol="false" tIns="0" lIns="0" bIns="0" rIns="0">
            <a:spAutoFit/>
          </a:bodyPr>
          <a:lstStyle/>
          <a:p>
            <a:pPr algn="ctr">
              <a:lnSpc>
                <a:spcPts val="2520"/>
              </a:lnSpc>
              <a:spcBef>
                <a:spcPct val="0"/>
              </a:spcBef>
            </a:pPr>
            <a:r>
              <a:rPr lang="en-US" b="true" sz="1800" spc="-54">
                <a:solidFill>
                  <a:srgbClr val="CA0013"/>
                </a:solidFill>
                <a:latin typeface="Inter Bold"/>
                <a:ea typeface="Inter Bold"/>
                <a:cs typeface="Inter Bold"/>
                <a:sym typeface="Inter Bold"/>
              </a:rPr>
              <a:t>WE DIDN'T JUST PLAN IT — WE CHANGED AND IMPROVED IT AT EVERY STAGE.</a:t>
            </a:r>
          </a:p>
          <a:p>
            <a:pPr algn="ctr">
              <a:lnSpc>
                <a:spcPts val="2520"/>
              </a:lnSpc>
              <a:spcBef>
                <a:spcPct val="0"/>
              </a:spcBef>
            </a:pPr>
          </a:p>
        </p:txBody>
      </p:sp>
      <p:sp>
        <p:nvSpPr>
          <p:cNvPr name="Freeform 14" id="14"/>
          <p:cNvSpPr/>
          <p:nvPr/>
        </p:nvSpPr>
        <p:spPr>
          <a:xfrm flipH="false" flipV="false" rot="0">
            <a:off x="16235110" y="-394808"/>
            <a:ext cx="2048381" cy="2164735"/>
          </a:xfrm>
          <a:custGeom>
            <a:avLst/>
            <a:gdLst/>
            <a:ahLst/>
            <a:cxnLst/>
            <a:rect r="r" b="b" t="t" l="l"/>
            <a:pathLst>
              <a:path h="2164735" w="2048381">
                <a:moveTo>
                  <a:pt x="0" y="0"/>
                </a:moveTo>
                <a:lnTo>
                  <a:pt x="2048380" y="0"/>
                </a:lnTo>
                <a:lnTo>
                  <a:pt x="2048380" y="2164735"/>
                </a:lnTo>
                <a:lnTo>
                  <a:pt x="0" y="2164735"/>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Freeform 2" id="2"/>
          <p:cNvSpPr/>
          <p:nvPr/>
        </p:nvSpPr>
        <p:spPr>
          <a:xfrm flipH="false" flipV="false" rot="0">
            <a:off x="16239619" y="-394808"/>
            <a:ext cx="2048381" cy="2164735"/>
          </a:xfrm>
          <a:custGeom>
            <a:avLst/>
            <a:gdLst/>
            <a:ahLst/>
            <a:cxnLst/>
            <a:rect r="r" b="b" t="t" l="l"/>
            <a:pathLst>
              <a:path h="2164735" w="2048381">
                <a:moveTo>
                  <a:pt x="0" y="0"/>
                </a:moveTo>
                <a:lnTo>
                  <a:pt x="2048381" y="0"/>
                </a:lnTo>
                <a:lnTo>
                  <a:pt x="2048381" y="2164735"/>
                </a:lnTo>
                <a:lnTo>
                  <a:pt x="0" y="2164735"/>
                </a:lnTo>
                <a:lnTo>
                  <a:pt x="0" y="0"/>
                </a:lnTo>
                <a:close/>
              </a:path>
            </a:pathLst>
          </a:custGeom>
          <a:blipFill>
            <a:blip r:embed="rId2"/>
            <a:stretch>
              <a:fillRect l="0" t="0" r="0" b="0"/>
            </a:stretch>
          </a:blipFill>
        </p:spPr>
      </p:sp>
      <p:sp>
        <p:nvSpPr>
          <p:cNvPr name="Freeform 3" id="3"/>
          <p:cNvSpPr/>
          <p:nvPr/>
        </p:nvSpPr>
        <p:spPr>
          <a:xfrm flipH="false" flipV="false" rot="0">
            <a:off x="1028700" y="4904124"/>
            <a:ext cx="508406" cy="508406"/>
          </a:xfrm>
          <a:custGeom>
            <a:avLst/>
            <a:gdLst/>
            <a:ahLst/>
            <a:cxnLst/>
            <a:rect r="r" b="b" t="t" l="l"/>
            <a:pathLst>
              <a:path h="508406" w="508406">
                <a:moveTo>
                  <a:pt x="0" y="0"/>
                </a:moveTo>
                <a:lnTo>
                  <a:pt x="508406" y="0"/>
                </a:lnTo>
                <a:lnTo>
                  <a:pt x="508406" y="508406"/>
                </a:lnTo>
                <a:lnTo>
                  <a:pt x="0" y="508406"/>
                </a:lnTo>
                <a:lnTo>
                  <a:pt x="0" y="0"/>
                </a:lnTo>
                <a:close/>
              </a:path>
            </a:pathLst>
          </a:custGeom>
          <a:blipFill>
            <a:blip r:embed="rId3"/>
            <a:stretch>
              <a:fillRect l="0" t="0" r="0" b="0"/>
            </a:stretch>
          </a:blipFill>
          <a:ln cap="sq">
            <a:noFill/>
            <a:prstDash val="solid"/>
            <a:miter/>
          </a:ln>
        </p:spPr>
      </p:sp>
      <p:sp>
        <p:nvSpPr>
          <p:cNvPr name="TextBox 4" id="4"/>
          <p:cNvSpPr txBox="true"/>
          <p:nvPr/>
        </p:nvSpPr>
        <p:spPr>
          <a:xfrm rot="0">
            <a:off x="723255" y="1267385"/>
            <a:ext cx="10562220" cy="852470"/>
          </a:xfrm>
          <a:prstGeom prst="rect">
            <a:avLst/>
          </a:prstGeom>
        </p:spPr>
        <p:txBody>
          <a:bodyPr anchor="t" rtlCol="false" tIns="0" lIns="0" bIns="0" rIns="0">
            <a:spAutoFit/>
          </a:bodyPr>
          <a:lstStyle/>
          <a:p>
            <a:pPr algn="l" marL="0" indent="0" lvl="0">
              <a:lnSpc>
                <a:spcPts val="6280"/>
              </a:lnSpc>
            </a:pPr>
            <a:r>
              <a:rPr lang="en-US" b="true" sz="6901" spc="-379">
                <a:solidFill>
                  <a:srgbClr val="CA0013"/>
                </a:solidFill>
                <a:latin typeface="Inter Bold"/>
                <a:ea typeface="Inter Bold"/>
                <a:cs typeface="Inter Bold"/>
                <a:sym typeface="Inter Bold"/>
              </a:rPr>
              <a:t>FUTURE WORK</a:t>
            </a:r>
          </a:p>
        </p:txBody>
      </p:sp>
      <p:sp>
        <p:nvSpPr>
          <p:cNvPr name="TextBox 5" id="5"/>
          <p:cNvSpPr txBox="true"/>
          <p:nvPr/>
        </p:nvSpPr>
        <p:spPr>
          <a:xfrm rot="0">
            <a:off x="9139238" y="3242310"/>
            <a:ext cx="9525" cy="306705"/>
          </a:xfrm>
          <a:prstGeom prst="rect">
            <a:avLst/>
          </a:prstGeom>
        </p:spPr>
        <p:txBody>
          <a:bodyPr anchor="t" rtlCol="false" tIns="0" lIns="0" bIns="0" rIns="0">
            <a:spAutoFit/>
          </a:bodyPr>
          <a:lstStyle/>
          <a:p>
            <a:pPr algn="ctr">
              <a:lnSpc>
                <a:spcPts val="2520"/>
              </a:lnSpc>
              <a:spcBef>
                <a:spcPct val="0"/>
              </a:spcBef>
            </a:pPr>
          </a:p>
        </p:txBody>
      </p:sp>
      <p:sp>
        <p:nvSpPr>
          <p:cNvPr name="TextBox 6" id="6"/>
          <p:cNvSpPr txBox="true"/>
          <p:nvPr/>
        </p:nvSpPr>
        <p:spPr>
          <a:xfrm rot="0">
            <a:off x="723255" y="2281667"/>
            <a:ext cx="8697711" cy="789305"/>
          </a:xfrm>
          <a:prstGeom prst="rect">
            <a:avLst/>
          </a:prstGeom>
        </p:spPr>
        <p:txBody>
          <a:bodyPr anchor="t" rtlCol="false" tIns="0" lIns="0" bIns="0" rIns="0">
            <a:spAutoFit/>
          </a:bodyPr>
          <a:lstStyle/>
          <a:p>
            <a:pPr algn="l">
              <a:lnSpc>
                <a:spcPts val="3219"/>
              </a:lnSpc>
              <a:spcBef>
                <a:spcPct val="0"/>
              </a:spcBef>
            </a:pPr>
            <a:r>
              <a:rPr lang="en-US" b="true" sz="2299" spc="-68">
                <a:solidFill>
                  <a:srgbClr val="CA0013"/>
                </a:solidFill>
                <a:latin typeface="Inter Bold"/>
                <a:ea typeface="Inter Bold"/>
                <a:cs typeface="Inter Bold"/>
                <a:sym typeface="Inter Bold"/>
              </a:rPr>
              <a:t>T</a:t>
            </a:r>
            <a:r>
              <a:rPr lang="en-US" b="true" sz="2299" spc="-68">
                <a:solidFill>
                  <a:srgbClr val="CA0013"/>
                </a:solidFill>
                <a:latin typeface="Inter Bold"/>
                <a:ea typeface="Inter Bold"/>
                <a:cs typeface="Inter Bold"/>
                <a:sym typeface="Inter Bold"/>
              </a:rPr>
              <a:t>HE FOUNDATION IS BUILT. HERE'S WHAT COMES NEXT.</a:t>
            </a:r>
          </a:p>
          <a:p>
            <a:pPr algn="l">
              <a:lnSpc>
                <a:spcPts val="3219"/>
              </a:lnSpc>
              <a:spcBef>
                <a:spcPct val="0"/>
              </a:spcBef>
            </a:pPr>
          </a:p>
        </p:txBody>
      </p:sp>
      <p:sp>
        <p:nvSpPr>
          <p:cNvPr name="TextBox 7" id="7"/>
          <p:cNvSpPr txBox="true"/>
          <p:nvPr/>
        </p:nvSpPr>
        <p:spPr>
          <a:xfrm rot="0">
            <a:off x="1028700" y="4114819"/>
            <a:ext cx="3205088"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NEAR-TERM ROADMAP</a:t>
            </a:r>
          </a:p>
          <a:p>
            <a:pPr algn="ctr">
              <a:lnSpc>
                <a:spcPts val="3219"/>
              </a:lnSpc>
              <a:spcBef>
                <a:spcPct val="0"/>
              </a:spcBef>
            </a:pPr>
          </a:p>
        </p:txBody>
      </p:sp>
      <p:sp>
        <p:nvSpPr>
          <p:cNvPr name="Freeform 8" id="8"/>
          <p:cNvSpPr/>
          <p:nvPr/>
        </p:nvSpPr>
        <p:spPr>
          <a:xfrm flipH="false" flipV="false" rot="0">
            <a:off x="1028700" y="7629649"/>
            <a:ext cx="508406" cy="508406"/>
          </a:xfrm>
          <a:custGeom>
            <a:avLst/>
            <a:gdLst/>
            <a:ahLst/>
            <a:cxnLst/>
            <a:rect r="r" b="b" t="t" l="l"/>
            <a:pathLst>
              <a:path h="508406" w="508406">
                <a:moveTo>
                  <a:pt x="0" y="0"/>
                </a:moveTo>
                <a:lnTo>
                  <a:pt x="508406" y="0"/>
                </a:lnTo>
                <a:lnTo>
                  <a:pt x="508406" y="508407"/>
                </a:lnTo>
                <a:lnTo>
                  <a:pt x="0" y="508407"/>
                </a:lnTo>
                <a:lnTo>
                  <a:pt x="0" y="0"/>
                </a:lnTo>
                <a:close/>
              </a:path>
            </a:pathLst>
          </a:custGeom>
          <a:blipFill>
            <a:blip r:embed="rId3"/>
            <a:stretch>
              <a:fillRect l="0" t="0" r="0" b="0"/>
            </a:stretch>
          </a:blipFill>
          <a:ln cap="sq">
            <a:noFill/>
            <a:prstDash val="solid"/>
            <a:miter/>
          </a:ln>
        </p:spPr>
      </p:sp>
      <p:sp>
        <p:nvSpPr>
          <p:cNvPr name="Freeform 9" id="9"/>
          <p:cNvSpPr/>
          <p:nvPr/>
        </p:nvSpPr>
        <p:spPr>
          <a:xfrm flipH="false" flipV="false" rot="0">
            <a:off x="5072111" y="4904124"/>
            <a:ext cx="508406" cy="508406"/>
          </a:xfrm>
          <a:custGeom>
            <a:avLst/>
            <a:gdLst/>
            <a:ahLst/>
            <a:cxnLst/>
            <a:rect r="r" b="b" t="t" l="l"/>
            <a:pathLst>
              <a:path h="508406" w="508406">
                <a:moveTo>
                  <a:pt x="0" y="0"/>
                </a:moveTo>
                <a:lnTo>
                  <a:pt x="508406" y="0"/>
                </a:lnTo>
                <a:lnTo>
                  <a:pt x="508406" y="508406"/>
                </a:lnTo>
                <a:lnTo>
                  <a:pt x="0" y="508406"/>
                </a:lnTo>
                <a:lnTo>
                  <a:pt x="0" y="0"/>
                </a:lnTo>
                <a:close/>
              </a:path>
            </a:pathLst>
          </a:custGeom>
          <a:blipFill>
            <a:blip r:embed="rId3"/>
            <a:stretch>
              <a:fillRect l="0" t="0" r="0" b="0"/>
            </a:stretch>
          </a:blipFill>
          <a:ln cap="sq">
            <a:noFill/>
            <a:prstDash val="solid"/>
            <a:miter/>
          </a:ln>
        </p:spPr>
      </p:sp>
      <p:sp>
        <p:nvSpPr>
          <p:cNvPr name="TextBox 10" id="10"/>
          <p:cNvSpPr txBox="true"/>
          <p:nvPr/>
        </p:nvSpPr>
        <p:spPr>
          <a:xfrm rot="0">
            <a:off x="1799131" y="4994065"/>
            <a:ext cx="3442589" cy="789305"/>
          </a:xfrm>
          <a:prstGeom prst="rect">
            <a:avLst/>
          </a:prstGeom>
        </p:spPr>
        <p:txBody>
          <a:bodyPr anchor="t" rtlCol="false" tIns="0" lIns="0" bIns="0" rIns="0">
            <a:spAutoFit/>
          </a:bodyPr>
          <a:lstStyle/>
          <a:p>
            <a:pPr algn="l">
              <a:lnSpc>
                <a:spcPts val="3219"/>
              </a:lnSpc>
              <a:spcBef>
                <a:spcPct val="0"/>
              </a:spcBef>
            </a:pPr>
            <a:r>
              <a:rPr lang="en-US" b="true" sz="2299" spc="-68">
                <a:solidFill>
                  <a:srgbClr val="CA0013"/>
                </a:solidFill>
                <a:latin typeface="Inter Bold"/>
                <a:ea typeface="Inter Bold"/>
                <a:cs typeface="Inter Bold"/>
                <a:sym typeface="Inter Bold"/>
              </a:rPr>
              <a:t>ECG SENSOR INTEGRATION</a:t>
            </a:r>
          </a:p>
        </p:txBody>
      </p:sp>
      <p:sp>
        <p:nvSpPr>
          <p:cNvPr name="TextBox 11" id="11"/>
          <p:cNvSpPr txBox="true"/>
          <p:nvPr/>
        </p:nvSpPr>
        <p:spPr>
          <a:xfrm rot="0">
            <a:off x="1799131" y="5945295"/>
            <a:ext cx="3272980" cy="1480185"/>
          </a:xfrm>
          <a:prstGeom prst="rect">
            <a:avLst/>
          </a:prstGeom>
        </p:spPr>
        <p:txBody>
          <a:bodyPr anchor="t" rtlCol="false" tIns="0" lIns="0" bIns="0" rIns="0">
            <a:spAutoFit/>
          </a:bodyPr>
          <a:lstStyle/>
          <a:p>
            <a:pPr algn="l">
              <a:lnSpc>
                <a:spcPts val="2940"/>
              </a:lnSpc>
              <a:spcBef>
                <a:spcPct val="0"/>
              </a:spcBef>
            </a:pPr>
            <a:r>
              <a:rPr lang="en-US" sz="2100" spc="-63">
                <a:solidFill>
                  <a:srgbClr val="CA0013"/>
                </a:solidFill>
                <a:latin typeface="Inter"/>
                <a:ea typeface="Inter"/>
                <a:cs typeface="Inter"/>
                <a:sym typeface="Inter"/>
              </a:rPr>
              <a:t>ARRHYTHMIA DETECTION VIA HARDWARE ECG SENSORS.</a:t>
            </a:r>
          </a:p>
          <a:p>
            <a:pPr algn="l">
              <a:lnSpc>
                <a:spcPts val="2940"/>
              </a:lnSpc>
              <a:spcBef>
                <a:spcPct val="0"/>
              </a:spcBef>
            </a:pPr>
          </a:p>
        </p:txBody>
      </p:sp>
      <p:sp>
        <p:nvSpPr>
          <p:cNvPr name="TextBox 12" id="12"/>
          <p:cNvSpPr txBox="true"/>
          <p:nvPr/>
        </p:nvSpPr>
        <p:spPr>
          <a:xfrm rot="0">
            <a:off x="1799131" y="7719591"/>
            <a:ext cx="3554909"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WEBSOCKET STREAMING</a:t>
            </a:r>
          </a:p>
          <a:p>
            <a:pPr algn="ctr">
              <a:lnSpc>
                <a:spcPts val="3219"/>
              </a:lnSpc>
              <a:spcBef>
                <a:spcPct val="0"/>
              </a:spcBef>
            </a:pPr>
          </a:p>
        </p:txBody>
      </p:sp>
      <p:sp>
        <p:nvSpPr>
          <p:cNvPr name="TextBox 13" id="13"/>
          <p:cNvSpPr txBox="true"/>
          <p:nvPr/>
        </p:nvSpPr>
        <p:spPr>
          <a:xfrm rot="0">
            <a:off x="1799131" y="8238402"/>
            <a:ext cx="5881539" cy="737235"/>
          </a:xfrm>
          <a:prstGeom prst="rect">
            <a:avLst/>
          </a:prstGeom>
        </p:spPr>
        <p:txBody>
          <a:bodyPr anchor="t" rtlCol="false" tIns="0" lIns="0" bIns="0" rIns="0">
            <a:spAutoFit/>
          </a:bodyPr>
          <a:lstStyle/>
          <a:p>
            <a:pPr algn="ctr">
              <a:lnSpc>
                <a:spcPts val="2940"/>
              </a:lnSpc>
              <a:spcBef>
                <a:spcPct val="0"/>
              </a:spcBef>
            </a:pPr>
            <a:r>
              <a:rPr lang="en-US" sz="2100" spc="-63">
                <a:solidFill>
                  <a:srgbClr val="CA0013"/>
                </a:solidFill>
                <a:latin typeface="Inter"/>
                <a:ea typeface="Inter"/>
                <a:cs typeface="Inter"/>
                <a:sym typeface="Inter"/>
              </a:rPr>
              <a:t>REAL-TIME LIVE DASHBOARD DATA STREAMING.</a:t>
            </a:r>
          </a:p>
          <a:p>
            <a:pPr algn="ctr">
              <a:lnSpc>
                <a:spcPts val="2940"/>
              </a:lnSpc>
              <a:spcBef>
                <a:spcPct val="0"/>
              </a:spcBef>
            </a:pPr>
          </a:p>
        </p:txBody>
      </p:sp>
      <p:sp>
        <p:nvSpPr>
          <p:cNvPr name="TextBox 14" id="14"/>
          <p:cNvSpPr txBox="true"/>
          <p:nvPr/>
        </p:nvSpPr>
        <p:spPr>
          <a:xfrm rot="0">
            <a:off x="5847217" y="4952895"/>
            <a:ext cx="2463254"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REAL BLE PAIRING</a:t>
            </a:r>
          </a:p>
          <a:p>
            <a:pPr algn="ctr">
              <a:lnSpc>
                <a:spcPts val="3219"/>
              </a:lnSpc>
              <a:spcBef>
                <a:spcPct val="0"/>
              </a:spcBef>
            </a:pPr>
          </a:p>
        </p:txBody>
      </p:sp>
      <p:sp>
        <p:nvSpPr>
          <p:cNvPr name="TextBox 15" id="15"/>
          <p:cNvSpPr txBox="true"/>
          <p:nvPr/>
        </p:nvSpPr>
        <p:spPr>
          <a:xfrm rot="0">
            <a:off x="5847217" y="5457510"/>
            <a:ext cx="2996133" cy="1108710"/>
          </a:xfrm>
          <a:prstGeom prst="rect">
            <a:avLst/>
          </a:prstGeom>
        </p:spPr>
        <p:txBody>
          <a:bodyPr anchor="t" rtlCol="false" tIns="0" lIns="0" bIns="0" rIns="0">
            <a:spAutoFit/>
          </a:bodyPr>
          <a:lstStyle/>
          <a:p>
            <a:pPr algn="l">
              <a:lnSpc>
                <a:spcPts val="2940"/>
              </a:lnSpc>
              <a:spcBef>
                <a:spcPct val="0"/>
              </a:spcBef>
            </a:pPr>
            <a:r>
              <a:rPr lang="en-US" sz="2100" spc="-63">
                <a:solidFill>
                  <a:srgbClr val="CA0013"/>
                </a:solidFill>
                <a:latin typeface="Inter"/>
                <a:ea typeface="Inter"/>
                <a:cs typeface="Inter"/>
                <a:sym typeface="Inter"/>
              </a:rPr>
              <a:t>NATIVE APPLE WATCH &amp; FITBIT CONNECTIVITY.</a:t>
            </a:r>
          </a:p>
          <a:p>
            <a:pPr algn="l">
              <a:lnSpc>
                <a:spcPts val="2940"/>
              </a:lnSpc>
              <a:spcBef>
                <a:spcPct val="0"/>
              </a:spcBef>
            </a:pPr>
          </a:p>
        </p:txBody>
      </p:sp>
      <p:sp>
        <p:nvSpPr>
          <p:cNvPr name="TextBox 16" id="16"/>
          <p:cNvSpPr txBox="true"/>
          <p:nvPr/>
        </p:nvSpPr>
        <p:spPr>
          <a:xfrm rot="0">
            <a:off x="9420966" y="4114819"/>
            <a:ext cx="2730996" cy="38925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LONG-TERM VISION</a:t>
            </a:r>
          </a:p>
        </p:txBody>
      </p:sp>
      <p:sp>
        <p:nvSpPr>
          <p:cNvPr name="Freeform 17" id="17"/>
          <p:cNvSpPr/>
          <p:nvPr/>
        </p:nvSpPr>
        <p:spPr>
          <a:xfrm flipH="false" flipV="false" rot="0">
            <a:off x="9420966" y="4904124"/>
            <a:ext cx="508406" cy="508406"/>
          </a:xfrm>
          <a:custGeom>
            <a:avLst/>
            <a:gdLst/>
            <a:ahLst/>
            <a:cxnLst/>
            <a:rect r="r" b="b" t="t" l="l"/>
            <a:pathLst>
              <a:path h="508406" w="508406">
                <a:moveTo>
                  <a:pt x="0" y="0"/>
                </a:moveTo>
                <a:lnTo>
                  <a:pt x="508407" y="0"/>
                </a:lnTo>
                <a:lnTo>
                  <a:pt x="508407" y="508406"/>
                </a:lnTo>
                <a:lnTo>
                  <a:pt x="0" y="508406"/>
                </a:lnTo>
                <a:lnTo>
                  <a:pt x="0" y="0"/>
                </a:lnTo>
                <a:close/>
              </a:path>
            </a:pathLst>
          </a:custGeom>
          <a:blipFill>
            <a:blip r:embed="rId3"/>
            <a:stretch>
              <a:fillRect l="0" t="0" r="0" b="0"/>
            </a:stretch>
          </a:blipFill>
          <a:ln cap="sq">
            <a:noFill/>
            <a:prstDash val="solid"/>
            <a:miter/>
          </a:ln>
        </p:spPr>
      </p:sp>
      <p:sp>
        <p:nvSpPr>
          <p:cNvPr name="Freeform 18" id="18"/>
          <p:cNvSpPr/>
          <p:nvPr/>
        </p:nvSpPr>
        <p:spPr>
          <a:xfrm flipH="false" flipV="false" rot="0">
            <a:off x="9420966" y="7629649"/>
            <a:ext cx="508406" cy="508406"/>
          </a:xfrm>
          <a:custGeom>
            <a:avLst/>
            <a:gdLst/>
            <a:ahLst/>
            <a:cxnLst/>
            <a:rect r="r" b="b" t="t" l="l"/>
            <a:pathLst>
              <a:path h="508406" w="508406">
                <a:moveTo>
                  <a:pt x="0" y="0"/>
                </a:moveTo>
                <a:lnTo>
                  <a:pt x="508407" y="0"/>
                </a:lnTo>
                <a:lnTo>
                  <a:pt x="508407" y="508407"/>
                </a:lnTo>
                <a:lnTo>
                  <a:pt x="0" y="508407"/>
                </a:lnTo>
                <a:lnTo>
                  <a:pt x="0" y="0"/>
                </a:lnTo>
                <a:close/>
              </a:path>
            </a:pathLst>
          </a:custGeom>
          <a:blipFill>
            <a:blip r:embed="rId3"/>
            <a:stretch>
              <a:fillRect l="0" t="0" r="0" b="0"/>
            </a:stretch>
          </a:blipFill>
          <a:ln cap="sq">
            <a:noFill/>
            <a:prstDash val="solid"/>
            <a:miter/>
          </a:ln>
        </p:spPr>
      </p:sp>
      <p:sp>
        <p:nvSpPr>
          <p:cNvPr name="Freeform 19" id="19"/>
          <p:cNvSpPr/>
          <p:nvPr/>
        </p:nvSpPr>
        <p:spPr>
          <a:xfrm flipH="false" flipV="false" rot="0">
            <a:off x="14018723" y="4904124"/>
            <a:ext cx="508406" cy="508406"/>
          </a:xfrm>
          <a:custGeom>
            <a:avLst/>
            <a:gdLst/>
            <a:ahLst/>
            <a:cxnLst/>
            <a:rect r="r" b="b" t="t" l="l"/>
            <a:pathLst>
              <a:path h="508406" w="508406">
                <a:moveTo>
                  <a:pt x="0" y="0"/>
                </a:moveTo>
                <a:lnTo>
                  <a:pt x="508406" y="0"/>
                </a:lnTo>
                <a:lnTo>
                  <a:pt x="508406" y="508406"/>
                </a:lnTo>
                <a:lnTo>
                  <a:pt x="0" y="508406"/>
                </a:lnTo>
                <a:lnTo>
                  <a:pt x="0" y="0"/>
                </a:lnTo>
                <a:close/>
              </a:path>
            </a:pathLst>
          </a:custGeom>
          <a:blipFill>
            <a:blip r:embed="rId3"/>
            <a:stretch>
              <a:fillRect l="0" t="0" r="0" b="0"/>
            </a:stretch>
          </a:blipFill>
          <a:ln cap="sq">
            <a:noFill/>
            <a:prstDash val="solid"/>
            <a:miter/>
          </a:ln>
        </p:spPr>
      </p:sp>
      <p:sp>
        <p:nvSpPr>
          <p:cNvPr name="TextBox 20" id="20"/>
          <p:cNvSpPr txBox="true"/>
          <p:nvPr/>
        </p:nvSpPr>
        <p:spPr>
          <a:xfrm rot="0">
            <a:off x="10196073" y="4994065"/>
            <a:ext cx="3109987" cy="38925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FEDERATED LEARNING</a:t>
            </a:r>
          </a:p>
        </p:txBody>
      </p:sp>
      <p:sp>
        <p:nvSpPr>
          <p:cNvPr name="TextBox 21" id="21"/>
          <p:cNvSpPr txBox="true"/>
          <p:nvPr/>
        </p:nvSpPr>
        <p:spPr>
          <a:xfrm rot="0">
            <a:off x="10196073" y="5457510"/>
            <a:ext cx="3682877" cy="1054100"/>
          </a:xfrm>
          <a:prstGeom prst="rect">
            <a:avLst/>
          </a:prstGeom>
        </p:spPr>
        <p:txBody>
          <a:bodyPr anchor="t" rtlCol="false" tIns="0" lIns="0" bIns="0" rIns="0">
            <a:spAutoFit/>
          </a:bodyPr>
          <a:lstStyle/>
          <a:p>
            <a:pPr algn="l">
              <a:lnSpc>
                <a:spcPts val="2800"/>
              </a:lnSpc>
              <a:spcBef>
                <a:spcPct val="0"/>
              </a:spcBef>
            </a:pPr>
            <a:r>
              <a:rPr lang="en-US" sz="2000" spc="-60">
                <a:solidFill>
                  <a:srgbClr val="CA0013"/>
                </a:solidFill>
                <a:latin typeface="Inter"/>
                <a:ea typeface="Inter"/>
                <a:cs typeface="Inter"/>
                <a:sym typeface="Inter"/>
              </a:rPr>
              <a:t>TRAIN ON-DEVICE — PROTECT PATIENT PRIVACY AT SCALE.</a:t>
            </a:r>
          </a:p>
          <a:p>
            <a:pPr algn="l">
              <a:lnSpc>
                <a:spcPts val="2800"/>
              </a:lnSpc>
              <a:spcBef>
                <a:spcPct val="0"/>
              </a:spcBef>
            </a:pPr>
          </a:p>
        </p:txBody>
      </p:sp>
      <p:sp>
        <p:nvSpPr>
          <p:cNvPr name="TextBox 22" id="22"/>
          <p:cNvSpPr txBox="true"/>
          <p:nvPr/>
        </p:nvSpPr>
        <p:spPr>
          <a:xfrm rot="0">
            <a:off x="10196073" y="7719591"/>
            <a:ext cx="3822650" cy="38925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FDA / CE MARK + UAE PILOT</a:t>
            </a:r>
          </a:p>
        </p:txBody>
      </p:sp>
      <p:sp>
        <p:nvSpPr>
          <p:cNvPr name="TextBox 23" id="23"/>
          <p:cNvSpPr txBox="true"/>
          <p:nvPr/>
        </p:nvSpPr>
        <p:spPr>
          <a:xfrm rot="0">
            <a:off x="10196073" y="8256182"/>
            <a:ext cx="7191305" cy="1054100"/>
          </a:xfrm>
          <a:prstGeom prst="rect">
            <a:avLst/>
          </a:prstGeom>
        </p:spPr>
        <p:txBody>
          <a:bodyPr anchor="t" rtlCol="false" tIns="0" lIns="0" bIns="0" rIns="0">
            <a:spAutoFit/>
          </a:bodyPr>
          <a:lstStyle/>
          <a:p>
            <a:pPr algn="l">
              <a:lnSpc>
                <a:spcPts val="2800"/>
              </a:lnSpc>
              <a:spcBef>
                <a:spcPct val="0"/>
              </a:spcBef>
            </a:pPr>
            <a:r>
              <a:rPr lang="en-US" sz="2000" spc="-60">
                <a:solidFill>
                  <a:srgbClr val="CA0013"/>
                </a:solidFill>
                <a:latin typeface="Inter"/>
                <a:ea typeface="Inter"/>
                <a:cs typeface="Inter"/>
                <a:sym typeface="Inter"/>
              </a:rPr>
              <a:t>CLINICAL VALIDATION AND UAE HOSPITAL PILOT PROGRAMME.</a:t>
            </a:r>
          </a:p>
          <a:p>
            <a:pPr algn="l">
              <a:lnSpc>
                <a:spcPts val="2800"/>
              </a:lnSpc>
              <a:spcBef>
                <a:spcPct val="0"/>
              </a:spcBef>
            </a:pPr>
          </a:p>
        </p:txBody>
      </p:sp>
      <p:sp>
        <p:nvSpPr>
          <p:cNvPr name="TextBox 24" id="24"/>
          <p:cNvSpPr txBox="true"/>
          <p:nvPr/>
        </p:nvSpPr>
        <p:spPr>
          <a:xfrm rot="0">
            <a:off x="14793829" y="4952895"/>
            <a:ext cx="3415233" cy="789305"/>
          </a:xfrm>
          <a:prstGeom prst="rect">
            <a:avLst/>
          </a:prstGeom>
        </p:spPr>
        <p:txBody>
          <a:bodyPr anchor="t" rtlCol="false" tIns="0" lIns="0" bIns="0" rIns="0">
            <a:spAutoFit/>
          </a:bodyPr>
          <a:lstStyle/>
          <a:p>
            <a:pPr algn="l">
              <a:lnSpc>
                <a:spcPts val="3219"/>
              </a:lnSpc>
            </a:pPr>
            <a:r>
              <a:rPr lang="en-US" b="true" sz="2299" spc="-68">
                <a:solidFill>
                  <a:srgbClr val="CA0013"/>
                </a:solidFill>
                <a:latin typeface="Inter Bold"/>
                <a:ea typeface="Inter Bold"/>
                <a:cs typeface="Inter Bold"/>
                <a:sym typeface="Inter Bold"/>
              </a:rPr>
              <a:t>HOSPITAL EMR INTEGRATION</a:t>
            </a:r>
          </a:p>
        </p:txBody>
      </p:sp>
      <p:sp>
        <p:nvSpPr>
          <p:cNvPr name="TextBox 25" id="25"/>
          <p:cNvSpPr txBox="true"/>
          <p:nvPr/>
        </p:nvSpPr>
        <p:spPr>
          <a:xfrm rot="0">
            <a:off x="14793829" y="5777989"/>
            <a:ext cx="3284696" cy="1480185"/>
          </a:xfrm>
          <a:prstGeom prst="rect">
            <a:avLst/>
          </a:prstGeom>
        </p:spPr>
        <p:txBody>
          <a:bodyPr anchor="t" rtlCol="false" tIns="0" lIns="0" bIns="0" rIns="0">
            <a:spAutoFit/>
          </a:bodyPr>
          <a:lstStyle/>
          <a:p>
            <a:pPr algn="l">
              <a:lnSpc>
                <a:spcPts val="2940"/>
              </a:lnSpc>
              <a:spcBef>
                <a:spcPct val="0"/>
              </a:spcBef>
            </a:pPr>
            <a:r>
              <a:rPr lang="en-US" sz="2100" spc="-63">
                <a:solidFill>
                  <a:srgbClr val="CA0013"/>
                </a:solidFill>
                <a:latin typeface="Inter"/>
                <a:ea typeface="Inter"/>
                <a:cs typeface="Inter"/>
                <a:sym typeface="Inter"/>
              </a:rPr>
              <a:t>SEAMLESS CONNECTION WITH ELECTRONIC MEDICAL RECORDS.</a:t>
            </a:r>
          </a:p>
          <a:p>
            <a:pPr algn="l">
              <a:lnSpc>
                <a:spcPts val="294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grpSp>
        <p:nvGrpSpPr>
          <p:cNvPr name="Group 2" id="2"/>
          <p:cNvGrpSpPr/>
          <p:nvPr/>
        </p:nvGrpSpPr>
        <p:grpSpPr>
          <a:xfrm rot="0">
            <a:off x="723255" y="4174493"/>
            <a:ext cx="4325024" cy="2124547"/>
            <a:chOff x="0" y="0"/>
            <a:chExt cx="1139101" cy="559551"/>
          </a:xfrm>
        </p:grpSpPr>
        <p:sp>
          <p:nvSpPr>
            <p:cNvPr name="Freeform 3" id="3"/>
            <p:cNvSpPr/>
            <p:nvPr/>
          </p:nvSpPr>
          <p:spPr>
            <a:xfrm flipH="false" flipV="false" rot="0">
              <a:off x="0" y="0"/>
              <a:ext cx="1139101" cy="559551"/>
            </a:xfrm>
            <a:custGeom>
              <a:avLst/>
              <a:gdLst/>
              <a:ahLst/>
              <a:cxnLst/>
              <a:rect r="r" b="b" t="t" l="l"/>
              <a:pathLst>
                <a:path h="559551" w="1139101">
                  <a:moveTo>
                    <a:pt x="91291" y="0"/>
                  </a:moveTo>
                  <a:lnTo>
                    <a:pt x="1047809" y="0"/>
                  </a:lnTo>
                  <a:cubicBezTo>
                    <a:pt x="1098228" y="0"/>
                    <a:pt x="1139101" y="40873"/>
                    <a:pt x="1139101" y="91291"/>
                  </a:cubicBezTo>
                  <a:lnTo>
                    <a:pt x="1139101" y="468260"/>
                  </a:lnTo>
                  <a:cubicBezTo>
                    <a:pt x="1139101" y="518679"/>
                    <a:pt x="1098228" y="559551"/>
                    <a:pt x="1047809" y="559551"/>
                  </a:cubicBezTo>
                  <a:lnTo>
                    <a:pt x="91291" y="559551"/>
                  </a:lnTo>
                  <a:cubicBezTo>
                    <a:pt x="40873" y="559551"/>
                    <a:pt x="0" y="518679"/>
                    <a:pt x="0" y="468260"/>
                  </a:cubicBezTo>
                  <a:lnTo>
                    <a:pt x="0" y="91291"/>
                  </a:lnTo>
                  <a:cubicBezTo>
                    <a:pt x="0" y="40873"/>
                    <a:pt x="40873" y="0"/>
                    <a:pt x="91291" y="0"/>
                  </a:cubicBezTo>
                  <a:close/>
                </a:path>
              </a:pathLst>
            </a:custGeom>
            <a:solidFill>
              <a:srgbClr val="CBC4B3"/>
            </a:solidFill>
          </p:spPr>
        </p:sp>
        <p:sp>
          <p:nvSpPr>
            <p:cNvPr name="TextBox 4" id="4"/>
            <p:cNvSpPr txBox="true"/>
            <p:nvPr/>
          </p:nvSpPr>
          <p:spPr>
            <a:xfrm>
              <a:off x="0" y="-47625"/>
              <a:ext cx="1139101" cy="607176"/>
            </a:xfrm>
            <a:prstGeom prst="rect">
              <a:avLst/>
            </a:prstGeom>
          </p:spPr>
          <p:txBody>
            <a:bodyPr anchor="ctr" rtlCol="false" tIns="50800" lIns="50800" bIns="50800" rIns="50800"/>
            <a:lstStyle/>
            <a:p>
              <a:pPr algn="ctr">
                <a:lnSpc>
                  <a:spcPts val="3219"/>
                </a:lnSpc>
              </a:pPr>
            </a:p>
          </p:txBody>
        </p:sp>
      </p:grpSp>
      <p:sp>
        <p:nvSpPr>
          <p:cNvPr name="TextBox 5" id="5"/>
          <p:cNvSpPr txBox="true"/>
          <p:nvPr/>
        </p:nvSpPr>
        <p:spPr>
          <a:xfrm rot="0">
            <a:off x="723255" y="1267385"/>
            <a:ext cx="10562220" cy="852470"/>
          </a:xfrm>
          <a:prstGeom prst="rect">
            <a:avLst/>
          </a:prstGeom>
        </p:spPr>
        <p:txBody>
          <a:bodyPr anchor="t" rtlCol="false" tIns="0" lIns="0" bIns="0" rIns="0">
            <a:spAutoFit/>
          </a:bodyPr>
          <a:lstStyle/>
          <a:p>
            <a:pPr algn="l" marL="0" indent="0" lvl="0">
              <a:lnSpc>
                <a:spcPts val="6280"/>
              </a:lnSpc>
            </a:pPr>
            <a:r>
              <a:rPr lang="en-US" b="true" sz="6901" spc="-379">
                <a:solidFill>
                  <a:srgbClr val="CA0013"/>
                </a:solidFill>
                <a:latin typeface="Inter Bold"/>
                <a:ea typeface="Inter Bold"/>
                <a:cs typeface="Inter Bold"/>
                <a:sym typeface="Inter Bold"/>
              </a:rPr>
              <a:t>ADAPTIV HEALTH</a:t>
            </a:r>
          </a:p>
        </p:txBody>
      </p:sp>
      <p:grpSp>
        <p:nvGrpSpPr>
          <p:cNvPr name="Group 6" id="6"/>
          <p:cNvGrpSpPr/>
          <p:nvPr/>
        </p:nvGrpSpPr>
        <p:grpSpPr>
          <a:xfrm rot="0">
            <a:off x="5698920" y="4187555"/>
            <a:ext cx="4325024" cy="2124547"/>
            <a:chOff x="0" y="0"/>
            <a:chExt cx="1139101" cy="559551"/>
          </a:xfrm>
        </p:grpSpPr>
        <p:sp>
          <p:nvSpPr>
            <p:cNvPr name="Freeform 7" id="7"/>
            <p:cNvSpPr/>
            <p:nvPr/>
          </p:nvSpPr>
          <p:spPr>
            <a:xfrm flipH="false" flipV="false" rot="0">
              <a:off x="0" y="0"/>
              <a:ext cx="1139101" cy="559551"/>
            </a:xfrm>
            <a:custGeom>
              <a:avLst/>
              <a:gdLst/>
              <a:ahLst/>
              <a:cxnLst/>
              <a:rect r="r" b="b" t="t" l="l"/>
              <a:pathLst>
                <a:path h="559551" w="1139101">
                  <a:moveTo>
                    <a:pt x="91291" y="0"/>
                  </a:moveTo>
                  <a:lnTo>
                    <a:pt x="1047809" y="0"/>
                  </a:lnTo>
                  <a:cubicBezTo>
                    <a:pt x="1098228" y="0"/>
                    <a:pt x="1139101" y="40873"/>
                    <a:pt x="1139101" y="91291"/>
                  </a:cubicBezTo>
                  <a:lnTo>
                    <a:pt x="1139101" y="468260"/>
                  </a:lnTo>
                  <a:cubicBezTo>
                    <a:pt x="1139101" y="518679"/>
                    <a:pt x="1098228" y="559551"/>
                    <a:pt x="1047809" y="559551"/>
                  </a:cubicBezTo>
                  <a:lnTo>
                    <a:pt x="91291" y="559551"/>
                  </a:lnTo>
                  <a:cubicBezTo>
                    <a:pt x="40873" y="559551"/>
                    <a:pt x="0" y="518679"/>
                    <a:pt x="0" y="468260"/>
                  </a:cubicBezTo>
                  <a:lnTo>
                    <a:pt x="0" y="91291"/>
                  </a:lnTo>
                  <a:cubicBezTo>
                    <a:pt x="0" y="40873"/>
                    <a:pt x="40873" y="0"/>
                    <a:pt x="91291" y="0"/>
                  </a:cubicBezTo>
                  <a:close/>
                </a:path>
              </a:pathLst>
            </a:custGeom>
            <a:solidFill>
              <a:srgbClr val="CBC4B3"/>
            </a:solidFill>
          </p:spPr>
        </p:sp>
        <p:sp>
          <p:nvSpPr>
            <p:cNvPr name="TextBox 8" id="8"/>
            <p:cNvSpPr txBox="true"/>
            <p:nvPr/>
          </p:nvSpPr>
          <p:spPr>
            <a:xfrm>
              <a:off x="0" y="-47625"/>
              <a:ext cx="1139101" cy="607176"/>
            </a:xfrm>
            <a:prstGeom prst="rect">
              <a:avLst/>
            </a:prstGeom>
          </p:spPr>
          <p:txBody>
            <a:bodyPr anchor="ctr" rtlCol="false" tIns="50800" lIns="50800" bIns="50800" rIns="50800"/>
            <a:lstStyle/>
            <a:p>
              <a:pPr algn="ctr">
                <a:lnSpc>
                  <a:spcPts val="3219"/>
                </a:lnSpc>
              </a:pPr>
            </a:p>
          </p:txBody>
        </p:sp>
      </p:grpSp>
      <p:grpSp>
        <p:nvGrpSpPr>
          <p:cNvPr name="Group 9" id="9"/>
          <p:cNvGrpSpPr/>
          <p:nvPr/>
        </p:nvGrpSpPr>
        <p:grpSpPr>
          <a:xfrm rot="0">
            <a:off x="723255" y="6749267"/>
            <a:ext cx="9300689" cy="2124547"/>
            <a:chOff x="0" y="0"/>
            <a:chExt cx="2449564" cy="559551"/>
          </a:xfrm>
        </p:grpSpPr>
        <p:sp>
          <p:nvSpPr>
            <p:cNvPr name="Freeform 10" id="10"/>
            <p:cNvSpPr/>
            <p:nvPr/>
          </p:nvSpPr>
          <p:spPr>
            <a:xfrm flipH="false" flipV="false" rot="0">
              <a:off x="0" y="0"/>
              <a:ext cx="2449564" cy="559551"/>
            </a:xfrm>
            <a:custGeom>
              <a:avLst/>
              <a:gdLst/>
              <a:ahLst/>
              <a:cxnLst/>
              <a:rect r="r" b="b" t="t" l="l"/>
              <a:pathLst>
                <a:path h="559551" w="2449564">
                  <a:moveTo>
                    <a:pt x="42453" y="0"/>
                  </a:moveTo>
                  <a:lnTo>
                    <a:pt x="2407112" y="0"/>
                  </a:lnTo>
                  <a:cubicBezTo>
                    <a:pt x="2418371" y="0"/>
                    <a:pt x="2429169" y="4473"/>
                    <a:pt x="2437130" y="12434"/>
                  </a:cubicBezTo>
                  <a:cubicBezTo>
                    <a:pt x="2445092" y="20395"/>
                    <a:pt x="2449564" y="31193"/>
                    <a:pt x="2449564" y="42453"/>
                  </a:cubicBezTo>
                  <a:lnTo>
                    <a:pt x="2449564" y="517099"/>
                  </a:lnTo>
                  <a:cubicBezTo>
                    <a:pt x="2449564" y="528358"/>
                    <a:pt x="2445092" y="539156"/>
                    <a:pt x="2437130" y="547117"/>
                  </a:cubicBezTo>
                  <a:cubicBezTo>
                    <a:pt x="2429169" y="555079"/>
                    <a:pt x="2418371" y="559551"/>
                    <a:pt x="2407112" y="559551"/>
                  </a:cubicBezTo>
                  <a:lnTo>
                    <a:pt x="42453" y="559551"/>
                  </a:lnTo>
                  <a:cubicBezTo>
                    <a:pt x="31193" y="559551"/>
                    <a:pt x="20395" y="555079"/>
                    <a:pt x="12434" y="547117"/>
                  </a:cubicBezTo>
                  <a:cubicBezTo>
                    <a:pt x="4473" y="539156"/>
                    <a:pt x="0" y="528358"/>
                    <a:pt x="0" y="517099"/>
                  </a:cubicBezTo>
                  <a:lnTo>
                    <a:pt x="0" y="42453"/>
                  </a:lnTo>
                  <a:cubicBezTo>
                    <a:pt x="0" y="31193"/>
                    <a:pt x="4473" y="20395"/>
                    <a:pt x="12434" y="12434"/>
                  </a:cubicBezTo>
                  <a:cubicBezTo>
                    <a:pt x="20395" y="4473"/>
                    <a:pt x="31193" y="0"/>
                    <a:pt x="42453" y="0"/>
                  </a:cubicBezTo>
                  <a:close/>
                </a:path>
              </a:pathLst>
            </a:custGeom>
            <a:solidFill>
              <a:srgbClr val="CBC4B3"/>
            </a:solidFill>
          </p:spPr>
        </p:sp>
        <p:sp>
          <p:nvSpPr>
            <p:cNvPr name="TextBox 11" id="11"/>
            <p:cNvSpPr txBox="true"/>
            <p:nvPr/>
          </p:nvSpPr>
          <p:spPr>
            <a:xfrm>
              <a:off x="0" y="-47625"/>
              <a:ext cx="2449564" cy="607176"/>
            </a:xfrm>
            <a:prstGeom prst="rect">
              <a:avLst/>
            </a:prstGeom>
          </p:spPr>
          <p:txBody>
            <a:bodyPr anchor="ctr" rtlCol="false" tIns="50800" lIns="50800" bIns="50800" rIns="50800"/>
            <a:lstStyle/>
            <a:p>
              <a:pPr algn="ctr">
                <a:lnSpc>
                  <a:spcPts val="3219"/>
                </a:lnSpc>
              </a:pPr>
            </a:p>
          </p:txBody>
        </p:sp>
      </p:grpSp>
      <p:sp>
        <p:nvSpPr>
          <p:cNvPr name="Freeform 12" id="12"/>
          <p:cNvSpPr/>
          <p:nvPr/>
        </p:nvSpPr>
        <p:spPr>
          <a:xfrm flipH="false" flipV="false" rot="0">
            <a:off x="8119810" y="381831"/>
            <a:ext cx="2048381" cy="2164735"/>
          </a:xfrm>
          <a:custGeom>
            <a:avLst/>
            <a:gdLst/>
            <a:ahLst/>
            <a:cxnLst/>
            <a:rect r="r" b="b" t="t" l="l"/>
            <a:pathLst>
              <a:path h="2164735" w="2048381">
                <a:moveTo>
                  <a:pt x="0" y="0"/>
                </a:moveTo>
                <a:lnTo>
                  <a:pt x="2048380" y="0"/>
                </a:lnTo>
                <a:lnTo>
                  <a:pt x="2048380" y="2164735"/>
                </a:lnTo>
                <a:lnTo>
                  <a:pt x="0" y="2164735"/>
                </a:lnTo>
                <a:lnTo>
                  <a:pt x="0" y="0"/>
                </a:lnTo>
                <a:close/>
              </a:path>
            </a:pathLst>
          </a:custGeom>
          <a:blipFill>
            <a:blip r:embed="rId2"/>
            <a:stretch>
              <a:fillRect l="0" t="0" r="0" b="0"/>
            </a:stretch>
          </a:blipFill>
        </p:spPr>
      </p:sp>
      <p:sp>
        <p:nvSpPr>
          <p:cNvPr name="Freeform 13" id="13"/>
          <p:cNvSpPr/>
          <p:nvPr/>
        </p:nvSpPr>
        <p:spPr>
          <a:xfrm flipH="false" flipV="false" rot="0">
            <a:off x="11353949" y="1805216"/>
            <a:ext cx="6934051" cy="5747495"/>
          </a:xfrm>
          <a:custGeom>
            <a:avLst/>
            <a:gdLst/>
            <a:ahLst/>
            <a:cxnLst/>
            <a:rect r="r" b="b" t="t" l="l"/>
            <a:pathLst>
              <a:path h="5747495" w="6934051">
                <a:moveTo>
                  <a:pt x="0" y="0"/>
                </a:moveTo>
                <a:lnTo>
                  <a:pt x="6934051" y="0"/>
                </a:lnTo>
                <a:lnTo>
                  <a:pt x="6934051" y="5747495"/>
                </a:lnTo>
                <a:lnTo>
                  <a:pt x="0" y="5747495"/>
                </a:lnTo>
                <a:lnTo>
                  <a:pt x="0" y="0"/>
                </a:lnTo>
                <a:close/>
              </a:path>
            </a:pathLst>
          </a:custGeom>
          <a:blipFill>
            <a:blip r:embed="rId3"/>
            <a:stretch>
              <a:fillRect l="-31931" t="-965" r="-32203" b="-97055"/>
            </a:stretch>
          </a:blipFill>
        </p:spPr>
      </p:sp>
      <p:sp>
        <p:nvSpPr>
          <p:cNvPr name="Freeform 14" id="14"/>
          <p:cNvSpPr/>
          <p:nvPr/>
        </p:nvSpPr>
        <p:spPr>
          <a:xfrm flipH="false" flipV="false" rot="0">
            <a:off x="11353949" y="-75366"/>
            <a:ext cx="6934051" cy="1432404"/>
          </a:xfrm>
          <a:custGeom>
            <a:avLst/>
            <a:gdLst/>
            <a:ahLst/>
            <a:cxnLst/>
            <a:rect r="r" b="b" t="t" l="l"/>
            <a:pathLst>
              <a:path h="1432404" w="6934051">
                <a:moveTo>
                  <a:pt x="0" y="0"/>
                </a:moveTo>
                <a:lnTo>
                  <a:pt x="6934051" y="0"/>
                </a:lnTo>
                <a:lnTo>
                  <a:pt x="6934051" y="1432404"/>
                </a:lnTo>
                <a:lnTo>
                  <a:pt x="0" y="1432404"/>
                </a:lnTo>
                <a:lnTo>
                  <a:pt x="0" y="0"/>
                </a:lnTo>
                <a:close/>
              </a:path>
            </a:pathLst>
          </a:custGeom>
          <a:blipFill>
            <a:blip r:embed="rId3"/>
            <a:stretch>
              <a:fillRect l="-987" t="0" r="0" b="-388865"/>
            </a:stretch>
          </a:blipFill>
        </p:spPr>
      </p:sp>
      <p:sp>
        <p:nvSpPr>
          <p:cNvPr name="TextBox 15" id="15"/>
          <p:cNvSpPr txBox="true"/>
          <p:nvPr/>
        </p:nvSpPr>
        <p:spPr>
          <a:xfrm rot="0">
            <a:off x="723255" y="2727963"/>
            <a:ext cx="7884319"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KEEPING CARDIAC PATIENTS SAFE — EVERY HEARTBEAT.</a:t>
            </a:r>
          </a:p>
          <a:p>
            <a:pPr algn="ctr">
              <a:lnSpc>
                <a:spcPts val="3219"/>
              </a:lnSpc>
              <a:spcBef>
                <a:spcPct val="0"/>
              </a:spcBef>
            </a:pPr>
          </a:p>
        </p:txBody>
      </p:sp>
      <p:sp>
        <p:nvSpPr>
          <p:cNvPr name="TextBox 16" id="16"/>
          <p:cNvSpPr txBox="true"/>
          <p:nvPr/>
        </p:nvSpPr>
        <p:spPr>
          <a:xfrm rot="0">
            <a:off x="1012728" y="4460523"/>
            <a:ext cx="1854547" cy="78930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LIVE SYSTEM</a:t>
            </a:r>
          </a:p>
          <a:p>
            <a:pPr algn="ctr">
              <a:lnSpc>
                <a:spcPts val="3219"/>
              </a:lnSpc>
              <a:spcBef>
                <a:spcPct val="0"/>
              </a:spcBef>
            </a:pPr>
          </a:p>
        </p:txBody>
      </p:sp>
      <p:sp>
        <p:nvSpPr>
          <p:cNvPr name="TextBox 17" id="17"/>
          <p:cNvSpPr txBox="true"/>
          <p:nvPr/>
        </p:nvSpPr>
        <p:spPr>
          <a:xfrm rot="0">
            <a:off x="1012728" y="5058690"/>
            <a:ext cx="3867828" cy="1189355"/>
          </a:xfrm>
          <a:prstGeom prst="rect">
            <a:avLst/>
          </a:prstGeom>
        </p:spPr>
        <p:txBody>
          <a:bodyPr anchor="t" rtlCol="false" tIns="0" lIns="0" bIns="0" rIns="0">
            <a:spAutoFit/>
          </a:bodyPr>
          <a:lstStyle/>
          <a:p>
            <a:pPr algn="l">
              <a:lnSpc>
                <a:spcPts val="3219"/>
              </a:lnSpc>
              <a:spcBef>
                <a:spcPct val="0"/>
              </a:spcBef>
            </a:pPr>
            <a:r>
              <a:rPr lang="en-US" sz="2299" spc="-68">
                <a:solidFill>
                  <a:srgbClr val="CA0013"/>
                </a:solidFill>
                <a:latin typeface="Inter"/>
                <a:ea typeface="Inter"/>
                <a:cs typeface="Inter"/>
                <a:sym typeface="Inter"/>
              </a:rPr>
              <a:t>DASHBOARD-ADAPTIVHEALTHUOWD.XYZ</a:t>
            </a:r>
          </a:p>
          <a:p>
            <a:pPr algn="l">
              <a:lnSpc>
                <a:spcPts val="3219"/>
              </a:lnSpc>
              <a:spcBef>
                <a:spcPct val="0"/>
              </a:spcBef>
            </a:pPr>
          </a:p>
        </p:txBody>
      </p:sp>
      <p:sp>
        <p:nvSpPr>
          <p:cNvPr name="TextBox 18" id="18"/>
          <p:cNvSpPr txBox="true"/>
          <p:nvPr/>
        </p:nvSpPr>
        <p:spPr>
          <a:xfrm rot="0">
            <a:off x="5988393" y="4460523"/>
            <a:ext cx="827410" cy="38925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T</a:t>
            </a:r>
            <a:r>
              <a:rPr lang="en-US" b="true" sz="2299" spc="-68">
                <a:solidFill>
                  <a:srgbClr val="CA0013"/>
                </a:solidFill>
                <a:latin typeface="Inter Bold"/>
                <a:ea typeface="Inter Bold"/>
                <a:cs typeface="Inter Bold"/>
                <a:sym typeface="Inter Bold"/>
              </a:rPr>
              <a:t>EAM</a:t>
            </a:r>
          </a:p>
        </p:txBody>
      </p:sp>
      <p:sp>
        <p:nvSpPr>
          <p:cNvPr name="TextBox 19" id="19"/>
          <p:cNvSpPr txBox="true"/>
          <p:nvPr/>
        </p:nvSpPr>
        <p:spPr>
          <a:xfrm rot="0">
            <a:off x="5988393" y="5071752"/>
            <a:ext cx="3867828" cy="1189355"/>
          </a:xfrm>
          <a:prstGeom prst="rect">
            <a:avLst/>
          </a:prstGeom>
        </p:spPr>
        <p:txBody>
          <a:bodyPr anchor="t" rtlCol="false" tIns="0" lIns="0" bIns="0" rIns="0">
            <a:spAutoFit/>
          </a:bodyPr>
          <a:lstStyle/>
          <a:p>
            <a:pPr algn="l">
              <a:lnSpc>
                <a:spcPts val="3219"/>
              </a:lnSpc>
              <a:spcBef>
                <a:spcPct val="0"/>
              </a:spcBef>
            </a:pPr>
            <a:r>
              <a:rPr lang="en-US" sz="2299" spc="-68">
                <a:solidFill>
                  <a:srgbClr val="CA0013"/>
                </a:solidFill>
                <a:latin typeface="Inter"/>
                <a:ea typeface="Inter"/>
                <a:cs typeface="Inter"/>
                <a:sym typeface="Inter"/>
              </a:rPr>
              <a:t>TE</a:t>
            </a:r>
            <a:r>
              <a:rPr lang="en-US" sz="2299" spc="-68">
                <a:solidFill>
                  <a:srgbClr val="CA0013"/>
                </a:solidFill>
                <a:latin typeface="Inter"/>
                <a:ea typeface="Inter"/>
                <a:cs typeface="Inter"/>
                <a:sym typeface="Inter"/>
              </a:rPr>
              <a:t>AM PULSE · CSIT321 · UOWD 2026</a:t>
            </a:r>
          </a:p>
          <a:p>
            <a:pPr algn="l">
              <a:lnSpc>
                <a:spcPts val="3219"/>
              </a:lnSpc>
              <a:spcBef>
                <a:spcPct val="0"/>
              </a:spcBef>
            </a:pPr>
          </a:p>
        </p:txBody>
      </p:sp>
      <p:sp>
        <p:nvSpPr>
          <p:cNvPr name="TextBox 20" id="20"/>
          <p:cNvSpPr txBox="true"/>
          <p:nvPr/>
        </p:nvSpPr>
        <p:spPr>
          <a:xfrm rot="0">
            <a:off x="1012728" y="7035297"/>
            <a:ext cx="1644551" cy="389255"/>
          </a:xfrm>
          <a:prstGeom prst="rect">
            <a:avLst/>
          </a:prstGeom>
        </p:spPr>
        <p:txBody>
          <a:bodyPr anchor="t" rtlCol="false" tIns="0" lIns="0" bIns="0" rIns="0">
            <a:spAutoFit/>
          </a:bodyPr>
          <a:lstStyle/>
          <a:p>
            <a:pPr algn="ctr">
              <a:lnSpc>
                <a:spcPts val="3219"/>
              </a:lnSpc>
              <a:spcBef>
                <a:spcPct val="0"/>
              </a:spcBef>
            </a:pPr>
            <a:r>
              <a:rPr lang="en-US" b="true" sz="2299" spc="-68">
                <a:solidFill>
                  <a:srgbClr val="CA0013"/>
                </a:solidFill>
                <a:latin typeface="Inter Bold"/>
                <a:ea typeface="Inter Bold"/>
                <a:cs typeface="Inter Bold"/>
                <a:sym typeface="Inter Bold"/>
              </a:rPr>
              <a:t>QU</a:t>
            </a:r>
            <a:r>
              <a:rPr lang="en-US" b="true" sz="2299" spc="-68">
                <a:solidFill>
                  <a:srgbClr val="CA0013"/>
                </a:solidFill>
                <a:latin typeface="Inter Bold"/>
                <a:ea typeface="Inter Bold"/>
                <a:cs typeface="Inter Bold"/>
                <a:sym typeface="Inter Bold"/>
              </a:rPr>
              <a:t>ESTIONS</a:t>
            </a:r>
          </a:p>
        </p:txBody>
      </p:sp>
      <p:sp>
        <p:nvSpPr>
          <p:cNvPr name="TextBox 21" id="21"/>
          <p:cNvSpPr txBox="true"/>
          <p:nvPr/>
        </p:nvSpPr>
        <p:spPr>
          <a:xfrm rot="0">
            <a:off x="1012728" y="7633464"/>
            <a:ext cx="8675593" cy="789305"/>
          </a:xfrm>
          <a:prstGeom prst="rect">
            <a:avLst/>
          </a:prstGeom>
        </p:spPr>
        <p:txBody>
          <a:bodyPr anchor="t" rtlCol="false" tIns="0" lIns="0" bIns="0" rIns="0">
            <a:spAutoFit/>
          </a:bodyPr>
          <a:lstStyle/>
          <a:p>
            <a:pPr algn="l">
              <a:lnSpc>
                <a:spcPts val="3219"/>
              </a:lnSpc>
              <a:spcBef>
                <a:spcPct val="0"/>
              </a:spcBef>
            </a:pPr>
            <a:r>
              <a:rPr lang="en-US" sz="2299" spc="-68">
                <a:solidFill>
                  <a:srgbClr val="CA0013"/>
                </a:solidFill>
                <a:latin typeface="Inter"/>
                <a:ea typeface="Inter"/>
                <a:cs typeface="Inter"/>
                <a:sym typeface="Inter"/>
              </a:rPr>
              <a:t>WE'</a:t>
            </a:r>
            <a:r>
              <a:rPr lang="en-US" sz="2299" spc="-68">
                <a:solidFill>
                  <a:srgbClr val="CA0013"/>
                </a:solidFill>
                <a:latin typeface="Inter"/>
                <a:ea typeface="Inter"/>
                <a:cs typeface="Inter"/>
                <a:sym typeface="Inter"/>
              </a:rPr>
              <a:t>D LOVE TO WALK YOU THROUGH THE LIVE SYSTEM.</a:t>
            </a:r>
          </a:p>
          <a:p>
            <a:pPr algn="l">
              <a:lnSpc>
                <a:spcPts val="3219"/>
              </a:lnSpc>
              <a:spcBef>
                <a:spcPct val="0"/>
              </a:spcBef>
            </a:pPr>
          </a:p>
        </p:txBody>
      </p:sp>
      <p:sp>
        <p:nvSpPr>
          <p:cNvPr name="Freeform 22" id="22"/>
          <p:cNvSpPr/>
          <p:nvPr/>
        </p:nvSpPr>
        <p:spPr>
          <a:xfrm flipH="false" flipV="false" rot="0">
            <a:off x="11353949" y="882168"/>
            <a:ext cx="6934051" cy="1432404"/>
          </a:xfrm>
          <a:custGeom>
            <a:avLst/>
            <a:gdLst/>
            <a:ahLst/>
            <a:cxnLst/>
            <a:rect r="r" b="b" t="t" l="l"/>
            <a:pathLst>
              <a:path h="1432404" w="6934051">
                <a:moveTo>
                  <a:pt x="0" y="0"/>
                </a:moveTo>
                <a:lnTo>
                  <a:pt x="6934051" y="0"/>
                </a:lnTo>
                <a:lnTo>
                  <a:pt x="6934051" y="1432404"/>
                </a:lnTo>
                <a:lnTo>
                  <a:pt x="0" y="1432404"/>
                </a:lnTo>
                <a:lnTo>
                  <a:pt x="0" y="0"/>
                </a:lnTo>
                <a:close/>
              </a:path>
            </a:pathLst>
          </a:custGeom>
          <a:blipFill>
            <a:blip r:embed="rId3"/>
            <a:stretch>
              <a:fillRect l="-987" t="0" r="0" b="-388865"/>
            </a:stretch>
          </a:blipFill>
        </p:spPr>
      </p:sp>
      <p:sp>
        <p:nvSpPr>
          <p:cNvPr name="Freeform 23" id="23"/>
          <p:cNvSpPr/>
          <p:nvPr/>
        </p:nvSpPr>
        <p:spPr>
          <a:xfrm flipH="false" flipV="false" rot="0">
            <a:off x="11353949" y="7552711"/>
            <a:ext cx="6934051" cy="1432404"/>
          </a:xfrm>
          <a:custGeom>
            <a:avLst/>
            <a:gdLst/>
            <a:ahLst/>
            <a:cxnLst/>
            <a:rect r="r" b="b" t="t" l="l"/>
            <a:pathLst>
              <a:path h="1432404" w="6934051">
                <a:moveTo>
                  <a:pt x="0" y="0"/>
                </a:moveTo>
                <a:lnTo>
                  <a:pt x="6934051" y="0"/>
                </a:lnTo>
                <a:lnTo>
                  <a:pt x="6934051" y="1432404"/>
                </a:lnTo>
                <a:lnTo>
                  <a:pt x="0" y="1432404"/>
                </a:lnTo>
                <a:lnTo>
                  <a:pt x="0" y="0"/>
                </a:lnTo>
                <a:close/>
              </a:path>
            </a:pathLst>
          </a:custGeom>
          <a:blipFill>
            <a:blip r:embed="rId3"/>
            <a:stretch>
              <a:fillRect l="-987" t="0" r="0" b="-388865"/>
            </a:stretch>
          </a:blipFill>
        </p:spPr>
      </p:sp>
      <p:sp>
        <p:nvSpPr>
          <p:cNvPr name="Freeform 24" id="24"/>
          <p:cNvSpPr/>
          <p:nvPr/>
        </p:nvSpPr>
        <p:spPr>
          <a:xfrm flipH="false" flipV="false" rot="0">
            <a:off x="11353949" y="8985115"/>
            <a:ext cx="6934051" cy="1432404"/>
          </a:xfrm>
          <a:custGeom>
            <a:avLst/>
            <a:gdLst/>
            <a:ahLst/>
            <a:cxnLst/>
            <a:rect r="r" b="b" t="t" l="l"/>
            <a:pathLst>
              <a:path h="1432404" w="6934051">
                <a:moveTo>
                  <a:pt x="0" y="0"/>
                </a:moveTo>
                <a:lnTo>
                  <a:pt x="6934051" y="0"/>
                </a:lnTo>
                <a:lnTo>
                  <a:pt x="6934051" y="1432403"/>
                </a:lnTo>
                <a:lnTo>
                  <a:pt x="0" y="1432403"/>
                </a:lnTo>
                <a:lnTo>
                  <a:pt x="0" y="0"/>
                </a:lnTo>
                <a:close/>
              </a:path>
            </a:pathLst>
          </a:custGeom>
          <a:blipFill>
            <a:blip r:embed="rId3"/>
            <a:stretch>
              <a:fillRect l="-987" t="0" r="0" b="-388865"/>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EEBE3"/>
        </a:solidFill>
      </p:bgPr>
    </p:bg>
    <p:spTree>
      <p:nvGrpSpPr>
        <p:cNvPr id="1" name=""/>
        <p:cNvGrpSpPr/>
        <p:nvPr/>
      </p:nvGrpSpPr>
      <p:grpSpPr>
        <a:xfrm>
          <a:off x="0" y="0"/>
          <a:ext cx="0" cy="0"/>
          <a:chOff x="0" y="0"/>
          <a:chExt cx="0" cy="0"/>
        </a:xfrm>
      </p:grpSpPr>
      <p:sp>
        <p:nvSpPr>
          <p:cNvPr name="TextBox 2" id="2"/>
          <p:cNvSpPr txBox="true"/>
          <p:nvPr/>
        </p:nvSpPr>
        <p:spPr>
          <a:xfrm rot="0">
            <a:off x="1845202" y="1747510"/>
            <a:ext cx="14597596" cy="6339183"/>
          </a:xfrm>
          <a:prstGeom prst="rect">
            <a:avLst/>
          </a:prstGeom>
        </p:spPr>
        <p:txBody>
          <a:bodyPr anchor="t" rtlCol="false" tIns="0" lIns="0" bIns="0" rIns="0">
            <a:spAutoFit/>
          </a:bodyPr>
          <a:lstStyle/>
          <a:p>
            <a:pPr algn="ctr">
              <a:lnSpc>
                <a:spcPts val="23257"/>
              </a:lnSpc>
            </a:pPr>
            <a:r>
              <a:rPr lang="en-US" b="true" sz="30601" spc="-3611">
                <a:solidFill>
                  <a:srgbClr val="CA0013"/>
                </a:solidFill>
                <a:latin typeface="Inter Bold"/>
                <a:ea typeface="Inter Bold"/>
                <a:cs typeface="Inter Bold"/>
                <a:sym typeface="Inter Bold"/>
              </a:rPr>
              <a:t>ADAPTIV</a:t>
            </a:r>
          </a:p>
          <a:p>
            <a:pPr algn="ctr" marL="0" indent="0" lvl="0">
              <a:lnSpc>
                <a:spcPts val="23257"/>
              </a:lnSpc>
            </a:pPr>
            <a:r>
              <a:rPr lang="en-US" b="true" sz="30601" spc="-3611">
                <a:solidFill>
                  <a:srgbClr val="CA0013"/>
                </a:solidFill>
                <a:latin typeface="Inter Bold"/>
                <a:ea typeface="Inter Bold"/>
                <a:cs typeface="Inter Bold"/>
                <a:sym typeface="Inter Bold"/>
              </a:rPr>
              <a:t>HEALTH</a:t>
            </a:r>
          </a:p>
        </p:txBody>
      </p:sp>
      <p:grpSp>
        <p:nvGrpSpPr>
          <p:cNvPr name="Group 3" id="3"/>
          <p:cNvGrpSpPr>
            <a:grpSpLocks noChangeAspect="true"/>
          </p:cNvGrpSpPr>
          <p:nvPr/>
        </p:nvGrpSpPr>
        <p:grpSpPr>
          <a:xfrm rot="0">
            <a:off x="7508911" y="4278927"/>
            <a:ext cx="3270178" cy="6584252"/>
            <a:chOff x="0" y="0"/>
            <a:chExt cx="9461500" cy="19050000"/>
          </a:xfrm>
        </p:grpSpPr>
        <p:sp>
          <p:nvSpPr>
            <p:cNvPr name="Freeform 4" id="4"/>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2"/>
              <a:stretch>
                <a:fillRect l="0" t="-1084" r="0" b="-1084"/>
              </a:stretch>
            </a:blipFill>
          </p:spPr>
        </p:sp>
        <p:sp>
          <p:nvSpPr>
            <p:cNvPr name="Freeform 5" id="5"/>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3"/>
              <a:stretch>
                <a:fillRect l="-83" t="0" r="-83" b="0"/>
              </a:stretch>
            </a:blipFill>
          </p:spPr>
        </p:sp>
      </p:grpSp>
      <p:sp>
        <p:nvSpPr>
          <p:cNvPr name="TextBox 6" id="6"/>
          <p:cNvSpPr txBox="true"/>
          <p:nvPr/>
        </p:nvSpPr>
        <p:spPr>
          <a:xfrm rot="0">
            <a:off x="15186126" y="9305859"/>
            <a:ext cx="2513344" cy="433197"/>
          </a:xfrm>
          <a:prstGeom prst="rect">
            <a:avLst/>
          </a:prstGeom>
        </p:spPr>
        <p:txBody>
          <a:bodyPr anchor="t" rtlCol="false" tIns="0" lIns="0" bIns="0" rIns="0">
            <a:spAutoFit/>
          </a:bodyPr>
          <a:lstStyle/>
          <a:p>
            <a:pPr algn="r">
              <a:lnSpc>
                <a:spcPts val="1674"/>
              </a:lnSpc>
            </a:pPr>
            <a:r>
              <a:rPr lang="en-US" b="true" sz="1800" spc="-54">
                <a:solidFill>
                  <a:srgbClr val="CA0013"/>
                </a:solidFill>
                <a:latin typeface="Inter Bold"/>
                <a:ea typeface="Inter Bold"/>
                <a:cs typeface="Inter Bold"/>
                <a:sym typeface="Inter Bold"/>
              </a:rPr>
              <a:t>PRESENTED BY</a:t>
            </a:r>
          </a:p>
          <a:p>
            <a:pPr algn="r" marL="0" indent="0" lvl="0">
              <a:lnSpc>
                <a:spcPts val="1674"/>
              </a:lnSpc>
            </a:pPr>
            <a:r>
              <a:rPr lang="en-US" b="true" sz="1800" spc="-54">
                <a:solidFill>
                  <a:srgbClr val="CA0013"/>
                </a:solidFill>
                <a:latin typeface="Inter Bold"/>
                <a:ea typeface="Inter Bold"/>
                <a:cs typeface="Inter Bold"/>
                <a:sym typeface="Inter Bold"/>
              </a:rPr>
              <a:t>PULSE.</a:t>
            </a:r>
          </a:p>
        </p:txBody>
      </p:sp>
      <p:sp>
        <p:nvSpPr>
          <p:cNvPr name="TextBox 7" id="7"/>
          <p:cNvSpPr txBox="true"/>
          <p:nvPr/>
        </p:nvSpPr>
        <p:spPr>
          <a:xfrm rot="0">
            <a:off x="588530" y="9096309"/>
            <a:ext cx="2513344" cy="642747"/>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Bold"/>
                <a:ea typeface="Inter Bold"/>
                <a:cs typeface="Inter Bold"/>
                <a:sym typeface="Inter Bold"/>
              </a:rPr>
              <a:t>ADAPTIV HEALTH — SMARTER MOVEMENT, SAFER HEARTS.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DAHGwuspM44</dc:identifier>
  <dcterms:modified xsi:type="dcterms:W3CDTF">2011-08-01T06:04:30Z</dcterms:modified>
  <cp:revision>1</cp:revision>
  <dc:title>TeamPulse</dc:title>
</cp:coreProperties>
</file>